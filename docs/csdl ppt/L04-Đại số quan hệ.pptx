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F10B16-5819-4A26-93B2-2CC6D3645F6C}" v="2" dt="2025-05-13T02:00:45.74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299E6A-0313-464B-A6D6-55B31E98EBB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D79324-C986-40F3-92D0-6C80F69F1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527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51FFA-5E69-4A23-843B-5C6EFF724FE0}" type="datetime1">
              <a:rPr lang="en-US" smtClean="0"/>
              <a:t>5/13/2025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98607-2B78-4D5B-8A9D-CDC12B32E1A0}" type="datetime1">
              <a:rPr lang="en-US" smtClean="0"/>
              <a:t>5/13/2025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0E7B96-8E75-41AC-899E-3E2E65F083FD}" type="datetime1">
              <a:rPr lang="en-US" smtClean="0"/>
              <a:t>5/13/2025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2E9FC-CD9B-4826-AC1C-DA1D825F67A7}" type="datetime1">
              <a:rPr lang="en-US" smtClean="0"/>
              <a:t>5/13/2025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83462-80B5-4315-912B-7F84B81865E7}" type="datetime1">
              <a:rPr lang="en-US" smtClean="0"/>
              <a:t>5/13/2025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800" y="838200"/>
            <a:ext cx="8534400" cy="0"/>
          </a:xfrm>
          <a:custGeom>
            <a:avLst/>
            <a:gdLst/>
            <a:ahLst/>
            <a:cxnLst/>
            <a:rect l="l" t="t" r="r" b="b"/>
            <a:pathLst>
              <a:path w="8534400">
                <a:moveTo>
                  <a:pt x="0" y="0"/>
                </a:moveTo>
                <a:lnTo>
                  <a:pt x="8534400" y="0"/>
                </a:lnTo>
              </a:path>
            </a:pathLst>
          </a:custGeom>
          <a:ln w="57150">
            <a:solidFill>
              <a:srgbClr val="00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05561" y="6325361"/>
            <a:ext cx="8534400" cy="0"/>
          </a:xfrm>
          <a:custGeom>
            <a:avLst/>
            <a:gdLst/>
            <a:ahLst/>
            <a:cxnLst/>
            <a:rect l="l" t="t" r="r" b="b"/>
            <a:pathLst>
              <a:path w="8534400">
                <a:moveTo>
                  <a:pt x="0" y="0"/>
                </a:moveTo>
                <a:lnTo>
                  <a:pt x="8534400" y="0"/>
                </a:lnTo>
              </a:path>
            </a:pathLst>
          </a:custGeom>
          <a:ln w="28575">
            <a:solidFill>
              <a:srgbClr val="00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7340" y="100406"/>
            <a:ext cx="762190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7340" y="1090624"/>
            <a:ext cx="8458835" cy="2686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5D698-A72A-4064-8876-42295DF5B6D0}" type="datetime1">
              <a:rPr lang="en-US" smtClean="0"/>
              <a:t>5/13/2025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800" y="1219200"/>
            <a:ext cx="7772400" cy="4419600"/>
          </a:xfrm>
          <a:prstGeom prst="rect">
            <a:avLst/>
          </a:prstGeom>
          <a:ln w="57150">
            <a:solidFill>
              <a:srgbClr val="0000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4570"/>
              </a:lnSpc>
            </a:pPr>
            <a:r>
              <a:rPr sz="4000" i="1" dirty="0">
                <a:latin typeface="Arial"/>
                <a:cs typeface="Arial"/>
              </a:rPr>
              <a:t>Lecture</a:t>
            </a:r>
            <a:r>
              <a:rPr sz="4000" i="1" spc="-150" dirty="0">
                <a:latin typeface="Arial"/>
                <a:cs typeface="Arial"/>
              </a:rPr>
              <a:t> </a:t>
            </a:r>
            <a:r>
              <a:rPr sz="4000" i="1" spc="-25" dirty="0">
                <a:latin typeface="Arial"/>
                <a:cs typeface="Arial"/>
              </a:rPr>
              <a:t>04</a:t>
            </a:r>
            <a:endParaRPr sz="4000">
              <a:latin typeface="Arial"/>
              <a:cs typeface="Arial"/>
            </a:endParaRPr>
          </a:p>
          <a:p>
            <a:pPr marL="1270" algn="ctr">
              <a:lnSpc>
                <a:spcPct val="100000"/>
              </a:lnSpc>
              <a:spcBef>
                <a:spcPts val="4075"/>
              </a:spcBef>
            </a:pPr>
            <a:r>
              <a:rPr sz="4400" b="1" dirty="0">
                <a:latin typeface="Arial"/>
                <a:cs typeface="Arial"/>
              </a:rPr>
              <a:t>Đại</a:t>
            </a:r>
            <a:r>
              <a:rPr sz="4400" b="1" spc="-10" dirty="0">
                <a:latin typeface="Arial"/>
                <a:cs typeface="Arial"/>
              </a:rPr>
              <a:t> </a:t>
            </a:r>
            <a:r>
              <a:rPr sz="4400" b="1" dirty="0">
                <a:latin typeface="Arial"/>
                <a:cs typeface="Arial"/>
              </a:rPr>
              <a:t>số</a:t>
            </a:r>
            <a:r>
              <a:rPr sz="4400" b="1" spc="-5" dirty="0">
                <a:latin typeface="Arial"/>
                <a:cs typeface="Arial"/>
              </a:rPr>
              <a:t> </a:t>
            </a:r>
            <a:r>
              <a:rPr sz="4400" b="1" dirty="0">
                <a:latin typeface="Arial"/>
                <a:cs typeface="Arial"/>
              </a:rPr>
              <a:t>quan</a:t>
            </a:r>
            <a:r>
              <a:rPr sz="4400" b="1" spc="-5" dirty="0">
                <a:latin typeface="Arial"/>
                <a:cs typeface="Arial"/>
              </a:rPr>
              <a:t> </a:t>
            </a:r>
            <a:r>
              <a:rPr sz="4400" b="1" spc="-25" dirty="0">
                <a:latin typeface="Arial"/>
                <a:cs typeface="Arial"/>
              </a:rPr>
              <a:t>hệ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85DFDD-1A07-0386-15C3-9395872BD0F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Nội</a:t>
            </a:r>
            <a:r>
              <a:rPr spc="-105" dirty="0"/>
              <a:t> </a:t>
            </a:r>
            <a:r>
              <a:rPr dirty="0"/>
              <a:t>dung</a:t>
            </a:r>
            <a:r>
              <a:rPr spc="-90" dirty="0"/>
              <a:t> </a:t>
            </a:r>
            <a:r>
              <a:rPr dirty="0"/>
              <a:t>trình</a:t>
            </a:r>
            <a:r>
              <a:rPr spc="-80" dirty="0"/>
              <a:t> </a:t>
            </a:r>
            <a:r>
              <a:rPr spc="-25" dirty="0"/>
              <a:t>bày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990258"/>
            <a:ext cx="3888104" cy="236791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9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Arial"/>
                <a:cs typeface="Arial"/>
              </a:rPr>
              <a:t>Giới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thiệu</a:t>
            </a:r>
            <a:endParaRPr sz="3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Arial"/>
                <a:cs typeface="Arial"/>
              </a:rPr>
              <a:t>Phép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toán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một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ngôi</a:t>
            </a:r>
            <a:endParaRPr sz="3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Arial"/>
                <a:cs typeface="Arial"/>
              </a:rPr>
              <a:t>Phép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toán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hai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ngôi.</a:t>
            </a:r>
            <a:endParaRPr sz="3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Arial"/>
                <a:cs typeface="Arial"/>
              </a:rPr>
              <a:t>Phép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toán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khác.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5FBFC-BBDB-C82B-74D9-D42B74A522D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Giới</a:t>
            </a:r>
            <a:r>
              <a:rPr spc="-105" dirty="0"/>
              <a:t> </a:t>
            </a:r>
            <a:r>
              <a:rPr dirty="0"/>
              <a:t>thiệu</a:t>
            </a:r>
            <a:r>
              <a:rPr spc="-105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02468"/>
            <a:ext cx="8100695" cy="478663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790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Đại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số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quan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hệ</a:t>
            </a:r>
            <a:endParaRPr sz="2800">
              <a:latin typeface="Arial"/>
              <a:cs typeface="Arial"/>
            </a:endParaRPr>
          </a:p>
          <a:p>
            <a:pPr marL="756285" marR="213360" lvl="1" indent="-287020">
              <a:lnSpc>
                <a:spcPct val="100000"/>
              </a:lnSpc>
              <a:spcBef>
                <a:spcPts val="595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Là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tập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hợp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phép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toán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cơ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sở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mô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hình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liệu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hệ.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Biểu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thức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đại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chuỗi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phép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toán.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Kết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quả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biểu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thức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thể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hiện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hệ.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55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Ý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nghĩa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95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Cơ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sở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hình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thức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phép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toán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mô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hình</a:t>
            </a:r>
            <a:r>
              <a:rPr sz="2400" spc="-20" dirty="0">
                <a:latin typeface="Arial"/>
                <a:cs typeface="Arial"/>
              </a:rPr>
              <a:t> quan</a:t>
            </a:r>
            <a:endParaRPr sz="24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</a:pPr>
            <a:r>
              <a:rPr sz="2400" spc="-25" dirty="0">
                <a:latin typeface="Arial"/>
                <a:cs typeface="Arial"/>
              </a:rPr>
              <a:t>hệ.</a:t>
            </a:r>
            <a:endParaRPr sz="2400">
              <a:latin typeface="Arial"/>
              <a:cs typeface="Arial"/>
            </a:endParaRPr>
          </a:p>
          <a:p>
            <a:pPr marL="756285" marR="41275" lvl="1" indent="-287020">
              <a:lnSpc>
                <a:spcPct val="100000"/>
              </a:lnSpc>
              <a:spcBef>
                <a:spcPts val="575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Cơ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sở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để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cài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đặt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tốu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ưu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hóa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truy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vấn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các </a:t>
            </a:r>
            <a:r>
              <a:rPr sz="2400" dirty="0">
                <a:latin typeface="Arial"/>
                <a:cs typeface="Arial"/>
              </a:rPr>
              <a:t>HQT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CSDL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hệ.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Được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áp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SQL.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5D3D5-0097-0AB4-744E-0C6EAE62A5E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Giới</a:t>
            </a:r>
            <a:r>
              <a:rPr spc="-105" dirty="0"/>
              <a:t> </a:t>
            </a:r>
            <a:r>
              <a:rPr dirty="0"/>
              <a:t>thiệu</a:t>
            </a:r>
            <a:r>
              <a:rPr spc="-105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986543"/>
            <a:ext cx="5268595" cy="457073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00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Arial"/>
                <a:cs typeface="Arial"/>
              </a:rPr>
              <a:t>Toán</a:t>
            </a:r>
            <a:r>
              <a:rPr sz="3200" spc="-6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hạng</a:t>
            </a:r>
            <a:endParaRPr sz="32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90"/>
              </a:spcBef>
              <a:buChar char="•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Các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thể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hiện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quan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hệ.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Char char="•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Các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tập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hợp.</a:t>
            </a:r>
            <a:endParaRPr sz="2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50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Arial"/>
                <a:cs typeface="Arial"/>
              </a:rPr>
              <a:t>Toán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tử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là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các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phép</a:t>
            </a:r>
            <a:r>
              <a:rPr sz="3200" spc="-20" dirty="0">
                <a:latin typeface="Arial"/>
                <a:cs typeface="Arial"/>
              </a:rPr>
              <a:t> toán</a:t>
            </a:r>
            <a:endParaRPr sz="32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90"/>
              </a:spcBef>
              <a:buChar char="•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Phép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toán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tập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hợp</a:t>
            </a:r>
            <a:endParaRPr sz="2800">
              <a:latin typeface="Arial"/>
              <a:cs typeface="Arial"/>
            </a:endParaRPr>
          </a:p>
          <a:p>
            <a:pPr marL="1154430" lvl="2" indent="-227329">
              <a:lnSpc>
                <a:spcPct val="100000"/>
              </a:lnSpc>
              <a:spcBef>
                <a:spcPts val="590"/>
              </a:spcBef>
              <a:buChar char="-"/>
              <a:tabLst>
                <a:tab pos="1154430" algn="l"/>
              </a:tabLst>
            </a:pPr>
            <a:r>
              <a:rPr sz="2400" dirty="0">
                <a:latin typeface="Arial"/>
                <a:cs typeface="Arial"/>
              </a:rPr>
              <a:t>Hội,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giao,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hiệu,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tích</a:t>
            </a:r>
            <a:r>
              <a:rPr sz="2400" spc="-8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Cartesian.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60"/>
              </a:spcBef>
              <a:buChar char="•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Phép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toán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quan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hệ</a:t>
            </a:r>
            <a:endParaRPr sz="2800">
              <a:latin typeface="Arial"/>
              <a:cs typeface="Arial"/>
            </a:endParaRPr>
          </a:p>
          <a:p>
            <a:pPr marL="1153795" lvl="2" indent="-226695">
              <a:lnSpc>
                <a:spcPct val="100000"/>
              </a:lnSpc>
              <a:spcBef>
                <a:spcPts val="595"/>
              </a:spcBef>
              <a:buChar char="-"/>
              <a:tabLst>
                <a:tab pos="1153795" algn="l"/>
              </a:tabLst>
            </a:pPr>
            <a:r>
              <a:rPr sz="2400" dirty="0">
                <a:latin typeface="Arial"/>
                <a:cs typeface="Arial"/>
              </a:rPr>
              <a:t>Chọn,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chiếu,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kết,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chia,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đổi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tên.</a:t>
            </a:r>
            <a:endParaRPr sz="2400">
              <a:latin typeface="Arial"/>
              <a:cs typeface="Arial"/>
            </a:endParaRPr>
          </a:p>
          <a:p>
            <a:pPr marL="1154430" lvl="2" indent="-227329">
              <a:lnSpc>
                <a:spcPct val="100000"/>
              </a:lnSpc>
              <a:spcBef>
                <a:spcPts val="575"/>
              </a:spcBef>
              <a:buChar char="-"/>
              <a:tabLst>
                <a:tab pos="1154430" algn="l"/>
              </a:tabLst>
            </a:pPr>
            <a:r>
              <a:rPr sz="2400" dirty="0">
                <a:latin typeface="Arial"/>
                <a:cs typeface="Arial"/>
              </a:rPr>
              <a:t>Một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phép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toán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khác.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FDAEF-A9D5-FE97-B793-2BAB195EB9E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Phép</a:t>
            </a:r>
            <a:r>
              <a:rPr sz="3600" spc="-30" dirty="0"/>
              <a:t> </a:t>
            </a:r>
            <a:r>
              <a:rPr sz="3600" dirty="0"/>
              <a:t>toán</a:t>
            </a:r>
            <a:r>
              <a:rPr sz="3600" spc="-10" dirty="0"/>
              <a:t> </a:t>
            </a:r>
            <a:r>
              <a:rPr sz="3600" dirty="0"/>
              <a:t>1</a:t>
            </a:r>
            <a:r>
              <a:rPr sz="3600" spc="-20" dirty="0"/>
              <a:t> ngôi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07340" y="1087577"/>
            <a:ext cx="8240395" cy="3126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355600" algn="l"/>
              </a:tabLst>
            </a:pPr>
            <a:r>
              <a:rPr sz="3200" dirty="0">
                <a:latin typeface="Arial"/>
                <a:cs typeface="Arial"/>
              </a:rPr>
              <a:t>Là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các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phép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toán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chỉ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tác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động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lên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một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quan </a:t>
            </a:r>
            <a:r>
              <a:rPr sz="3200" spc="-25" dirty="0">
                <a:latin typeface="Arial"/>
                <a:cs typeface="Arial"/>
              </a:rPr>
              <a:t>hệ.</a:t>
            </a:r>
            <a:endParaRPr sz="3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spc="-25" dirty="0">
                <a:latin typeface="Arial"/>
                <a:cs typeface="Arial"/>
              </a:rPr>
              <a:t>Gồm</a:t>
            </a:r>
            <a:endParaRPr sz="32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90"/>
              </a:spcBef>
              <a:buChar char="•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Phép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chọn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(Select).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Char char="•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Phép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chiếu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(Project).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70"/>
              </a:spcBef>
              <a:buChar char="•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Phép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đổi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tên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(Rename).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5E12B-919B-7B97-0158-14EAC75B42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Phép</a:t>
            </a:r>
            <a:r>
              <a:rPr spc="-65" dirty="0"/>
              <a:t> </a:t>
            </a:r>
            <a:r>
              <a:rPr dirty="0"/>
              <a:t>chọn</a:t>
            </a:r>
            <a:r>
              <a:rPr spc="-65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90624"/>
            <a:ext cx="8086090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Để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rút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trích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bộ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dữ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liệu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thỏa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điều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kiện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chọn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từ </a:t>
            </a:r>
            <a:r>
              <a:rPr sz="2800" dirty="0">
                <a:latin typeface="Arial"/>
                <a:cs typeface="Arial"/>
              </a:rPr>
              <a:t>một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quan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hệ.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1940" y="4210734"/>
            <a:ext cx="4073525" cy="141986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785"/>
              </a:spcBef>
              <a:buFont typeface="Wingdings"/>
              <a:buChar char=""/>
              <a:tabLst>
                <a:tab pos="380365" algn="l"/>
              </a:tabLst>
            </a:pPr>
            <a:r>
              <a:rPr sz="2800" dirty="0">
                <a:latin typeface="Arial"/>
                <a:cs typeface="Arial"/>
              </a:rPr>
              <a:t>Cú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pháp</a:t>
            </a:r>
            <a:endParaRPr sz="2800">
              <a:latin typeface="Arial"/>
              <a:cs typeface="Arial"/>
            </a:endParaRPr>
          </a:p>
          <a:p>
            <a:pPr marL="781685" lvl="1" indent="-286385">
              <a:lnSpc>
                <a:spcPct val="100000"/>
              </a:lnSpc>
              <a:spcBef>
                <a:spcPts val="590"/>
              </a:spcBef>
              <a:buFont typeface="Arial"/>
              <a:buChar char="•"/>
              <a:tabLst>
                <a:tab pos="781685" algn="l"/>
              </a:tabLst>
            </a:pPr>
            <a:r>
              <a:rPr sz="2400" spc="-10" dirty="0">
                <a:latin typeface="Symbol"/>
                <a:cs typeface="Symbol"/>
              </a:rPr>
              <a:t></a:t>
            </a:r>
            <a:r>
              <a:rPr sz="2400" spc="-15" baseline="-20833" dirty="0">
                <a:latin typeface="Arial"/>
                <a:cs typeface="Arial"/>
              </a:rPr>
              <a:t>&lt;ĐK&gt;</a:t>
            </a:r>
            <a:r>
              <a:rPr sz="2400" spc="-10" dirty="0">
                <a:latin typeface="Arial"/>
                <a:cs typeface="Arial"/>
              </a:rPr>
              <a:t>(R).</a:t>
            </a:r>
            <a:endParaRPr sz="2400">
              <a:latin typeface="Arial"/>
              <a:cs typeface="Arial"/>
            </a:endParaRPr>
          </a:p>
          <a:p>
            <a:pPr marL="781685" lvl="1" indent="-286385">
              <a:lnSpc>
                <a:spcPct val="100000"/>
              </a:lnSpc>
              <a:spcBef>
                <a:spcPts val="580"/>
              </a:spcBef>
              <a:buChar char="•"/>
              <a:tabLst>
                <a:tab pos="781685" algn="l"/>
              </a:tabLst>
            </a:pPr>
            <a:r>
              <a:rPr sz="2400" dirty="0">
                <a:latin typeface="Arial"/>
                <a:cs typeface="Arial"/>
              </a:rPr>
              <a:t>&lt;ĐK&gt;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biểu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thức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logic.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318250" y="2540000"/>
          <a:ext cx="2035175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11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3733800" y="3009900"/>
            <a:ext cx="2286000" cy="76200"/>
          </a:xfrm>
          <a:custGeom>
            <a:avLst/>
            <a:gdLst/>
            <a:ahLst/>
            <a:cxnLst/>
            <a:rect l="l" t="t" r="r" b="b"/>
            <a:pathLst>
              <a:path w="2286000" h="76200">
                <a:moveTo>
                  <a:pt x="2209800" y="0"/>
                </a:moveTo>
                <a:lnTo>
                  <a:pt x="2209800" y="76200"/>
                </a:lnTo>
                <a:lnTo>
                  <a:pt x="2273300" y="44450"/>
                </a:lnTo>
                <a:lnTo>
                  <a:pt x="2222500" y="44450"/>
                </a:lnTo>
                <a:lnTo>
                  <a:pt x="2222500" y="31750"/>
                </a:lnTo>
                <a:lnTo>
                  <a:pt x="2273300" y="31750"/>
                </a:lnTo>
                <a:lnTo>
                  <a:pt x="2209800" y="0"/>
                </a:lnTo>
                <a:close/>
              </a:path>
              <a:path w="2286000" h="76200">
                <a:moveTo>
                  <a:pt x="22098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209800" y="44450"/>
                </a:lnTo>
                <a:lnTo>
                  <a:pt x="2209800" y="31750"/>
                </a:lnTo>
                <a:close/>
              </a:path>
              <a:path w="2286000" h="76200">
                <a:moveTo>
                  <a:pt x="2273300" y="31750"/>
                </a:moveTo>
                <a:lnTo>
                  <a:pt x="2222500" y="31750"/>
                </a:lnTo>
                <a:lnTo>
                  <a:pt x="2222500" y="44450"/>
                </a:lnTo>
                <a:lnTo>
                  <a:pt x="2273300" y="44450"/>
                </a:lnTo>
                <a:lnTo>
                  <a:pt x="2286000" y="38100"/>
                </a:lnTo>
                <a:lnTo>
                  <a:pt x="22733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139184" y="2677490"/>
            <a:ext cx="14560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13888" dirty="0">
                <a:latin typeface="Symbol"/>
                <a:cs typeface="Symbol"/>
              </a:rPr>
              <a:t></a:t>
            </a:r>
            <a:r>
              <a:rPr sz="1200" dirty="0">
                <a:latin typeface="Verdana"/>
                <a:cs typeface="Verdana"/>
              </a:rPr>
              <a:t>A=B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dirty="0">
                <a:latin typeface="Symbol"/>
                <a:cs typeface="Symbol"/>
              </a:rPr>
              <a:t>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Verdana"/>
                <a:cs typeface="Verdana"/>
              </a:rPr>
              <a:t>D&gt;5</a:t>
            </a:r>
            <a:r>
              <a:rPr sz="2700" spc="-15" baseline="13888" dirty="0">
                <a:latin typeface="Verdana"/>
                <a:cs typeface="Verdana"/>
              </a:rPr>
              <a:t>(R)</a:t>
            </a:r>
            <a:endParaRPr sz="2700" baseline="13888">
              <a:latin typeface="Verdana"/>
              <a:cs typeface="Verdan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55650" y="2264410"/>
          <a:ext cx="2541270" cy="1842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4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0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9E6C55-D9B6-CB85-6774-624A2169DD4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Phép</a:t>
            </a:r>
            <a:r>
              <a:rPr spc="-65" dirty="0"/>
              <a:t> </a:t>
            </a:r>
            <a:r>
              <a:rPr dirty="0"/>
              <a:t>chọn</a:t>
            </a:r>
            <a:r>
              <a:rPr spc="-65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1940" y="1002468"/>
            <a:ext cx="7401559" cy="508000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790"/>
              </a:spcBef>
              <a:buFont typeface="Wingdings"/>
              <a:buChar char=""/>
              <a:tabLst>
                <a:tab pos="380365" algn="l"/>
              </a:tabLst>
            </a:pPr>
            <a:r>
              <a:rPr sz="2800" dirty="0">
                <a:latin typeface="Arial"/>
                <a:cs typeface="Arial"/>
              </a:rPr>
              <a:t>Biểu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thức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điều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kiện</a:t>
            </a:r>
            <a:endParaRPr sz="2800">
              <a:latin typeface="Arial"/>
              <a:cs typeface="Arial"/>
            </a:endParaRPr>
          </a:p>
          <a:p>
            <a:pPr marL="781685" lvl="1" indent="-286385">
              <a:lnSpc>
                <a:spcPct val="100000"/>
              </a:lnSpc>
              <a:spcBef>
                <a:spcPts val="595"/>
              </a:spcBef>
              <a:buChar char="•"/>
              <a:tabLst>
                <a:tab pos="781685" algn="l"/>
              </a:tabLst>
            </a:pPr>
            <a:r>
              <a:rPr sz="2400" dirty="0">
                <a:latin typeface="Arial"/>
                <a:cs typeface="Arial"/>
              </a:rPr>
              <a:t>Chứa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mệnh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đề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dạng</a:t>
            </a:r>
            <a:endParaRPr sz="2400">
              <a:latin typeface="Arial"/>
              <a:cs typeface="Arial"/>
            </a:endParaRPr>
          </a:p>
          <a:p>
            <a:pPr marL="1181100" lvl="2" indent="-228600">
              <a:lnSpc>
                <a:spcPct val="100000"/>
              </a:lnSpc>
              <a:spcBef>
                <a:spcPts val="484"/>
              </a:spcBef>
              <a:buChar char="-"/>
              <a:tabLst>
                <a:tab pos="1181100" algn="l"/>
              </a:tabLst>
            </a:pPr>
            <a:r>
              <a:rPr sz="2000" dirty="0">
                <a:latin typeface="Arial"/>
                <a:cs typeface="Arial"/>
              </a:rPr>
              <a:t>&lt;thuộc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tính&gt;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&lt;toán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tử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sánh&gt;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&lt;hằng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số&gt;.</a:t>
            </a:r>
            <a:endParaRPr sz="2000">
              <a:latin typeface="Arial"/>
              <a:cs typeface="Arial"/>
            </a:endParaRPr>
          </a:p>
          <a:p>
            <a:pPr marL="1181100" lvl="2" indent="-228600">
              <a:lnSpc>
                <a:spcPct val="100000"/>
              </a:lnSpc>
              <a:spcBef>
                <a:spcPts val="480"/>
              </a:spcBef>
              <a:buChar char="-"/>
              <a:tabLst>
                <a:tab pos="1181100" algn="l"/>
              </a:tabLst>
            </a:pPr>
            <a:r>
              <a:rPr sz="2000" dirty="0">
                <a:latin typeface="Arial"/>
                <a:cs typeface="Arial"/>
              </a:rPr>
              <a:t>&lt;thuộc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tính&gt;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&lt;toán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tử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sánh&gt;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&lt;thuộc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tính&gt;.</a:t>
            </a:r>
            <a:endParaRPr sz="2000">
              <a:latin typeface="Arial"/>
              <a:cs typeface="Arial"/>
            </a:endParaRPr>
          </a:p>
          <a:p>
            <a:pPr marL="781685" lvl="1" indent="-286385">
              <a:lnSpc>
                <a:spcPct val="100000"/>
              </a:lnSpc>
              <a:spcBef>
                <a:spcPts val="575"/>
              </a:spcBef>
              <a:buChar char="•"/>
              <a:tabLst>
                <a:tab pos="781685" algn="l"/>
              </a:tabLst>
            </a:pPr>
            <a:r>
              <a:rPr sz="2400" dirty="0">
                <a:latin typeface="Arial"/>
                <a:cs typeface="Arial"/>
              </a:rPr>
              <a:t>Toán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tử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sánh: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&lt;,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≤,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&gt;,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≥,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≠.</a:t>
            </a:r>
            <a:endParaRPr sz="2400">
              <a:latin typeface="Arial"/>
              <a:cs typeface="Arial"/>
            </a:endParaRPr>
          </a:p>
          <a:p>
            <a:pPr marL="781685" lvl="1" indent="-286385">
              <a:lnSpc>
                <a:spcPct val="100000"/>
              </a:lnSpc>
              <a:spcBef>
                <a:spcPts val="575"/>
              </a:spcBef>
              <a:buChar char="•"/>
              <a:tabLst>
                <a:tab pos="781685" algn="l"/>
              </a:tabLst>
            </a:pP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mệnh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đề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nối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bởi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toán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tử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logic: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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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Symbol"/>
                <a:cs typeface="Symbol"/>
              </a:rPr>
              <a:t></a:t>
            </a:r>
            <a:r>
              <a:rPr sz="2400" spc="-25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380365" indent="-342265">
              <a:lnSpc>
                <a:spcPct val="100000"/>
              </a:lnSpc>
              <a:spcBef>
                <a:spcPts val="655"/>
              </a:spcBef>
              <a:buFont typeface="Wingdings"/>
              <a:buChar char=""/>
              <a:tabLst>
                <a:tab pos="380365" algn="l"/>
              </a:tabLst>
            </a:pPr>
            <a:r>
              <a:rPr sz="2800" dirty="0">
                <a:latin typeface="Arial"/>
                <a:cs typeface="Arial"/>
              </a:rPr>
              <a:t>Đặc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trưng</a:t>
            </a:r>
            <a:endParaRPr sz="2800">
              <a:latin typeface="Arial"/>
              <a:cs typeface="Arial"/>
            </a:endParaRPr>
          </a:p>
          <a:p>
            <a:pPr marL="781685" lvl="1" indent="-286385">
              <a:lnSpc>
                <a:spcPct val="100000"/>
              </a:lnSpc>
              <a:spcBef>
                <a:spcPts val="595"/>
              </a:spcBef>
              <a:buChar char="•"/>
              <a:tabLst>
                <a:tab pos="781685" algn="l"/>
              </a:tabLst>
            </a:pPr>
            <a:r>
              <a:rPr sz="2400" dirty="0">
                <a:latin typeface="Arial"/>
                <a:cs typeface="Arial"/>
              </a:rPr>
              <a:t>Phép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chọn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giao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hoán.</a:t>
            </a:r>
            <a:endParaRPr sz="2400">
              <a:latin typeface="Arial"/>
              <a:cs typeface="Arial"/>
            </a:endParaRPr>
          </a:p>
          <a:p>
            <a:pPr marL="952500">
              <a:lnSpc>
                <a:spcPct val="100000"/>
              </a:lnSpc>
              <a:spcBef>
                <a:spcPts val="975"/>
              </a:spcBef>
              <a:tabLst>
                <a:tab pos="1181100" algn="l"/>
              </a:tabLst>
            </a:pPr>
            <a:r>
              <a:rPr sz="3000" spc="-75" baseline="13888" dirty="0">
                <a:latin typeface="Arial"/>
                <a:cs typeface="Arial"/>
              </a:rPr>
              <a:t>-</a:t>
            </a:r>
            <a:r>
              <a:rPr sz="3000" baseline="13888" dirty="0">
                <a:latin typeface="Arial"/>
                <a:cs typeface="Arial"/>
              </a:rPr>
              <a:t>	</a:t>
            </a:r>
            <a:r>
              <a:rPr sz="3000" baseline="13888" dirty="0">
                <a:latin typeface="Symbol"/>
                <a:cs typeface="Symbol"/>
              </a:rPr>
              <a:t></a:t>
            </a:r>
            <a:r>
              <a:rPr sz="1300" dirty="0">
                <a:latin typeface="Arial"/>
                <a:cs typeface="Arial"/>
              </a:rPr>
              <a:t>&lt;ĐK1&gt;</a:t>
            </a:r>
            <a:r>
              <a:rPr sz="3000" baseline="13888" dirty="0">
                <a:latin typeface="Arial"/>
                <a:cs typeface="Arial"/>
              </a:rPr>
              <a:t>(</a:t>
            </a:r>
            <a:r>
              <a:rPr sz="3000" baseline="13888" dirty="0">
                <a:latin typeface="Symbol"/>
                <a:cs typeface="Symbol"/>
              </a:rPr>
              <a:t></a:t>
            </a:r>
            <a:r>
              <a:rPr sz="1300" dirty="0">
                <a:latin typeface="Arial"/>
                <a:cs typeface="Arial"/>
              </a:rPr>
              <a:t>&lt;ĐK2&gt;</a:t>
            </a:r>
            <a:r>
              <a:rPr sz="3000" baseline="13888" dirty="0">
                <a:latin typeface="Arial"/>
                <a:cs typeface="Arial"/>
              </a:rPr>
              <a:t>(R)) =</a:t>
            </a:r>
            <a:r>
              <a:rPr sz="3000" spc="82" baseline="13888" dirty="0">
                <a:latin typeface="Arial"/>
                <a:cs typeface="Arial"/>
              </a:rPr>
              <a:t> </a:t>
            </a:r>
            <a:r>
              <a:rPr sz="3000" spc="-15" baseline="13888" dirty="0">
                <a:latin typeface="Symbol"/>
                <a:cs typeface="Symbol"/>
              </a:rPr>
              <a:t></a:t>
            </a:r>
            <a:r>
              <a:rPr sz="1300" spc="-10" dirty="0">
                <a:latin typeface="Arial"/>
                <a:cs typeface="Arial"/>
              </a:rPr>
              <a:t>&lt;ĐK2&gt;</a:t>
            </a:r>
            <a:r>
              <a:rPr sz="3000" spc="-15" baseline="13888" dirty="0">
                <a:latin typeface="Arial"/>
                <a:cs typeface="Arial"/>
              </a:rPr>
              <a:t>(</a:t>
            </a:r>
            <a:r>
              <a:rPr sz="3000" spc="-15" baseline="13888" dirty="0">
                <a:latin typeface="Symbol"/>
                <a:cs typeface="Symbol"/>
              </a:rPr>
              <a:t></a:t>
            </a:r>
            <a:r>
              <a:rPr sz="1300" spc="-10" dirty="0">
                <a:latin typeface="Arial"/>
                <a:cs typeface="Arial"/>
              </a:rPr>
              <a:t>&lt;ĐK1&gt;</a:t>
            </a:r>
            <a:r>
              <a:rPr sz="3000" spc="-15" baseline="13888" dirty="0">
                <a:latin typeface="Arial"/>
                <a:cs typeface="Arial"/>
              </a:rPr>
              <a:t>(R)).</a:t>
            </a:r>
            <a:endParaRPr sz="3000" baseline="13888">
              <a:latin typeface="Arial"/>
              <a:cs typeface="Arial"/>
            </a:endParaRPr>
          </a:p>
          <a:p>
            <a:pPr marL="781685" lvl="1" indent="-286385">
              <a:lnSpc>
                <a:spcPct val="100000"/>
              </a:lnSpc>
              <a:spcBef>
                <a:spcPts val="80"/>
              </a:spcBef>
              <a:buChar char="•"/>
              <a:tabLst>
                <a:tab pos="781685" algn="l"/>
              </a:tabLst>
            </a:pPr>
            <a:r>
              <a:rPr sz="2400" dirty="0">
                <a:latin typeface="Arial"/>
                <a:cs typeface="Arial"/>
              </a:rPr>
              <a:t>Kết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quả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hệ</a:t>
            </a:r>
            <a:endParaRPr sz="2400">
              <a:latin typeface="Arial"/>
              <a:cs typeface="Arial"/>
            </a:endParaRPr>
          </a:p>
          <a:p>
            <a:pPr marL="1181100" lvl="2" indent="-228600">
              <a:lnSpc>
                <a:spcPct val="100000"/>
              </a:lnSpc>
              <a:spcBef>
                <a:spcPts val="489"/>
              </a:spcBef>
              <a:buChar char="-"/>
              <a:tabLst>
                <a:tab pos="1181100" algn="l"/>
              </a:tabLst>
            </a:pPr>
            <a:r>
              <a:rPr sz="2000" dirty="0">
                <a:latin typeface="Arial"/>
                <a:cs typeface="Arial"/>
              </a:rPr>
              <a:t>Có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cùng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bậc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với</a:t>
            </a:r>
            <a:r>
              <a:rPr sz="2000" spc="-25" dirty="0">
                <a:latin typeface="Arial"/>
                <a:cs typeface="Arial"/>
              </a:rPr>
              <a:t> R.</a:t>
            </a:r>
            <a:endParaRPr sz="2000">
              <a:latin typeface="Arial"/>
              <a:cs typeface="Arial"/>
            </a:endParaRPr>
          </a:p>
          <a:p>
            <a:pPr marL="1181100" lvl="2" indent="-228600">
              <a:lnSpc>
                <a:spcPct val="100000"/>
              </a:lnSpc>
              <a:spcBef>
                <a:spcPts val="480"/>
              </a:spcBef>
              <a:buChar char="-"/>
              <a:tabLst>
                <a:tab pos="1181100" algn="l"/>
              </a:tabLst>
            </a:pPr>
            <a:r>
              <a:rPr sz="2000" dirty="0">
                <a:latin typeface="Arial"/>
                <a:cs typeface="Arial"/>
              </a:rPr>
              <a:t>Có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số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bộ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ít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hơn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hoặc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bằng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số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bộ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R.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1157D-D451-4DEF-D874-13C6C804BC1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Phép</a:t>
            </a:r>
            <a:r>
              <a:rPr spc="-75" dirty="0"/>
              <a:t> </a:t>
            </a:r>
            <a:r>
              <a:rPr dirty="0"/>
              <a:t>chiếu</a:t>
            </a:r>
            <a:r>
              <a:rPr spc="-70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90624"/>
            <a:ext cx="8175625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Để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rút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trích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cột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ứng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với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thuộc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tính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nào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đó </a:t>
            </a:r>
            <a:r>
              <a:rPr sz="2800" dirty="0">
                <a:latin typeface="Arial"/>
                <a:cs typeface="Arial"/>
              </a:rPr>
              <a:t>của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một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quan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hệ.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1940" y="4503784"/>
            <a:ext cx="6731000" cy="141922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780"/>
              </a:spcBef>
              <a:buFont typeface="Wingdings"/>
              <a:buChar char=""/>
              <a:tabLst>
                <a:tab pos="380365" algn="l"/>
              </a:tabLst>
            </a:pPr>
            <a:r>
              <a:rPr sz="2800" dirty="0">
                <a:latin typeface="Arial"/>
                <a:cs typeface="Arial"/>
              </a:rPr>
              <a:t>Cú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pháp</a:t>
            </a:r>
            <a:endParaRPr sz="2800">
              <a:latin typeface="Arial"/>
              <a:cs typeface="Arial"/>
            </a:endParaRPr>
          </a:p>
          <a:p>
            <a:pPr marL="781685" lvl="1" indent="-286385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781685" algn="l"/>
              </a:tabLst>
            </a:pPr>
            <a:r>
              <a:rPr sz="2400" spc="-10" dirty="0">
                <a:latin typeface="Symbol"/>
                <a:cs typeface="Symbol"/>
              </a:rPr>
              <a:t></a:t>
            </a:r>
            <a:r>
              <a:rPr sz="2400" spc="-15" baseline="-20833" dirty="0">
                <a:latin typeface="Arial"/>
                <a:cs typeface="Arial"/>
              </a:rPr>
              <a:t>&lt;DSTT&gt;</a:t>
            </a:r>
            <a:r>
              <a:rPr sz="2400" spc="-10" dirty="0">
                <a:latin typeface="Arial"/>
                <a:cs typeface="Arial"/>
              </a:rPr>
              <a:t>(R).</a:t>
            </a:r>
            <a:endParaRPr sz="2400">
              <a:latin typeface="Arial"/>
              <a:cs typeface="Arial"/>
            </a:endParaRPr>
          </a:p>
          <a:p>
            <a:pPr marL="781685" lvl="1" indent="-286385">
              <a:lnSpc>
                <a:spcPct val="100000"/>
              </a:lnSpc>
              <a:spcBef>
                <a:spcPts val="575"/>
              </a:spcBef>
              <a:buChar char="•"/>
              <a:tabLst>
                <a:tab pos="781685" algn="l"/>
              </a:tabLst>
            </a:pPr>
            <a:r>
              <a:rPr sz="2400" dirty="0">
                <a:latin typeface="Arial"/>
                <a:cs typeface="Arial"/>
              </a:rPr>
              <a:t>&lt;DSTT&gt;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danh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sách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R.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55650" y="2340610"/>
          <a:ext cx="2541270" cy="1842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4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0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3733800" y="3009900"/>
            <a:ext cx="2286000" cy="76200"/>
          </a:xfrm>
          <a:custGeom>
            <a:avLst/>
            <a:gdLst/>
            <a:ahLst/>
            <a:cxnLst/>
            <a:rect l="l" t="t" r="r" b="b"/>
            <a:pathLst>
              <a:path w="2286000" h="76200">
                <a:moveTo>
                  <a:pt x="2209800" y="0"/>
                </a:moveTo>
                <a:lnTo>
                  <a:pt x="2209800" y="76200"/>
                </a:lnTo>
                <a:lnTo>
                  <a:pt x="2273300" y="44450"/>
                </a:lnTo>
                <a:lnTo>
                  <a:pt x="2222500" y="44450"/>
                </a:lnTo>
                <a:lnTo>
                  <a:pt x="2222500" y="31750"/>
                </a:lnTo>
                <a:lnTo>
                  <a:pt x="2273300" y="31750"/>
                </a:lnTo>
                <a:lnTo>
                  <a:pt x="2209800" y="0"/>
                </a:lnTo>
                <a:close/>
              </a:path>
              <a:path w="2286000" h="76200">
                <a:moveTo>
                  <a:pt x="22098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209800" y="44450"/>
                </a:lnTo>
                <a:lnTo>
                  <a:pt x="2209800" y="31750"/>
                </a:lnTo>
                <a:close/>
              </a:path>
              <a:path w="2286000" h="76200">
                <a:moveTo>
                  <a:pt x="2273300" y="31750"/>
                </a:moveTo>
                <a:lnTo>
                  <a:pt x="2222500" y="31750"/>
                </a:lnTo>
                <a:lnTo>
                  <a:pt x="2222500" y="44450"/>
                </a:lnTo>
                <a:lnTo>
                  <a:pt x="2273300" y="44450"/>
                </a:lnTo>
                <a:lnTo>
                  <a:pt x="2286000" y="38100"/>
                </a:lnTo>
                <a:lnTo>
                  <a:pt x="22733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447285" y="2621102"/>
            <a:ext cx="8401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Symbol"/>
                <a:cs typeface="Symbol"/>
              </a:rPr>
              <a:t></a:t>
            </a:r>
            <a:r>
              <a:rPr sz="1800" spc="-15" baseline="-20833" dirty="0">
                <a:latin typeface="Verdana"/>
                <a:cs typeface="Verdana"/>
              </a:rPr>
              <a:t>A,D</a:t>
            </a:r>
            <a:r>
              <a:rPr sz="1800" spc="-10" dirty="0">
                <a:latin typeface="Verdana"/>
                <a:cs typeface="Verdana"/>
              </a:rPr>
              <a:t>(R)</a:t>
            </a:r>
            <a:endParaRPr sz="1800">
              <a:latin typeface="Verdana"/>
              <a:cs typeface="Verdan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478651" y="2355850"/>
          <a:ext cx="1148080" cy="1480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545A9E-12D0-216A-8604-2FA4595FA5D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Phép</a:t>
            </a:r>
            <a:r>
              <a:rPr spc="-75" dirty="0"/>
              <a:t> </a:t>
            </a:r>
            <a:r>
              <a:rPr dirty="0"/>
              <a:t>chiếu</a:t>
            </a:r>
            <a:r>
              <a:rPr spc="-70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1940" y="1002468"/>
            <a:ext cx="7870190" cy="500634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790"/>
              </a:spcBef>
              <a:buFont typeface="Wingdings"/>
              <a:buChar char=""/>
              <a:tabLst>
                <a:tab pos="380365" algn="l"/>
              </a:tabLst>
            </a:pPr>
            <a:r>
              <a:rPr sz="2800" dirty="0">
                <a:latin typeface="Arial"/>
                <a:cs typeface="Arial"/>
              </a:rPr>
              <a:t>Đặc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trưng</a:t>
            </a:r>
            <a:endParaRPr sz="2800">
              <a:latin typeface="Arial"/>
              <a:cs typeface="Arial"/>
            </a:endParaRPr>
          </a:p>
          <a:p>
            <a:pPr marL="781685" lvl="1" indent="-286385">
              <a:lnSpc>
                <a:spcPct val="100000"/>
              </a:lnSpc>
              <a:spcBef>
                <a:spcPts val="595"/>
              </a:spcBef>
              <a:buChar char="•"/>
              <a:tabLst>
                <a:tab pos="781685" algn="l"/>
              </a:tabLst>
            </a:pPr>
            <a:r>
              <a:rPr sz="2400" dirty="0">
                <a:latin typeface="Arial"/>
                <a:cs typeface="Arial"/>
              </a:rPr>
              <a:t>Phép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chiếu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không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giao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hoán.</a:t>
            </a:r>
            <a:endParaRPr sz="2400">
              <a:latin typeface="Arial"/>
              <a:cs typeface="Arial"/>
            </a:endParaRPr>
          </a:p>
          <a:p>
            <a:pPr marL="952500">
              <a:lnSpc>
                <a:spcPct val="100000"/>
              </a:lnSpc>
              <a:spcBef>
                <a:spcPts val="975"/>
              </a:spcBef>
              <a:tabLst>
                <a:tab pos="1181100" algn="l"/>
              </a:tabLst>
            </a:pPr>
            <a:r>
              <a:rPr sz="3000" spc="-75" baseline="13888" dirty="0">
                <a:latin typeface="Arial"/>
                <a:cs typeface="Arial"/>
              </a:rPr>
              <a:t>-</a:t>
            </a:r>
            <a:r>
              <a:rPr sz="3000" baseline="13888" dirty="0">
                <a:latin typeface="Arial"/>
                <a:cs typeface="Arial"/>
              </a:rPr>
              <a:t>	</a:t>
            </a:r>
            <a:r>
              <a:rPr sz="3000" baseline="13888" dirty="0">
                <a:latin typeface="Symbol"/>
                <a:cs typeface="Symbol"/>
              </a:rPr>
              <a:t></a:t>
            </a:r>
            <a:r>
              <a:rPr sz="1300" dirty="0">
                <a:latin typeface="Arial"/>
                <a:cs typeface="Arial"/>
              </a:rPr>
              <a:t>&lt;DSTT1&gt;</a:t>
            </a:r>
            <a:r>
              <a:rPr sz="3000" baseline="13888" dirty="0">
                <a:latin typeface="Arial"/>
                <a:cs typeface="Arial"/>
              </a:rPr>
              <a:t>(</a:t>
            </a:r>
            <a:r>
              <a:rPr sz="3000" baseline="13888" dirty="0">
                <a:latin typeface="Symbol"/>
                <a:cs typeface="Symbol"/>
              </a:rPr>
              <a:t></a:t>
            </a:r>
            <a:r>
              <a:rPr sz="1300" dirty="0">
                <a:latin typeface="Arial"/>
                <a:cs typeface="Arial"/>
              </a:rPr>
              <a:t>&lt;DSTT2&gt;</a:t>
            </a:r>
            <a:r>
              <a:rPr sz="3000" baseline="13888" dirty="0">
                <a:latin typeface="Arial"/>
                <a:cs typeface="Arial"/>
              </a:rPr>
              <a:t>(R))</a:t>
            </a:r>
            <a:r>
              <a:rPr sz="3000" spc="15" baseline="13888" dirty="0">
                <a:latin typeface="Arial"/>
                <a:cs typeface="Arial"/>
              </a:rPr>
              <a:t> </a:t>
            </a:r>
            <a:r>
              <a:rPr sz="3000" baseline="13888" dirty="0">
                <a:latin typeface="Symbol"/>
                <a:cs typeface="Symbol"/>
              </a:rPr>
              <a:t></a:t>
            </a:r>
            <a:r>
              <a:rPr sz="3000" spc="209" baseline="13888" dirty="0">
                <a:latin typeface="Times New Roman"/>
                <a:cs typeface="Times New Roman"/>
              </a:rPr>
              <a:t> </a:t>
            </a:r>
            <a:r>
              <a:rPr sz="3000" spc="-15" baseline="13888" dirty="0">
                <a:latin typeface="Symbol"/>
                <a:cs typeface="Symbol"/>
              </a:rPr>
              <a:t></a:t>
            </a:r>
            <a:r>
              <a:rPr sz="1300" spc="-10" dirty="0">
                <a:latin typeface="Arial"/>
                <a:cs typeface="Arial"/>
              </a:rPr>
              <a:t>&lt;DSTT2&gt;</a:t>
            </a:r>
            <a:r>
              <a:rPr sz="3000" spc="-15" baseline="13888" dirty="0">
                <a:latin typeface="Arial"/>
                <a:cs typeface="Arial"/>
              </a:rPr>
              <a:t>(</a:t>
            </a:r>
            <a:r>
              <a:rPr sz="3000" spc="-15" baseline="13888" dirty="0">
                <a:latin typeface="Symbol"/>
                <a:cs typeface="Symbol"/>
              </a:rPr>
              <a:t></a:t>
            </a:r>
            <a:r>
              <a:rPr sz="1300" spc="-10" dirty="0">
                <a:latin typeface="Arial"/>
                <a:cs typeface="Arial"/>
              </a:rPr>
              <a:t>&lt;DSTT1&gt;</a:t>
            </a:r>
            <a:r>
              <a:rPr sz="3000" spc="-15" baseline="13888" dirty="0">
                <a:latin typeface="Arial"/>
                <a:cs typeface="Arial"/>
              </a:rPr>
              <a:t>(R)).</a:t>
            </a:r>
            <a:endParaRPr sz="3000" baseline="13888">
              <a:latin typeface="Arial"/>
              <a:cs typeface="Arial"/>
            </a:endParaRPr>
          </a:p>
          <a:p>
            <a:pPr marL="781685" lvl="1" indent="-286385">
              <a:lnSpc>
                <a:spcPct val="100000"/>
              </a:lnSpc>
              <a:spcBef>
                <a:spcPts val="80"/>
              </a:spcBef>
              <a:buChar char="•"/>
              <a:tabLst>
                <a:tab pos="781685" algn="l"/>
              </a:tabLst>
            </a:pPr>
            <a:r>
              <a:rPr sz="2400" dirty="0">
                <a:latin typeface="Arial"/>
                <a:cs typeface="Arial"/>
              </a:rPr>
              <a:t>Phép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chiếu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loại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bỏ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bộ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trùng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nhau.</a:t>
            </a:r>
            <a:endParaRPr sz="2400">
              <a:latin typeface="Arial"/>
              <a:cs typeface="Arial"/>
            </a:endParaRPr>
          </a:p>
          <a:p>
            <a:pPr marL="781685" lvl="1" indent="-286385">
              <a:lnSpc>
                <a:spcPct val="100000"/>
              </a:lnSpc>
              <a:spcBef>
                <a:spcPts val="580"/>
              </a:spcBef>
              <a:buChar char="•"/>
              <a:tabLst>
                <a:tab pos="781685" algn="l"/>
              </a:tabLst>
            </a:pPr>
            <a:r>
              <a:rPr sz="2400" dirty="0">
                <a:latin typeface="Arial"/>
                <a:cs typeface="Arial"/>
              </a:rPr>
              <a:t>Kết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quả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hệ</a:t>
            </a:r>
            <a:endParaRPr sz="2400">
              <a:latin typeface="Arial"/>
              <a:cs typeface="Arial"/>
            </a:endParaRPr>
          </a:p>
          <a:p>
            <a:pPr marL="1181100" lvl="2" indent="-228600">
              <a:lnSpc>
                <a:spcPct val="100000"/>
              </a:lnSpc>
              <a:spcBef>
                <a:spcPts val="484"/>
              </a:spcBef>
              <a:buChar char="-"/>
              <a:tabLst>
                <a:tab pos="1181100" algn="l"/>
              </a:tabLst>
            </a:pPr>
            <a:r>
              <a:rPr sz="2000" dirty="0">
                <a:latin typeface="Arial"/>
                <a:cs typeface="Arial"/>
              </a:rPr>
              <a:t>Có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bậc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bằng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số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danh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sách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tính.</a:t>
            </a:r>
            <a:endParaRPr sz="2000">
              <a:latin typeface="Arial"/>
              <a:cs typeface="Arial"/>
            </a:endParaRPr>
          </a:p>
          <a:p>
            <a:pPr marL="1181100" lvl="2" indent="-228600">
              <a:lnSpc>
                <a:spcPct val="100000"/>
              </a:lnSpc>
              <a:spcBef>
                <a:spcPts val="480"/>
              </a:spcBef>
              <a:buChar char="-"/>
              <a:tabLst>
                <a:tab pos="1181100" algn="l"/>
              </a:tabLst>
            </a:pPr>
            <a:r>
              <a:rPr sz="2000" dirty="0">
                <a:latin typeface="Arial"/>
                <a:cs typeface="Arial"/>
              </a:rPr>
              <a:t>Có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bậc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nhỏ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hơn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hoặc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bằng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bậc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5" dirty="0">
                <a:latin typeface="Arial"/>
                <a:cs typeface="Arial"/>
              </a:rPr>
              <a:t> R.</a:t>
            </a:r>
            <a:endParaRPr sz="2000">
              <a:latin typeface="Arial"/>
              <a:cs typeface="Arial"/>
            </a:endParaRPr>
          </a:p>
          <a:p>
            <a:pPr marL="1181100" lvl="2" indent="-228600">
              <a:lnSpc>
                <a:spcPct val="100000"/>
              </a:lnSpc>
              <a:spcBef>
                <a:spcPts val="480"/>
              </a:spcBef>
              <a:buChar char="-"/>
              <a:tabLst>
                <a:tab pos="1181100" algn="l"/>
              </a:tabLst>
            </a:pPr>
            <a:r>
              <a:rPr sz="2000" dirty="0">
                <a:latin typeface="Arial"/>
                <a:cs typeface="Arial"/>
              </a:rPr>
              <a:t>Có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số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bộ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ít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hơn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hoặc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bằng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số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bộ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R.</a:t>
            </a:r>
            <a:endParaRPr sz="2000">
              <a:latin typeface="Arial"/>
              <a:cs typeface="Arial"/>
            </a:endParaRPr>
          </a:p>
          <a:p>
            <a:pPr marL="380365" indent="-342265">
              <a:lnSpc>
                <a:spcPct val="100000"/>
              </a:lnSpc>
              <a:spcBef>
                <a:spcPts val="655"/>
              </a:spcBef>
              <a:buFont typeface="Wingdings"/>
              <a:buChar char=""/>
              <a:tabLst>
                <a:tab pos="380365" algn="l"/>
              </a:tabLst>
            </a:pPr>
            <a:r>
              <a:rPr sz="2800" dirty="0">
                <a:latin typeface="Arial"/>
                <a:cs typeface="Arial"/>
              </a:rPr>
              <a:t>Mở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rộng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phép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chiếu</a:t>
            </a:r>
            <a:endParaRPr sz="2800">
              <a:latin typeface="Arial"/>
              <a:cs typeface="Arial"/>
            </a:endParaRPr>
          </a:p>
          <a:p>
            <a:pPr marL="781685" marR="30480" lvl="1" indent="-287020">
              <a:lnSpc>
                <a:spcPct val="100000"/>
              </a:lnSpc>
              <a:spcBef>
                <a:spcPts val="590"/>
              </a:spcBef>
              <a:buChar char="•"/>
              <a:tabLst>
                <a:tab pos="781685" algn="l"/>
              </a:tabLst>
            </a:pPr>
            <a:r>
              <a:rPr sz="2400" dirty="0">
                <a:latin typeface="Arial"/>
                <a:cs typeface="Arial"/>
              </a:rPr>
              <a:t>Cho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phép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sử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dụng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phép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toán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học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danh </a:t>
            </a:r>
            <a:r>
              <a:rPr sz="2400" dirty="0">
                <a:latin typeface="Arial"/>
                <a:cs typeface="Arial"/>
              </a:rPr>
              <a:t>sách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tính.</a:t>
            </a:r>
            <a:endParaRPr sz="2400">
              <a:latin typeface="Arial"/>
              <a:cs typeface="Arial"/>
            </a:endParaRPr>
          </a:p>
          <a:p>
            <a:pPr marL="952500">
              <a:lnSpc>
                <a:spcPct val="100000"/>
              </a:lnSpc>
              <a:spcBef>
                <a:spcPts val="484"/>
              </a:spcBef>
              <a:tabLst>
                <a:tab pos="1181100" algn="l"/>
              </a:tabLst>
            </a:pPr>
            <a:r>
              <a:rPr sz="2000" spc="-50" dirty="0">
                <a:latin typeface="Arial"/>
                <a:cs typeface="Arial"/>
              </a:rPr>
              <a:t>-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0" dirty="0">
                <a:latin typeface="Symbol"/>
                <a:cs typeface="Symbol"/>
              </a:rPr>
              <a:t></a:t>
            </a:r>
            <a:r>
              <a:rPr sz="1950" spc="-15" baseline="-21367" dirty="0">
                <a:latin typeface="Arial"/>
                <a:cs typeface="Arial"/>
              </a:rPr>
              <a:t>A,2*C</a:t>
            </a:r>
            <a:r>
              <a:rPr sz="2000" spc="-10" dirty="0">
                <a:latin typeface="Arial"/>
                <a:cs typeface="Arial"/>
              </a:rPr>
              <a:t>(R).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1DA76-F50B-32E5-422A-73DBB4C2C3E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Chuỗi</a:t>
            </a:r>
            <a:r>
              <a:rPr spc="-75" dirty="0"/>
              <a:t> </a:t>
            </a:r>
            <a:r>
              <a:rPr dirty="0"/>
              <a:t>các</a:t>
            </a:r>
            <a:r>
              <a:rPr spc="-90" dirty="0"/>
              <a:t> </a:t>
            </a:r>
            <a:r>
              <a:rPr dirty="0"/>
              <a:t>phép</a:t>
            </a:r>
            <a:r>
              <a:rPr spc="-95" dirty="0"/>
              <a:t> </a:t>
            </a:r>
            <a:r>
              <a:rPr dirty="0"/>
              <a:t>toán</a:t>
            </a:r>
            <a:r>
              <a:rPr spc="-90" dirty="0"/>
              <a:t> </a:t>
            </a:r>
            <a:r>
              <a:rPr dirty="0"/>
              <a:t>và</a:t>
            </a:r>
            <a:r>
              <a:rPr spc="-95" dirty="0"/>
              <a:t> </a:t>
            </a:r>
            <a:r>
              <a:rPr dirty="0"/>
              <a:t>phép</a:t>
            </a:r>
            <a:r>
              <a:rPr spc="-90" dirty="0"/>
              <a:t> </a:t>
            </a:r>
            <a:r>
              <a:rPr spc="-25" dirty="0"/>
              <a:t>gán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19899"/>
            <a:ext cx="8259445" cy="150114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Chuỗi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phép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toán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Muốn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sử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dụng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kết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quả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phép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toán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này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làm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toán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hạng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0" dirty="0">
                <a:latin typeface="Arial"/>
                <a:cs typeface="Arial"/>
              </a:rPr>
              <a:t> phép</a:t>
            </a:r>
            <a:endParaRPr sz="20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toán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khác.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Arial"/>
                <a:cs typeface="Arial"/>
              </a:rPr>
              <a:t>Muốn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viết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phép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toán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lồng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nhau.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2044" y="2551303"/>
            <a:ext cx="101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Arial"/>
                <a:cs typeface="Arial"/>
              </a:rPr>
              <a:t>-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25194" y="2607690"/>
            <a:ext cx="1817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13888" dirty="0">
                <a:latin typeface="Symbol"/>
                <a:cs typeface="Symbol"/>
              </a:rPr>
              <a:t></a:t>
            </a:r>
            <a:r>
              <a:rPr sz="1200" dirty="0">
                <a:latin typeface="Arial"/>
                <a:cs typeface="Arial"/>
              </a:rPr>
              <a:t>A,C</a:t>
            </a:r>
            <a:r>
              <a:rPr sz="2700" baseline="13888" dirty="0">
                <a:latin typeface="Arial"/>
                <a:cs typeface="Arial"/>
              </a:rPr>
              <a:t>(</a:t>
            </a:r>
            <a:r>
              <a:rPr sz="2700" baseline="13888" dirty="0">
                <a:latin typeface="Symbol"/>
                <a:cs typeface="Symbol"/>
              </a:rPr>
              <a:t></a:t>
            </a:r>
            <a:r>
              <a:rPr sz="1200" dirty="0">
                <a:latin typeface="Arial"/>
                <a:cs typeface="Arial"/>
              </a:rPr>
              <a:t>A=B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Symbol"/>
                <a:cs typeface="Symbol"/>
              </a:rPr>
              <a:t>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Arial"/>
                <a:cs typeface="Arial"/>
              </a:rPr>
              <a:t>D&gt;5</a:t>
            </a:r>
            <a:r>
              <a:rPr sz="2700" spc="-15" baseline="13888" dirty="0">
                <a:latin typeface="Arial"/>
                <a:cs typeface="Arial"/>
              </a:rPr>
              <a:t>(R))</a:t>
            </a:r>
            <a:endParaRPr sz="2700" baseline="13888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4640" y="2824498"/>
            <a:ext cx="6246495" cy="324612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367665" algn="l"/>
              </a:tabLst>
            </a:pPr>
            <a:r>
              <a:rPr sz="2400" dirty="0">
                <a:latin typeface="Arial"/>
                <a:cs typeface="Arial"/>
              </a:rPr>
              <a:t>Phép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gán</a:t>
            </a:r>
            <a:endParaRPr sz="2400">
              <a:latin typeface="Arial"/>
              <a:cs typeface="Arial"/>
            </a:endParaRPr>
          </a:p>
          <a:p>
            <a:pPr marL="768985" lvl="1" indent="-286385">
              <a:lnSpc>
                <a:spcPct val="100000"/>
              </a:lnSpc>
              <a:spcBef>
                <a:spcPts val="480"/>
              </a:spcBef>
              <a:buChar char="•"/>
              <a:tabLst>
                <a:tab pos="768985" algn="l"/>
              </a:tabLst>
            </a:pPr>
            <a:r>
              <a:rPr sz="2000" dirty="0">
                <a:latin typeface="Arial"/>
                <a:cs typeface="Arial"/>
              </a:rPr>
              <a:t>Muốn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lưu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lại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kết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quả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phép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toán.</a:t>
            </a:r>
            <a:endParaRPr sz="2000">
              <a:latin typeface="Arial"/>
              <a:cs typeface="Arial"/>
            </a:endParaRPr>
          </a:p>
          <a:p>
            <a:pPr marL="768985" lvl="1" indent="-286385">
              <a:lnSpc>
                <a:spcPct val="100000"/>
              </a:lnSpc>
              <a:spcBef>
                <a:spcPts val="480"/>
              </a:spcBef>
              <a:buChar char="•"/>
              <a:tabLst>
                <a:tab pos="768985" algn="l"/>
              </a:tabLst>
            </a:pPr>
            <a:r>
              <a:rPr sz="2000" dirty="0">
                <a:latin typeface="Arial"/>
                <a:cs typeface="Arial"/>
              </a:rPr>
              <a:t>Để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đơn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giản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hóa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chuỗi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phép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toán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phức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tạp.</a:t>
            </a:r>
            <a:endParaRPr sz="2000">
              <a:latin typeface="Arial"/>
              <a:cs typeface="Arial"/>
            </a:endParaRPr>
          </a:p>
          <a:p>
            <a:pPr marL="768985" lvl="1" indent="-286385">
              <a:lnSpc>
                <a:spcPct val="100000"/>
              </a:lnSpc>
              <a:spcBef>
                <a:spcPts val="484"/>
              </a:spcBef>
              <a:buChar char="•"/>
              <a:tabLst>
                <a:tab pos="768985" algn="l"/>
              </a:tabLst>
            </a:pPr>
            <a:r>
              <a:rPr sz="2000" dirty="0">
                <a:latin typeface="Arial"/>
                <a:cs typeface="Arial"/>
              </a:rPr>
              <a:t>Cú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pháp</a:t>
            </a:r>
            <a:endParaRPr sz="2000">
              <a:latin typeface="Arial"/>
              <a:cs typeface="Arial"/>
            </a:endParaRPr>
          </a:p>
          <a:p>
            <a:pPr marL="1168400" lvl="2" indent="-228600">
              <a:lnSpc>
                <a:spcPct val="100000"/>
              </a:lnSpc>
              <a:spcBef>
                <a:spcPts val="440"/>
              </a:spcBef>
              <a:buChar char="-"/>
              <a:tabLst>
                <a:tab pos="1168400" algn="l"/>
              </a:tabLst>
            </a:pPr>
            <a:r>
              <a:rPr sz="1800" dirty="0">
                <a:latin typeface="Arial"/>
                <a:cs typeface="Arial"/>
              </a:rPr>
              <a:t>R’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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  <a:p>
            <a:pPr marL="1168400" lvl="2" indent="-228600">
              <a:lnSpc>
                <a:spcPct val="100000"/>
              </a:lnSpc>
              <a:spcBef>
                <a:spcPts val="430"/>
              </a:spcBef>
              <a:buChar char="-"/>
              <a:tabLst>
                <a:tab pos="1168400" algn="l"/>
              </a:tabLst>
            </a:pPr>
            <a:r>
              <a:rPr sz="1800" dirty="0">
                <a:latin typeface="Arial"/>
                <a:cs typeface="Arial"/>
              </a:rPr>
              <a:t>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biểu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thức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đại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số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quan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hệ.</a:t>
            </a:r>
            <a:endParaRPr sz="1800">
              <a:latin typeface="Arial"/>
              <a:cs typeface="Arial"/>
            </a:endParaRPr>
          </a:p>
          <a:p>
            <a:pPr marL="768985" lvl="1" indent="-286385">
              <a:lnSpc>
                <a:spcPct val="100000"/>
              </a:lnSpc>
              <a:spcBef>
                <a:spcPts val="475"/>
              </a:spcBef>
              <a:buChar char="•"/>
              <a:tabLst>
                <a:tab pos="768985" algn="l"/>
              </a:tabLst>
            </a:pPr>
            <a:r>
              <a:rPr sz="2000" dirty="0">
                <a:latin typeface="Arial"/>
                <a:cs typeface="Arial"/>
              </a:rPr>
              <a:t>Ví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dụ</a:t>
            </a:r>
            <a:endParaRPr sz="2000">
              <a:latin typeface="Arial"/>
              <a:cs typeface="Arial"/>
            </a:endParaRPr>
          </a:p>
          <a:p>
            <a:pPr marL="939800">
              <a:lnSpc>
                <a:spcPct val="100000"/>
              </a:lnSpc>
              <a:spcBef>
                <a:spcPts val="440"/>
              </a:spcBef>
              <a:tabLst>
                <a:tab pos="1168400" algn="l"/>
              </a:tabLst>
            </a:pPr>
            <a:r>
              <a:rPr sz="1800" spc="-50" dirty="0">
                <a:latin typeface="Arial"/>
                <a:cs typeface="Arial"/>
              </a:rPr>
              <a:t>-</a:t>
            </a:r>
            <a:r>
              <a:rPr sz="1800" dirty="0">
                <a:latin typeface="Arial"/>
                <a:cs typeface="Arial"/>
              </a:rPr>
              <a:t>	R’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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</a:t>
            </a:r>
            <a:r>
              <a:rPr sz="1800" baseline="-20833" dirty="0">
                <a:latin typeface="Arial"/>
                <a:cs typeface="Arial"/>
              </a:rPr>
              <a:t>A=B</a:t>
            </a:r>
            <a:r>
              <a:rPr sz="1800" spc="-7" baseline="-20833" dirty="0">
                <a:latin typeface="Arial"/>
                <a:cs typeface="Arial"/>
              </a:rPr>
              <a:t> </a:t>
            </a:r>
            <a:r>
              <a:rPr sz="1800" baseline="-20833" dirty="0">
                <a:latin typeface="Symbol"/>
                <a:cs typeface="Symbol"/>
              </a:rPr>
              <a:t></a:t>
            </a:r>
            <a:r>
              <a:rPr sz="1800" spc="37" baseline="-20833" dirty="0">
                <a:latin typeface="Times New Roman"/>
                <a:cs typeface="Times New Roman"/>
              </a:rPr>
              <a:t> </a:t>
            </a:r>
            <a:r>
              <a:rPr sz="1800" spc="-15" baseline="-20833" dirty="0">
                <a:latin typeface="Arial"/>
                <a:cs typeface="Arial"/>
              </a:rPr>
              <a:t>D&gt;5</a:t>
            </a:r>
            <a:r>
              <a:rPr sz="1800" spc="-10" dirty="0">
                <a:latin typeface="Arial"/>
                <a:cs typeface="Arial"/>
              </a:rPr>
              <a:t>(R)</a:t>
            </a:r>
            <a:endParaRPr sz="1800">
              <a:latin typeface="Arial"/>
              <a:cs typeface="Arial"/>
            </a:endParaRPr>
          </a:p>
          <a:p>
            <a:pPr marL="1168400">
              <a:lnSpc>
                <a:spcPct val="100000"/>
              </a:lnSpc>
              <a:spcBef>
                <a:spcPts val="434"/>
              </a:spcBef>
            </a:pPr>
            <a:r>
              <a:rPr sz="1800" spc="-10" dirty="0">
                <a:latin typeface="Symbol"/>
                <a:cs typeface="Symbol"/>
              </a:rPr>
              <a:t></a:t>
            </a:r>
            <a:r>
              <a:rPr sz="1800" spc="-15" baseline="-20833" dirty="0">
                <a:latin typeface="Arial"/>
                <a:cs typeface="Arial"/>
              </a:rPr>
              <a:t>A,C</a:t>
            </a:r>
            <a:r>
              <a:rPr sz="1800" spc="-10" dirty="0">
                <a:latin typeface="Arial"/>
                <a:cs typeface="Arial"/>
              </a:rPr>
              <a:t>(R’)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290F13-14BC-A90D-9AC4-B0C6C37F80F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Phép</a:t>
            </a:r>
            <a:r>
              <a:rPr spc="-45" dirty="0"/>
              <a:t> </a:t>
            </a:r>
            <a:r>
              <a:rPr dirty="0"/>
              <a:t>đổi</a:t>
            </a:r>
            <a:r>
              <a:rPr spc="-45" dirty="0"/>
              <a:t> </a:t>
            </a:r>
            <a:r>
              <a:rPr spc="-25" dirty="0"/>
              <a:t>tên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9240" y="1018920"/>
            <a:ext cx="7146290" cy="50031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93065" indent="-342265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393065" algn="l"/>
              </a:tabLst>
            </a:pPr>
            <a:r>
              <a:rPr sz="2400" dirty="0">
                <a:latin typeface="Arial"/>
                <a:cs typeface="Arial"/>
              </a:rPr>
              <a:t>Để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đổi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tên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tính.</a:t>
            </a:r>
            <a:endParaRPr sz="2400">
              <a:latin typeface="Arial"/>
              <a:cs typeface="Arial"/>
            </a:endParaRPr>
          </a:p>
          <a:p>
            <a:pPr marL="393065" indent="-342265">
              <a:lnSpc>
                <a:spcPct val="100000"/>
              </a:lnSpc>
              <a:spcBef>
                <a:spcPts val="580"/>
              </a:spcBef>
              <a:buFont typeface="Wingdings"/>
              <a:buChar char=""/>
              <a:tabLst>
                <a:tab pos="393065" algn="l"/>
              </a:tabLst>
            </a:pPr>
            <a:r>
              <a:rPr sz="2400" dirty="0">
                <a:latin typeface="Arial"/>
                <a:cs typeface="Arial"/>
              </a:rPr>
              <a:t>Cú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pháp: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R(A</a:t>
            </a:r>
            <a:r>
              <a:rPr sz="2400" baseline="-20833" dirty="0">
                <a:latin typeface="Arial"/>
                <a:cs typeface="Arial"/>
              </a:rPr>
              <a:t>1</a:t>
            </a:r>
            <a:r>
              <a:rPr sz="2400" dirty="0">
                <a:latin typeface="Arial"/>
                <a:cs typeface="Arial"/>
              </a:rPr>
              <a:t>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...,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A</a:t>
            </a:r>
            <a:r>
              <a:rPr sz="2400" spc="-37" baseline="-20833" dirty="0">
                <a:latin typeface="Arial"/>
                <a:cs typeface="Arial"/>
              </a:rPr>
              <a:t>n</a:t>
            </a:r>
            <a:r>
              <a:rPr sz="2400" spc="-25" dirty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 marL="794385" lvl="1" indent="-286385">
              <a:lnSpc>
                <a:spcPct val="100000"/>
              </a:lnSpc>
              <a:spcBef>
                <a:spcPts val="484"/>
              </a:spcBef>
              <a:buChar char="•"/>
              <a:tabLst>
                <a:tab pos="794385" algn="l"/>
              </a:tabLst>
            </a:pPr>
            <a:r>
              <a:rPr sz="2000" dirty="0">
                <a:latin typeface="Arial"/>
                <a:cs typeface="Arial"/>
              </a:rPr>
              <a:t>Đổi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tên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quan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hệ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thành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  <a:p>
            <a:pPr marL="9652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"/>
                <a:cs typeface="Arial"/>
              </a:rPr>
              <a:t>-</a:t>
            </a:r>
            <a:r>
              <a:rPr sz="2400" spc="315" dirty="0">
                <a:latin typeface="Arial"/>
                <a:cs typeface="Arial"/>
              </a:rPr>
              <a:t> </a:t>
            </a:r>
            <a:r>
              <a:rPr sz="2400" spc="-10" dirty="0">
                <a:latin typeface="Symbol"/>
                <a:cs typeface="Symbol"/>
              </a:rPr>
              <a:t></a:t>
            </a:r>
            <a:r>
              <a:rPr sz="2400" spc="-15" baseline="-20833" dirty="0">
                <a:latin typeface="Arial"/>
                <a:cs typeface="Arial"/>
              </a:rPr>
              <a:t>S</a:t>
            </a:r>
            <a:r>
              <a:rPr sz="2400" spc="-10" dirty="0">
                <a:latin typeface="Arial"/>
                <a:cs typeface="Arial"/>
              </a:rPr>
              <a:t>(R).</a:t>
            </a:r>
            <a:endParaRPr sz="2400">
              <a:latin typeface="Arial"/>
              <a:cs typeface="Arial"/>
            </a:endParaRPr>
          </a:p>
          <a:p>
            <a:pPr marL="794385" lvl="1" indent="-286385">
              <a:lnSpc>
                <a:spcPct val="100000"/>
              </a:lnSpc>
              <a:spcBef>
                <a:spcPts val="480"/>
              </a:spcBef>
              <a:buChar char="•"/>
              <a:tabLst>
                <a:tab pos="794385" algn="l"/>
              </a:tabLst>
            </a:pPr>
            <a:r>
              <a:rPr sz="2000" dirty="0">
                <a:latin typeface="Arial"/>
                <a:cs typeface="Arial"/>
              </a:rPr>
              <a:t>Đổi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tên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quan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hệ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thành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1950" baseline="-21367" dirty="0">
                <a:latin typeface="Arial"/>
                <a:cs typeface="Arial"/>
              </a:rPr>
              <a:t>i</a:t>
            </a:r>
            <a:r>
              <a:rPr sz="1950" spc="284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thành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B</a:t>
            </a:r>
            <a:r>
              <a:rPr sz="1950" spc="-37" baseline="-21367" dirty="0">
                <a:latin typeface="Arial"/>
                <a:cs typeface="Arial"/>
              </a:rPr>
              <a:t>i</a:t>
            </a:r>
            <a:endParaRPr sz="1950" baseline="-21367">
              <a:latin typeface="Arial"/>
              <a:cs typeface="Arial"/>
            </a:endParaRPr>
          </a:p>
          <a:p>
            <a:pPr marL="965200">
              <a:lnSpc>
                <a:spcPts val="2830"/>
              </a:lnSpc>
              <a:spcBef>
                <a:spcPts val="1165"/>
              </a:spcBef>
            </a:pPr>
            <a:r>
              <a:rPr sz="3600" baseline="13888" dirty="0">
                <a:latin typeface="Arial"/>
                <a:cs typeface="Arial"/>
              </a:rPr>
              <a:t>-</a:t>
            </a:r>
            <a:r>
              <a:rPr sz="3600" spc="427" baseline="13888" dirty="0">
                <a:latin typeface="Arial"/>
                <a:cs typeface="Arial"/>
              </a:rPr>
              <a:t> </a:t>
            </a:r>
            <a:r>
              <a:rPr sz="3600" baseline="13888" dirty="0">
                <a:latin typeface="Symbol"/>
                <a:cs typeface="Symbol"/>
              </a:rPr>
              <a:t></a:t>
            </a:r>
            <a:r>
              <a:rPr sz="1600" dirty="0">
                <a:latin typeface="Arial"/>
                <a:cs typeface="Arial"/>
              </a:rPr>
              <a:t>S(B1,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B2,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..., </a:t>
            </a:r>
            <a:r>
              <a:rPr sz="1600" spc="-10" dirty="0">
                <a:latin typeface="Arial"/>
                <a:cs typeface="Arial"/>
              </a:rPr>
              <a:t>Bn)</a:t>
            </a:r>
            <a:r>
              <a:rPr sz="3600" spc="-15" baseline="13888" dirty="0">
                <a:latin typeface="Arial"/>
                <a:cs typeface="Arial"/>
              </a:rPr>
              <a:t>(R).</a:t>
            </a:r>
            <a:endParaRPr sz="3600" baseline="13888">
              <a:latin typeface="Arial"/>
              <a:cs typeface="Arial"/>
            </a:endParaRPr>
          </a:p>
          <a:p>
            <a:pPr marL="794385" lvl="1" indent="-286385">
              <a:lnSpc>
                <a:spcPts val="2350"/>
              </a:lnSpc>
              <a:buChar char="•"/>
              <a:tabLst>
                <a:tab pos="794385" algn="l"/>
              </a:tabLst>
            </a:pPr>
            <a:r>
              <a:rPr sz="2000" dirty="0">
                <a:latin typeface="Arial"/>
                <a:cs typeface="Arial"/>
              </a:rPr>
              <a:t>Đổi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tên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1950" baseline="-21367" dirty="0">
                <a:latin typeface="Arial"/>
                <a:cs typeface="Arial"/>
              </a:rPr>
              <a:t>i</a:t>
            </a:r>
            <a:r>
              <a:rPr sz="1950" spc="292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thành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B</a:t>
            </a:r>
            <a:r>
              <a:rPr sz="1950" spc="-37" baseline="-21367" dirty="0">
                <a:latin typeface="Arial"/>
                <a:cs typeface="Arial"/>
              </a:rPr>
              <a:t>i</a:t>
            </a:r>
            <a:endParaRPr sz="1950" baseline="-21367">
              <a:latin typeface="Arial"/>
              <a:cs typeface="Arial"/>
            </a:endParaRPr>
          </a:p>
          <a:p>
            <a:pPr marL="965200">
              <a:lnSpc>
                <a:spcPts val="2830"/>
              </a:lnSpc>
              <a:spcBef>
                <a:spcPts val="1160"/>
              </a:spcBef>
            </a:pPr>
            <a:r>
              <a:rPr sz="3600" baseline="13888" dirty="0">
                <a:latin typeface="Arial"/>
                <a:cs typeface="Arial"/>
              </a:rPr>
              <a:t>-</a:t>
            </a:r>
            <a:r>
              <a:rPr sz="3600" spc="434" baseline="13888" dirty="0">
                <a:latin typeface="Arial"/>
                <a:cs typeface="Arial"/>
              </a:rPr>
              <a:t> </a:t>
            </a:r>
            <a:r>
              <a:rPr sz="3600" baseline="13888" dirty="0">
                <a:latin typeface="Symbol"/>
                <a:cs typeface="Symbol"/>
              </a:rPr>
              <a:t></a:t>
            </a:r>
            <a:r>
              <a:rPr sz="1600" dirty="0">
                <a:latin typeface="Arial"/>
                <a:cs typeface="Arial"/>
              </a:rPr>
              <a:t>(B1,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B2,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...,</a:t>
            </a:r>
            <a:r>
              <a:rPr sz="1600" spc="15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Bn)</a:t>
            </a:r>
            <a:r>
              <a:rPr sz="3600" spc="-15" baseline="13888" dirty="0">
                <a:latin typeface="Arial"/>
                <a:cs typeface="Arial"/>
              </a:rPr>
              <a:t>(R).</a:t>
            </a:r>
            <a:endParaRPr sz="3600" baseline="13888">
              <a:latin typeface="Arial"/>
              <a:cs typeface="Arial"/>
            </a:endParaRPr>
          </a:p>
          <a:p>
            <a:pPr marL="794385" lvl="1" indent="-286385">
              <a:lnSpc>
                <a:spcPts val="2350"/>
              </a:lnSpc>
              <a:buChar char="•"/>
              <a:tabLst>
                <a:tab pos="794385" algn="l"/>
              </a:tabLst>
            </a:pPr>
            <a:r>
              <a:rPr sz="2000" dirty="0">
                <a:latin typeface="Arial"/>
                <a:cs typeface="Arial"/>
              </a:rPr>
              <a:t>Đổi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tên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quan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hệ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thành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1950" spc="270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thành</a:t>
            </a:r>
            <a:r>
              <a:rPr sz="2000" spc="-25" dirty="0">
                <a:latin typeface="Arial"/>
                <a:cs typeface="Arial"/>
              </a:rPr>
              <a:t> B</a:t>
            </a:r>
            <a:r>
              <a:rPr sz="1950" spc="-37" baseline="-21367" dirty="0">
                <a:latin typeface="Arial"/>
                <a:cs typeface="Arial"/>
              </a:rPr>
              <a:t>1</a:t>
            </a:r>
            <a:endParaRPr sz="1950" baseline="-21367">
              <a:latin typeface="Arial"/>
              <a:cs typeface="Arial"/>
            </a:endParaRPr>
          </a:p>
          <a:p>
            <a:pPr marL="965200">
              <a:lnSpc>
                <a:spcPts val="2830"/>
              </a:lnSpc>
              <a:spcBef>
                <a:spcPts val="1160"/>
              </a:spcBef>
            </a:pPr>
            <a:r>
              <a:rPr sz="3600" baseline="13888" dirty="0">
                <a:latin typeface="Arial"/>
                <a:cs typeface="Arial"/>
              </a:rPr>
              <a:t>-</a:t>
            </a:r>
            <a:r>
              <a:rPr sz="3600" spc="419" baseline="13888" dirty="0">
                <a:latin typeface="Arial"/>
                <a:cs typeface="Arial"/>
              </a:rPr>
              <a:t> </a:t>
            </a:r>
            <a:r>
              <a:rPr sz="3600" baseline="13888" dirty="0">
                <a:latin typeface="Symbol"/>
                <a:cs typeface="Symbol"/>
              </a:rPr>
              <a:t></a:t>
            </a:r>
            <a:r>
              <a:rPr sz="1600" dirty="0">
                <a:latin typeface="Arial"/>
                <a:cs typeface="Arial"/>
              </a:rPr>
              <a:t>S(B1,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A2,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A3,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...,</a:t>
            </a:r>
            <a:r>
              <a:rPr sz="1600" spc="1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An)</a:t>
            </a:r>
            <a:r>
              <a:rPr sz="3600" spc="-15" baseline="13888" dirty="0">
                <a:latin typeface="Arial"/>
                <a:cs typeface="Arial"/>
              </a:rPr>
              <a:t>(R).</a:t>
            </a:r>
            <a:endParaRPr sz="3600" baseline="13888">
              <a:latin typeface="Arial"/>
              <a:cs typeface="Arial"/>
            </a:endParaRPr>
          </a:p>
          <a:p>
            <a:pPr marL="794385" lvl="1" indent="-286385">
              <a:lnSpc>
                <a:spcPts val="2350"/>
              </a:lnSpc>
              <a:buChar char="•"/>
              <a:tabLst>
                <a:tab pos="794385" algn="l"/>
              </a:tabLst>
            </a:pPr>
            <a:r>
              <a:rPr sz="2000" dirty="0">
                <a:latin typeface="Arial"/>
                <a:cs typeface="Arial"/>
              </a:rPr>
              <a:t>Đổi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tên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1950" spc="270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thành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B</a:t>
            </a:r>
            <a:r>
              <a:rPr sz="1950" spc="-37" baseline="-21367" dirty="0">
                <a:latin typeface="Arial"/>
                <a:cs typeface="Arial"/>
              </a:rPr>
              <a:t>1</a:t>
            </a:r>
            <a:endParaRPr sz="1950" baseline="-21367">
              <a:latin typeface="Arial"/>
              <a:cs typeface="Arial"/>
            </a:endParaRPr>
          </a:p>
          <a:p>
            <a:pPr marL="965200">
              <a:lnSpc>
                <a:spcPct val="100000"/>
              </a:lnSpc>
              <a:spcBef>
                <a:spcPts val="1165"/>
              </a:spcBef>
            </a:pPr>
            <a:r>
              <a:rPr sz="3600" baseline="13888" dirty="0">
                <a:latin typeface="Arial"/>
                <a:cs typeface="Arial"/>
              </a:rPr>
              <a:t>-</a:t>
            </a:r>
            <a:r>
              <a:rPr sz="3600" spc="427" baseline="13888" dirty="0">
                <a:latin typeface="Arial"/>
                <a:cs typeface="Arial"/>
              </a:rPr>
              <a:t> </a:t>
            </a:r>
            <a:r>
              <a:rPr sz="3600" baseline="13888" dirty="0">
                <a:latin typeface="Symbol"/>
                <a:cs typeface="Symbol"/>
              </a:rPr>
              <a:t></a:t>
            </a:r>
            <a:r>
              <a:rPr sz="1600" dirty="0">
                <a:latin typeface="Arial"/>
                <a:cs typeface="Arial"/>
              </a:rPr>
              <a:t>(B1,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A2,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A3,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..., </a:t>
            </a:r>
            <a:r>
              <a:rPr sz="1600" spc="-10" dirty="0">
                <a:latin typeface="Arial"/>
                <a:cs typeface="Arial"/>
              </a:rPr>
              <a:t>An)</a:t>
            </a:r>
            <a:r>
              <a:rPr sz="3600" spc="-15" baseline="13888" dirty="0">
                <a:latin typeface="Arial"/>
                <a:cs typeface="Arial"/>
              </a:rPr>
              <a:t>(R).</a:t>
            </a:r>
            <a:endParaRPr sz="3600" baseline="13888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51E48-7D5F-C8F3-2ADE-8CD260753B1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Một</a:t>
            </a:r>
            <a:r>
              <a:rPr spc="-45" dirty="0"/>
              <a:t> </a:t>
            </a:r>
            <a:r>
              <a:rPr dirty="0"/>
              <a:t>số</a:t>
            </a:r>
            <a:r>
              <a:rPr spc="-50" dirty="0"/>
              <a:t> </a:t>
            </a:r>
            <a:r>
              <a:rPr dirty="0"/>
              <a:t>ví</a:t>
            </a:r>
            <a:r>
              <a:rPr spc="-45" dirty="0"/>
              <a:t> </a:t>
            </a:r>
            <a:r>
              <a:rPr spc="-25" dirty="0"/>
              <a:t>dụ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3840" y="1020178"/>
            <a:ext cx="8549640" cy="464629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418465" indent="-342265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418465" algn="l"/>
              </a:tabLst>
            </a:pPr>
            <a:r>
              <a:rPr sz="2400" dirty="0">
                <a:latin typeface="Arial"/>
                <a:cs typeface="Arial"/>
              </a:rPr>
              <a:t>Tìm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viên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việc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phòng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4.</a:t>
            </a:r>
            <a:endParaRPr sz="2400">
              <a:latin typeface="Arial"/>
              <a:cs typeface="Arial"/>
            </a:endParaRPr>
          </a:p>
          <a:p>
            <a:pPr marL="819785" lvl="1" indent="-286385">
              <a:lnSpc>
                <a:spcPct val="100000"/>
              </a:lnSpc>
              <a:spcBef>
                <a:spcPts val="655"/>
              </a:spcBef>
              <a:buFont typeface="Arial"/>
              <a:buChar char="•"/>
              <a:tabLst>
                <a:tab pos="819785" algn="l"/>
              </a:tabLst>
            </a:pPr>
            <a:r>
              <a:rPr sz="2800" dirty="0">
                <a:latin typeface="Symbol"/>
                <a:cs typeface="Symbol"/>
              </a:rPr>
              <a:t></a:t>
            </a:r>
            <a:r>
              <a:rPr sz="2775" baseline="-21021" dirty="0">
                <a:latin typeface="Arial"/>
                <a:cs typeface="Arial"/>
              </a:rPr>
              <a:t>MaPB =</a:t>
            </a:r>
            <a:r>
              <a:rPr sz="2775" spc="37" baseline="-21021" dirty="0">
                <a:latin typeface="Arial"/>
                <a:cs typeface="Arial"/>
              </a:rPr>
              <a:t> </a:t>
            </a:r>
            <a:r>
              <a:rPr sz="2775" spc="-15" baseline="-21021" dirty="0">
                <a:latin typeface="Arial"/>
                <a:cs typeface="Arial"/>
              </a:rPr>
              <a:t>4</a:t>
            </a:r>
            <a:r>
              <a:rPr sz="2800" spc="-10" dirty="0">
                <a:latin typeface="Arial"/>
                <a:cs typeface="Arial"/>
              </a:rPr>
              <a:t>(NHANVIEN)</a:t>
            </a:r>
            <a:endParaRPr sz="2800">
              <a:latin typeface="Arial"/>
              <a:cs typeface="Arial"/>
            </a:endParaRPr>
          </a:p>
          <a:p>
            <a:pPr marL="419100" marR="549275" indent="-342900">
              <a:lnSpc>
                <a:spcPct val="100000"/>
              </a:lnSpc>
              <a:spcBef>
                <a:spcPts val="595"/>
              </a:spcBef>
              <a:buFont typeface="Wingdings"/>
              <a:buChar char=""/>
              <a:tabLst>
                <a:tab pos="419100" algn="l"/>
              </a:tabLst>
            </a:pPr>
            <a:r>
              <a:rPr sz="2400" dirty="0">
                <a:latin typeface="Arial"/>
                <a:cs typeface="Arial"/>
              </a:rPr>
              <a:t>Tìm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viên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làm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việc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phòng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4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mức </a:t>
            </a:r>
            <a:r>
              <a:rPr sz="2400" dirty="0">
                <a:latin typeface="Arial"/>
                <a:cs typeface="Arial"/>
              </a:rPr>
              <a:t>lương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từ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25.000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đến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40.000.</a:t>
            </a:r>
            <a:endParaRPr sz="2400">
              <a:latin typeface="Arial"/>
              <a:cs typeface="Arial"/>
            </a:endParaRPr>
          </a:p>
          <a:p>
            <a:pPr marL="819785" lvl="1" indent="-286385">
              <a:lnSpc>
                <a:spcPts val="3315"/>
              </a:lnSpc>
              <a:spcBef>
                <a:spcPts val="1340"/>
              </a:spcBef>
              <a:buFont typeface="Arial"/>
              <a:buChar char="•"/>
              <a:tabLst>
                <a:tab pos="819785" algn="l"/>
              </a:tabLst>
            </a:pPr>
            <a:r>
              <a:rPr sz="4200" baseline="13888" dirty="0">
                <a:latin typeface="Symbol"/>
                <a:cs typeface="Symbol"/>
              </a:rPr>
              <a:t></a:t>
            </a:r>
            <a:r>
              <a:rPr sz="1850" dirty="0">
                <a:latin typeface="Arial"/>
                <a:cs typeface="Arial"/>
              </a:rPr>
              <a:t>MaPB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=</a:t>
            </a:r>
            <a:r>
              <a:rPr sz="1850" spc="2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4</a:t>
            </a:r>
            <a:r>
              <a:rPr sz="1850" spc="15" dirty="0">
                <a:latin typeface="Arial"/>
                <a:cs typeface="Arial"/>
              </a:rPr>
              <a:t> </a:t>
            </a:r>
            <a:r>
              <a:rPr sz="1850" dirty="0">
                <a:latin typeface="Symbol"/>
                <a:cs typeface="Symbol"/>
              </a:rPr>
              <a:t>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Arial"/>
                <a:cs typeface="Arial"/>
              </a:rPr>
              <a:t>Luong</a:t>
            </a:r>
            <a:r>
              <a:rPr sz="1850" spc="-5" dirty="0">
                <a:latin typeface="Arial"/>
                <a:cs typeface="Arial"/>
              </a:rPr>
              <a:t> </a:t>
            </a:r>
            <a:r>
              <a:rPr sz="1850" dirty="0">
                <a:latin typeface="Symbol"/>
                <a:cs typeface="Symbol"/>
              </a:rPr>
              <a:t>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Arial"/>
                <a:cs typeface="Arial"/>
              </a:rPr>
              <a:t>25.000</a:t>
            </a:r>
            <a:r>
              <a:rPr sz="1850" spc="-5" dirty="0">
                <a:latin typeface="Arial"/>
                <a:cs typeface="Arial"/>
              </a:rPr>
              <a:t> </a:t>
            </a:r>
            <a:r>
              <a:rPr sz="1850" dirty="0">
                <a:latin typeface="Symbol"/>
                <a:cs typeface="Symbol"/>
              </a:rPr>
              <a:t>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Arial"/>
                <a:cs typeface="Arial"/>
              </a:rPr>
              <a:t>Luong</a:t>
            </a:r>
            <a:r>
              <a:rPr sz="1850" spc="-5" dirty="0">
                <a:latin typeface="Arial"/>
                <a:cs typeface="Arial"/>
              </a:rPr>
              <a:t> </a:t>
            </a:r>
            <a:r>
              <a:rPr sz="1850" dirty="0">
                <a:latin typeface="Symbol"/>
                <a:cs typeface="Symbol"/>
              </a:rPr>
              <a:t>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Arial"/>
                <a:cs typeface="Arial"/>
              </a:rPr>
              <a:t>40.000</a:t>
            </a:r>
            <a:r>
              <a:rPr sz="4200" spc="-15" baseline="13888" dirty="0">
                <a:latin typeface="Arial"/>
                <a:cs typeface="Arial"/>
              </a:rPr>
              <a:t>(NHANVIEN)</a:t>
            </a:r>
            <a:endParaRPr sz="4200" baseline="13888">
              <a:latin typeface="Arial"/>
              <a:cs typeface="Arial"/>
            </a:endParaRPr>
          </a:p>
          <a:p>
            <a:pPr marL="418465" indent="-342265">
              <a:lnSpc>
                <a:spcPts val="2835"/>
              </a:lnSpc>
              <a:buFont typeface="Wingdings"/>
              <a:buChar char=""/>
              <a:tabLst>
                <a:tab pos="418465" algn="l"/>
              </a:tabLst>
            </a:pPr>
            <a:r>
              <a:rPr sz="2400" dirty="0">
                <a:latin typeface="Arial"/>
                <a:cs typeface="Arial"/>
              </a:rPr>
              <a:t>Cho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biết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họ,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tên,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giới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mức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lương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viên.</a:t>
            </a:r>
            <a:endParaRPr sz="2400">
              <a:latin typeface="Arial"/>
              <a:cs typeface="Arial"/>
            </a:endParaRPr>
          </a:p>
          <a:p>
            <a:pPr marL="819785" lvl="1" indent="-286385">
              <a:lnSpc>
                <a:spcPts val="3315"/>
              </a:lnSpc>
              <a:spcBef>
                <a:spcPts val="1340"/>
              </a:spcBef>
              <a:buFont typeface="Arial"/>
              <a:buChar char="•"/>
              <a:tabLst>
                <a:tab pos="819785" algn="l"/>
              </a:tabLst>
            </a:pPr>
            <a:r>
              <a:rPr sz="4200" baseline="13888" dirty="0">
                <a:latin typeface="Symbol"/>
                <a:cs typeface="Symbol"/>
              </a:rPr>
              <a:t></a:t>
            </a:r>
            <a:r>
              <a:rPr sz="1850" dirty="0">
                <a:latin typeface="Arial"/>
                <a:cs typeface="Arial"/>
              </a:rPr>
              <a:t>Ho,</a:t>
            </a:r>
            <a:r>
              <a:rPr sz="1850" spc="1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Ten,</a:t>
            </a:r>
            <a:r>
              <a:rPr sz="1850" spc="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Gtinh,</a:t>
            </a:r>
            <a:r>
              <a:rPr sz="1850" spc="-20" dirty="0">
                <a:latin typeface="Arial"/>
                <a:cs typeface="Arial"/>
              </a:rPr>
              <a:t> </a:t>
            </a:r>
            <a:r>
              <a:rPr sz="1850" spc="-10" dirty="0">
                <a:latin typeface="Arial"/>
                <a:cs typeface="Arial"/>
              </a:rPr>
              <a:t>Luong</a:t>
            </a:r>
            <a:r>
              <a:rPr sz="4200" spc="-15" baseline="13888" dirty="0">
                <a:latin typeface="Arial"/>
                <a:cs typeface="Arial"/>
              </a:rPr>
              <a:t>(NHANVIEN)</a:t>
            </a:r>
            <a:endParaRPr sz="4200" baseline="13888">
              <a:latin typeface="Arial"/>
              <a:cs typeface="Arial"/>
            </a:endParaRPr>
          </a:p>
          <a:p>
            <a:pPr marL="419100" marR="165735" indent="-342900">
              <a:lnSpc>
                <a:spcPts val="2880"/>
              </a:lnSpc>
              <a:spcBef>
                <a:spcPts val="50"/>
              </a:spcBef>
              <a:buFont typeface="Wingdings"/>
              <a:buChar char=""/>
              <a:tabLst>
                <a:tab pos="419100" algn="l"/>
              </a:tabLst>
            </a:pPr>
            <a:r>
              <a:rPr sz="2400" dirty="0">
                <a:latin typeface="Arial"/>
                <a:cs typeface="Arial"/>
              </a:rPr>
              <a:t>Cho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biết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họ,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tên,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giới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mức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lương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viên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phòng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5.</a:t>
            </a:r>
            <a:endParaRPr sz="2400">
              <a:latin typeface="Arial"/>
              <a:cs typeface="Arial"/>
            </a:endParaRPr>
          </a:p>
          <a:p>
            <a:pPr marL="819785" lvl="1" indent="-286385">
              <a:lnSpc>
                <a:spcPct val="100000"/>
              </a:lnSpc>
              <a:spcBef>
                <a:spcPts val="1250"/>
              </a:spcBef>
              <a:buFont typeface="Arial"/>
              <a:buChar char="•"/>
              <a:tabLst>
                <a:tab pos="819785" algn="l"/>
              </a:tabLst>
            </a:pPr>
            <a:r>
              <a:rPr sz="4200" baseline="13888" dirty="0">
                <a:latin typeface="Symbol"/>
                <a:cs typeface="Symbol"/>
              </a:rPr>
              <a:t></a:t>
            </a:r>
            <a:r>
              <a:rPr sz="1850" dirty="0">
                <a:latin typeface="Arial"/>
                <a:cs typeface="Arial"/>
              </a:rPr>
              <a:t>Ho,</a:t>
            </a:r>
            <a:r>
              <a:rPr sz="1850" spc="1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Ten,</a:t>
            </a:r>
            <a:r>
              <a:rPr sz="1850" spc="20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Gtinh,</a:t>
            </a:r>
            <a:r>
              <a:rPr sz="1850" spc="-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Luong</a:t>
            </a:r>
            <a:r>
              <a:rPr sz="4200" baseline="13888" dirty="0">
                <a:latin typeface="Arial"/>
                <a:cs typeface="Arial"/>
              </a:rPr>
              <a:t>(</a:t>
            </a:r>
            <a:r>
              <a:rPr sz="4200" baseline="13888" dirty="0">
                <a:latin typeface="Symbol"/>
                <a:cs typeface="Symbol"/>
              </a:rPr>
              <a:t></a:t>
            </a:r>
            <a:r>
              <a:rPr sz="1850" dirty="0">
                <a:latin typeface="Arial"/>
                <a:cs typeface="Arial"/>
              </a:rPr>
              <a:t>MaPB</a:t>
            </a:r>
            <a:r>
              <a:rPr sz="1850" spc="-5" dirty="0">
                <a:latin typeface="Arial"/>
                <a:cs typeface="Arial"/>
              </a:rPr>
              <a:t> </a:t>
            </a:r>
            <a:r>
              <a:rPr sz="1850" dirty="0">
                <a:latin typeface="Arial"/>
                <a:cs typeface="Arial"/>
              </a:rPr>
              <a:t>=</a:t>
            </a:r>
            <a:r>
              <a:rPr sz="1850" spc="20" dirty="0">
                <a:latin typeface="Arial"/>
                <a:cs typeface="Arial"/>
              </a:rPr>
              <a:t> </a:t>
            </a:r>
            <a:r>
              <a:rPr sz="1850" spc="-10" dirty="0">
                <a:latin typeface="Arial"/>
                <a:cs typeface="Arial"/>
              </a:rPr>
              <a:t>5(</a:t>
            </a:r>
            <a:r>
              <a:rPr sz="4200" spc="-15" baseline="13888" dirty="0">
                <a:latin typeface="Arial"/>
                <a:cs typeface="Arial"/>
              </a:rPr>
              <a:t>NHANVIEN))</a:t>
            </a:r>
            <a:endParaRPr sz="4200" baseline="13888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5CB00-13D5-91A3-B876-69EECAB85C0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Phép</a:t>
            </a:r>
            <a:r>
              <a:rPr spc="-50" dirty="0"/>
              <a:t> </a:t>
            </a:r>
            <a:r>
              <a:rPr dirty="0"/>
              <a:t>toán</a:t>
            </a:r>
            <a:r>
              <a:rPr spc="-50" dirty="0"/>
              <a:t> </a:t>
            </a:r>
            <a:r>
              <a:rPr dirty="0"/>
              <a:t>2</a:t>
            </a:r>
            <a:r>
              <a:rPr spc="-40" dirty="0"/>
              <a:t> </a:t>
            </a:r>
            <a:r>
              <a:rPr spc="-20" dirty="0"/>
              <a:t>ngôi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990258"/>
            <a:ext cx="8148320" cy="485965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9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Arial"/>
                <a:cs typeface="Arial"/>
              </a:rPr>
              <a:t>Là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các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phép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toán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tác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động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lên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hai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quan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hệ.</a:t>
            </a:r>
            <a:endParaRPr sz="3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Arial"/>
                <a:cs typeface="Arial"/>
              </a:rPr>
              <a:t>Gồm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2 </a:t>
            </a:r>
            <a:r>
              <a:rPr sz="3200" spc="-20" dirty="0">
                <a:latin typeface="Arial"/>
                <a:cs typeface="Arial"/>
              </a:rPr>
              <a:t>loại</a:t>
            </a:r>
            <a:endParaRPr sz="32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90"/>
              </a:spcBef>
              <a:buChar char="•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Phép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toán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tập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hợp</a:t>
            </a:r>
            <a:endParaRPr sz="2800">
              <a:latin typeface="Arial"/>
              <a:cs typeface="Arial"/>
            </a:endParaRPr>
          </a:p>
          <a:p>
            <a:pPr marL="1153795" lvl="2" indent="-226695">
              <a:lnSpc>
                <a:spcPct val="100000"/>
              </a:lnSpc>
              <a:spcBef>
                <a:spcPts val="595"/>
              </a:spcBef>
              <a:buChar char="-"/>
              <a:tabLst>
                <a:tab pos="1153795" algn="l"/>
              </a:tabLst>
            </a:pPr>
            <a:r>
              <a:rPr sz="2400" dirty="0">
                <a:latin typeface="Arial"/>
                <a:cs typeface="Arial"/>
              </a:rPr>
              <a:t>Phép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hội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(Union).</a:t>
            </a:r>
            <a:endParaRPr sz="2400">
              <a:latin typeface="Arial"/>
              <a:cs typeface="Arial"/>
            </a:endParaRPr>
          </a:p>
          <a:p>
            <a:pPr marL="1153795" lvl="2" indent="-226695">
              <a:lnSpc>
                <a:spcPct val="100000"/>
              </a:lnSpc>
              <a:spcBef>
                <a:spcPts val="575"/>
              </a:spcBef>
              <a:buChar char="-"/>
              <a:tabLst>
                <a:tab pos="1153795" algn="l"/>
              </a:tabLst>
            </a:pPr>
            <a:r>
              <a:rPr sz="2400" dirty="0">
                <a:latin typeface="Arial"/>
                <a:cs typeface="Arial"/>
              </a:rPr>
              <a:t>Phép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giao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(Intersection).</a:t>
            </a:r>
            <a:endParaRPr sz="2400">
              <a:latin typeface="Arial"/>
              <a:cs typeface="Arial"/>
            </a:endParaRPr>
          </a:p>
          <a:p>
            <a:pPr marL="1153795" lvl="2" indent="-226695">
              <a:lnSpc>
                <a:spcPct val="100000"/>
              </a:lnSpc>
              <a:spcBef>
                <a:spcPts val="575"/>
              </a:spcBef>
              <a:buChar char="-"/>
              <a:tabLst>
                <a:tab pos="1153795" algn="l"/>
              </a:tabLst>
            </a:pPr>
            <a:r>
              <a:rPr sz="2400" dirty="0">
                <a:latin typeface="Arial"/>
                <a:cs typeface="Arial"/>
              </a:rPr>
              <a:t>Phép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hiệu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(Mimus).</a:t>
            </a:r>
            <a:endParaRPr sz="2400">
              <a:latin typeface="Arial"/>
              <a:cs typeface="Arial"/>
            </a:endParaRPr>
          </a:p>
          <a:p>
            <a:pPr marL="1153795" lvl="2" indent="-226695">
              <a:lnSpc>
                <a:spcPct val="100000"/>
              </a:lnSpc>
              <a:spcBef>
                <a:spcPts val="580"/>
              </a:spcBef>
              <a:buChar char="-"/>
              <a:tabLst>
                <a:tab pos="1153795" algn="l"/>
              </a:tabLst>
            </a:pPr>
            <a:r>
              <a:rPr sz="2400" dirty="0">
                <a:latin typeface="Arial"/>
                <a:cs typeface="Arial"/>
              </a:rPr>
              <a:t>Phép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tích</a:t>
            </a:r>
            <a:r>
              <a:rPr sz="2400" spc="-7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Cartesian.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55"/>
              </a:spcBef>
              <a:buChar char="•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Phép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toán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phi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tập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hợp</a:t>
            </a:r>
            <a:endParaRPr sz="2800">
              <a:latin typeface="Arial"/>
              <a:cs typeface="Arial"/>
            </a:endParaRPr>
          </a:p>
          <a:p>
            <a:pPr marL="1154430" lvl="2" indent="-227329">
              <a:lnSpc>
                <a:spcPct val="100000"/>
              </a:lnSpc>
              <a:spcBef>
                <a:spcPts val="595"/>
              </a:spcBef>
              <a:buChar char="-"/>
              <a:tabLst>
                <a:tab pos="1154430" algn="l"/>
              </a:tabLst>
            </a:pPr>
            <a:r>
              <a:rPr sz="2400" dirty="0">
                <a:latin typeface="Arial"/>
                <a:cs typeface="Arial"/>
              </a:rPr>
              <a:t>Phép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(Join).</a:t>
            </a:r>
            <a:endParaRPr sz="2400">
              <a:latin typeface="Arial"/>
              <a:cs typeface="Arial"/>
            </a:endParaRPr>
          </a:p>
          <a:p>
            <a:pPr marL="1153795" lvl="2" indent="-226695">
              <a:lnSpc>
                <a:spcPct val="100000"/>
              </a:lnSpc>
              <a:spcBef>
                <a:spcPts val="575"/>
              </a:spcBef>
              <a:buChar char="-"/>
              <a:tabLst>
                <a:tab pos="1153795" algn="l"/>
              </a:tabLst>
            </a:pPr>
            <a:r>
              <a:rPr sz="2400" dirty="0">
                <a:latin typeface="Arial"/>
                <a:cs typeface="Arial"/>
              </a:rPr>
              <a:t>Phép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chia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(Division).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F813A-C52F-E4BD-527C-681CC738E9B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Phép</a:t>
            </a:r>
            <a:r>
              <a:rPr spc="-65" dirty="0"/>
              <a:t> </a:t>
            </a:r>
            <a:r>
              <a:rPr dirty="0"/>
              <a:t>toán</a:t>
            </a:r>
            <a:r>
              <a:rPr spc="-65" dirty="0"/>
              <a:t> </a:t>
            </a:r>
            <a:r>
              <a:rPr dirty="0"/>
              <a:t>tập</a:t>
            </a:r>
            <a:r>
              <a:rPr spc="-65" dirty="0"/>
              <a:t> </a:t>
            </a:r>
            <a:r>
              <a:rPr dirty="0"/>
              <a:t>hợp</a:t>
            </a:r>
            <a:r>
              <a:rPr spc="-65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1940" y="1087577"/>
            <a:ext cx="8401050" cy="3101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0" marR="121920" indent="-34290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381000" algn="l"/>
              </a:tabLst>
            </a:pPr>
            <a:r>
              <a:rPr sz="3200" dirty="0">
                <a:latin typeface="Arial"/>
                <a:cs typeface="Arial"/>
              </a:rPr>
              <a:t>Chỉ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được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sử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dụng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khi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hai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quan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hệ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được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tác </a:t>
            </a:r>
            <a:r>
              <a:rPr sz="3200" dirty="0">
                <a:latin typeface="Arial"/>
                <a:cs typeface="Arial"/>
              </a:rPr>
              <a:t>động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là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khả</a:t>
            </a:r>
            <a:r>
              <a:rPr sz="3200" i="1" spc="-30" dirty="0">
                <a:latin typeface="Arial"/>
                <a:cs typeface="Arial"/>
              </a:rPr>
              <a:t> </a:t>
            </a:r>
            <a:r>
              <a:rPr sz="3200" i="1" spc="-20" dirty="0">
                <a:latin typeface="Arial"/>
                <a:cs typeface="Arial"/>
              </a:rPr>
              <a:t>hợp</a:t>
            </a:r>
            <a:r>
              <a:rPr sz="3200" spc="-20" dirty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  <a:p>
            <a:pPr marL="381000" marR="30480" indent="-342900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381000" algn="l"/>
              </a:tabLst>
            </a:pPr>
            <a:r>
              <a:rPr sz="3200" dirty="0">
                <a:latin typeface="Arial"/>
                <a:cs typeface="Arial"/>
              </a:rPr>
              <a:t>Hai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quan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hệ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R(A</a:t>
            </a:r>
            <a:r>
              <a:rPr sz="3150" baseline="-21164" dirty="0">
                <a:latin typeface="Arial"/>
                <a:cs typeface="Arial"/>
              </a:rPr>
              <a:t>1</a:t>
            </a:r>
            <a:r>
              <a:rPr sz="3200" dirty="0">
                <a:latin typeface="Arial"/>
                <a:cs typeface="Arial"/>
              </a:rPr>
              <a:t>,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...,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</a:t>
            </a:r>
            <a:r>
              <a:rPr sz="3150" baseline="-21164" dirty="0">
                <a:latin typeface="Arial"/>
                <a:cs typeface="Arial"/>
              </a:rPr>
              <a:t>n</a:t>
            </a:r>
            <a:r>
              <a:rPr sz="3200" dirty="0">
                <a:latin typeface="Arial"/>
                <a:cs typeface="Arial"/>
              </a:rPr>
              <a:t>)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và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S(B</a:t>
            </a:r>
            <a:r>
              <a:rPr sz="3150" baseline="-21164" dirty="0">
                <a:latin typeface="Arial"/>
                <a:cs typeface="Arial"/>
              </a:rPr>
              <a:t>1</a:t>
            </a:r>
            <a:r>
              <a:rPr sz="3200" dirty="0">
                <a:latin typeface="Arial"/>
                <a:cs typeface="Arial"/>
              </a:rPr>
              <a:t>,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...,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B</a:t>
            </a:r>
            <a:r>
              <a:rPr sz="3150" baseline="-21164" dirty="0">
                <a:latin typeface="Arial"/>
                <a:cs typeface="Arial"/>
              </a:rPr>
              <a:t>n</a:t>
            </a:r>
            <a:r>
              <a:rPr sz="3200" dirty="0">
                <a:latin typeface="Arial"/>
                <a:cs typeface="Arial"/>
              </a:rPr>
              <a:t>)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gọi </a:t>
            </a:r>
            <a:r>
              <a:rPr sz="3200" dirty="0">
                <a:latin typeface="Arial"/>
                <a:cs typeface="Arial"/>
              </a:rPr>
              <a:t>là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khả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hợp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spc="-25" dirty="0">
                <a:latin typeface="Arial"/>
                <a:cs typeface="Arial"/>
              </a:rPr>
              <a:t>nếu</a:t>
            </a:r>
            <a:endParaRPr sz="3200">
              <a:latin typeface="Arial"/>
              <a:cs typeface="Arial"/>
            </a:endParaRPr>
          </a:p>
          <a:p>
            <a:pPr marL="781685" lvl="1" indent="-286385">
              <a:lnSpc>
                <a:spcPct val="100000"/>
              </a:lnSpc>
              <a:spcBef>
                <a:spcPts val="690"/>
              </a:spcBef>
              <a:buChar char="•"/>
              <a:tabLst>
                <a:tab pos="781685" algn="l"/>
              </a:tabLst>
            </a:pPr>
            <a:r>
              <a:rPr sz="2800" dirty="0">
                <a:latin typeface="Arial"/>
                <a:cs typeface="Arial"/>
              </a:rPr>
              <a:t>Bậc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=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Bậc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S.</a:t>
            </a:r>
            <a:endParaRPr sz="2800">
              <a:latin typeface="Arial"/>
              <a:cs typeface="Arial"/>
            </a:endParaRPr>
          </a:p>
          <a:p>
            <a:pPr marL="781685" lvl="1" indent="-286385">
              <a:lnSpc>
                <a:spcPct val="100000"/>
              </a:lnSpc>
              <a:spcBef>
                <a:spcPts val="675"/>
              </a:spcBef>
              <a:buChar char="•"/>
              <a:tabLst>
                <a:tab pos="781685" algn="l"/>
              </a:tabLst>
            </a:pPr>
            <a:r>
              <a:rPr sz="2800" dirty="0">
                <a:latin typeface="Arial"/>
                <a:cs typeface="Arial"/>
              </a:rPr>
              <a:t>Miền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giá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trị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775" baseline="-21021" dirty="0">
                <a:latin typeface="Arial"/>
                <a:cs typeface="Arial"/>
              </a:rPr>
              <a:t>i</a:t>
            </a:r>
            <a:r>
              <a:rPr sz="2775" spc="352" baseline="-21021" dirty="0">
                <a:latin typeface="Arial"/>
                <a:cs typeface="Arial"/>
              </a:rPr>
              <a:t> </a:t>
            </a:r>
            <a:r>
              <a:rPr sz="2800" dirty="0">
                <a:latin typeface="Symbol"/>
                <a:cs typeface="Symbol"/>
              </a:rPr>
              <a:t></a:t>
            </a:r>
            <a:r>
              <a:rPr sz="2800" spc="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Arial"/>
                <a:cs typeface="Arial"/>
              </a:rPr>
              <a:t>Miền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giá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trị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</a:t>
            </a:r>
            <a:r>
              <a:rPr sz="2775" baseline="-21021" dirty="0">
                <a:latin typeface="Arial"/>
                <a:cs typeface="Arial"/>
              </a:rPr>
              <a:t>i</a:t>
            </a:r>
            <a:r>
              <a:rPr sz="2800" dirty="0">
                <a:latin typeface="Arial"/>
                <a:cs typeface="Arial"/>
              </a:rPr>
              <a:t>,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với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=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1,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...,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n.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F713C-8E52-1505-B3AE-C5321ADE240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Phép</a:t>
            </a:r>
            <a:r>
              <a:rPr spc="-20" dirty="0"/>
              <a:t> </a:t>
            </a:r>
            <a:r>
              <a:rPr spc="-25" dirty="0"/>
              <a:t>hội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30775"/>
            <a:ext cx="5468620" cy="174625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90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Hội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39"/>
              </a:spcBef>
              <a:buChar char="•"/>
              <a:tabLst>
                <a:tab pos="756285" algn="l"/>
              </a:tabLst>
            </a:pPr>
            <a:r>
              <a:rPr sz="1800" dirty="0">
                <a:latin typeface="Arial"/>
                <a:cs typeface="Arial"/>
              </a:rPr>
              <a:t>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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34"/>
              </a:spcBef>
              <a:buChar char="•"/>
              <a:tabLst>
                <a:tab pos="756285" algn="l"/>
              </a:tabLst>
            </a:pPr>
            <a:r>
              <a:rPr sz="1800" dirty="0">
                <a:latin typeface="Arial"/>
                <a:cs typeface="Arial"/>
              </a:rPr>
              <a:t>Là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quan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hệ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gồm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bộ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hoặc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S.</a:t>
            </a:r>
            <a:endParaRPr sz="1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30"/>
              </a:spcBef>
              <a:buChar char="•"/>
              <a:tabLst>
                <a:tab pos="756285" algn="l"/>
              </a:tabLst>
            </a:pPr>
            <a:r>
              <a:rPr sz="1800" dirty="0">
                <a:latin typeface="Arial"/>
                <a:cs typeface="Arial"/>
              </a:rPr>
              <a:t>Các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bộ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trùng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nhau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bị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loại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đi.</a:t>
            </a:r>
            <a:endParaRPr sz="1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70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R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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| t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R </a:t>
            </a:r>
            <a:r>
              <a:rPr sz="2000" dirty="0">
                <a:latin typeface="Symbol"/>
                <a:cs typeface="Symbol"/>
              </a:rPr>
              <a:t>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S}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3101975"/>
          <a:ext cx="1681480" cy="1844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813050" y="3101975"/>
          <a:ext cx="1681480" cy="1476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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4724400" y="3848100"/>
            <a:ext cx="2286000" cy="76200"/>
          </a:xfrm>
          <a:custGeom>
            <a:avLst/>
            <a:gdLst/>
            <a:ahLst/>
            <a:cxnLst/>
            <a:rect l="l" t="t" r="r" b="b"/>
            <a:pathLst>
              <a:path w="2286000" h="76200">
                <a:moveTo>
                  <a:pt x="2209800" y="0"/>
                </a:moveTo>
                <a:lnTo>
                  <a:pt x="2209800" y="76200"/>
                </a:lnTo>
                <a:lnTo>
                  <a:pt x="2273300" y="44450"/>
                </a:lnTo>
                <a:lnTo>
                  <a:pt x="2222500" y="44450"/>
                </a:lnTo>
                <a:lnTo>
                  <a:pt x="2222500" y="31750"/>
                </a:lnTo>
                <a:lnTo>
                  <a:pt x="2273300" y="31750"/>
                </a:lnTo>
                <a:lnTo>
                  <a:pt x="2209800" y="0"/>
                </a:lnTo>
                <a:close/>
              </a:path>
              <a:path w="2286000" h="76200">
                <a:moveTo>
                  <a:pt x="22098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209800" y="44450"/>
                </a:lnTo>
                <a:lnTo>
                  <a:pt x="2209800" y="31750"/>
                </a:lnTo>
                <a:close/>
              </a:path>
              <a:path w="2286000" h="76200">
                <a:moveTo>
                  <a:pt x="2273300" y="31750"/>
                </a:moveTo>
                <a:lnTo>
                  <a:pt x="2222500" y="31750"/>
                </a:lnTo>
                <a:lnTo>
                  <a:pt x="2222500" y="44450"/>
                </a:lnTo>
                <a:lnTo>
                  <a:pt x="2273300" y="44450"/>
                </a:lnTo>
                <a:lnTo>
                  <a:pt x="2286000" y="38100"/>
                </a:lnTo>
                <a:lnTo>
                  <a:pt x="22733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522214" y="3459860"/>
            <a:ext cx="6788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R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Symbol"/>
                <a:cs typeface="Symbol"/>
              </a:rPr>
              <a:t>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316851" y="3070225"/>
          <a:ext cx="1148080" cy="2224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09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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50898E-528C-164C-D443-481953E3D9B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Phép</a:t>
            </a:r>
            <a:r>
              <a:rPr spc="-20" dirty="0"/>
              <a:t> giao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31850" y="2721610"/>
          <a:ext cx="1681480" cy="1842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813050" y="2721610"/>
          <a:ext cx="1681480" cy="1473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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07340" y="1030775"/>
            <a:ext cx="5935980" cy="234823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90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Giao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39"/>
              </a:spcBef>
              <a:buChar char="•"/>
              <a:tabLst>
                <a:tab pos="756285" algn="l"/>
              </a:tabLst>
            </a:pPr>
            <a:r>
              <a:rPr sz="1800" dirty="0">
                <a:latin typeface="Arial"/>
                <a:cs typeface="Arial"/>
              </a:rPr>
              <a:t>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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34"/>
              </a:spcBef>
              <a:buChar char="•"/>
              <a:tabLst>
                <a:tab pos="756285" algn="l"/>
              </a:tabLst>
            </a:pPr>
            <a:r>
              <a:rPr sz="1800" dirty="0">
                <a:latin typeface="Arial"/>
                <a:cs typeface="Arial"/>
              </a:rPr>
              <a:t>Là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quan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hệ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gồm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bộ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đồng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thời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S.</a:t>
            </a:r>
            <a:endParaRPr sz="1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70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R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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{t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| t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R </a:t>
            </a:r>
            <a:r>
              <a:rPr sz="2000" dirty="0">
                <a:latin typeface="Symbol"/>
                <a:cs typeface="Symbol"/>
              </a:rPr>
              <a:t>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S}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2000">
              <a:latin typeface="Arial"/>
              <a:cs typeface="Arial"/>
            </a:endParaRPr>
          </a:p>
          <a:p>
            <a:pPr marR="46990" algn="r">
              <a:lnSpc>
                <a:spcPct val="100000"/>
              </a:lnSpc>
            </a:pPr>
            <a:r>
              <a:rPr sz="1800" dirty="0">
                <a:latin typeface="Verdana"/>
                <a:cs typeface="Verdana"/>
              </a:rPr>
              <a:t>R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Symbol"/>
                <a:cs typeface="Symbol"/>
              </a:rPr>
              <a:t>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724400" y="3467100"/>
            <a:ext cx="2286000" cy="76200"/>
          </a:xfrm>
          <a:custGeom>
            <a:avLst/>
            <a:gdLst/>
            <a:ahLst/>
            <a:cxnLst/>
            <a:rect l="l" t="t" r="r" b="b"/>
            <a:pathLst>
              <a:path w="2286000" h="76200">
                <a:moveTo>
                  <a:pt x="2209800" y="0"/>
                </a:moveTo>
                <a:lnTo>
                  <a:pt x="2209800" y="76200"/>
                </a:lnTo>
                <a:lnTo>
                  <a:pt x="2273300" y="44450"/>
                </a:lnTo>
                <a:lnTo>
                  <a:pt x="2222500" y="44450"/>
                </a:lnTo>
                <a:lnTo>
                  <a:pt x="2222500" y="31750"/>
                </a:lnTo>
                <a:lnTo>
                  <a:pt x="2273300" y="31750"/>
                </a:lnTo>
                <a:lnTo>
                  <a:pt x="2209800" y="0"/>
                </a:lnTo>
                <a:close/>
              </a:path>
              <a:path w="2286000" h="76200">
                <a:moveTo>
                  <a:pt x="22098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209800" y="44450"/>
                </a:lnTo>
                <a:lnTo>
                  <a:pt x="2209800" y="31750"/>
                </a:lnTo>
                <a:close/>
              </a:path>
              <a:path w="2286000" h="76200">
                <a:moveTo>
                  <a:pt x="2273300" y="31750"/>
                </a:moveTo>
                <a:lnTo>
                  <a:pt x="2222500" y="31750"/>
                </a:lnTo>
                <a:lnTo>
                  <a:pt x="2222500" y="44450"/>
                </a:lnTo>
                <a:lnTo>
                  <a:pt x="2273300" y="44450"/>
                </a:lnTo>
                <a:lnTo>
                  <a:pt x="2286000" y="38100"/>
                </a:lnTo>
                <a:lnTo>
                  <a:pt x="22733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316469" y="2736850"/>
          <a:ext cx="1148080" cy="11106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A00F229-3B0D-A2FA-90BF-4093C20A07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Phép</a:t>
            </a:r>
            <a:r>
              <a:rPr spc="-20" dirty="0"/>
              <a:t> hiệu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31850" y="2721610"/>
          <a:ext cx="1681480" cy="1842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813050" y="2721610"/>
          <a:ext cx="1681480" cy="1473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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07340" y="1030775"/>
            <a:ext cx="6319520" cy="234950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90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Hiệu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39"/>
              </a:spcBef>
              <a:buChar char="•"/>
              <a:tabLst>
                <a:tab pos="756285" algn="l"/>
              </a:tabLst>
            </a:pPr>
            <a:r>
              <a:rPr sz="1800" dirty="0">
                <a:latin typeface="Arial"/>
                <a:cs typeface="Arial"/>
              </a:rPr>
              <a:t>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 </a:t>
            </a:r>
            <a:r>
              <a:rPr sz="1800" spc="-50" dirty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434"/>
              </a:spcBef>
              <a:buChar char="•"/>
              <a:tabLst>
                <a:tab pos="756285" algn="l"/>
              </a:tabLst>
            </a:pPr>
            <a:r>
              <a:rPr sz="1800" dirty="0">
                <a:latin typeface="Arial"/>
                <a:cs typeface="Arial"/>
              </a:rPr>
              <a:t>Là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quan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hệ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gồm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bộ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nhưng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không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S.</a:t>
            </a:r>
            <a:endParaRPr sz="18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470"/>
              </a:spcBef>
              <a:buFont typeface="Wingdings"/>
              <a:buChar char="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R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-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{t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|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R </a:t>
            </a:r>
            <a:r>
              <a:rPr sz="2000" dirty="0">
                <a:latin typeface="Symbol"/>
                <a:cs typeface="Symbol"/>
              </a:rPr>
              <a:t>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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S}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2000">
              <a:latin typeface="Arial"/>
              <a:cs typeface="Arial"/>
            </a:endParaRPr>
          </a:p>
          <a:p>
            <a:pPr marR="467359" algn="r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Verdana"/>
                <a:cs typeface="Verdana"/>
              </a:rPr>
              <a:t>R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- </a:t>
            </a:r>
            <a:r>
              <a:rPr sz="1800" spc="-50" dirty="0"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724400" y="3467100"/>
            <a:ext cx="2286000" cy="76200"/>
          </a:xfrm>
          <a:custGeom>
            <a:avLst/>
            <a:gdLst/>
            <a:ahLst/>
            <a:cxnLst/>
            <a:rect l="l" t="t" r="r" b="b"/>
            <a:pathLst>
              <a:path w="2286000" h="76200">
                <a:moveTo>
                  <a:pt x="2209800" y="0"/>
                </a:moveTo>
                <a:lnTo>
                  <a:pt x="2209800" y="76200"/>
                </a:lnTo>
                <a:lnTo>
                  <a:pt x="2273300" y="44450"/>
                </a:lnTo>
                <a:lnTo>
                  <a:pt x="2222500" y="44450"/>
                </a:lnTo>
                <a:lnTo>
                  <a:pt x="2222500" y="31750"/>
                </a:lnTo>
                <a:lnTo>
                  <a:pt x="2273300" y="31750"/>
                </a:lnTo>
                <a:lnTo>
                  <a:pt x="2209800" y="0"/>
                </a:lnTo>
                <a:close/>
              </a:path>
              <a:path w="2286000" h="76200">
                <a:moveTo>
                  <a:pt x="22098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209800" y="44450"/>
                </a:lnTo>
                <a:lnTo>
                  <a:pt x="2209800" y="31750"/>
                </a:lnTo>
                <a:close/>
              </a:path>
              <a:path w="2286000" h="76200">
                <a:moveTo>
                  <a:pt x="2273300" y="31750"/>
                </a:moveTo>
                <a:lnTo>
                  <a:pt x="2222500" y="31750"/>
                </a:lnTo>
                <a:lnTo>
                  <a:pt x="2222500" y="44450"/>
                </a:lnTo>
                <a:lnTo>
                  <a:pt x="2273300" y="44450"/>
                </a:lnTo>
                <a:lnTo>
                  <a:pt x="2286000" y="38100"/>
                </a:lnTo>
                <a:lnTo>
                  <a:pt x="22733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316469" y="2736850"/>
          <a:ext cx="1148080" cy="11106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45B09D0-FA39-67F8-B528-35659DACB7C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Phép</a:t>
            </a:r>
            <a:r>
              <a:rPr spc="-65" dirty="0"/>
              <a:t> </a:t>
            </a:r>
            <a:r>
              <a:rPr dirty="0"/>
              <a:t>toán</a:t>
            </a:r>
            <a:r>
              <a:rPr spc="-65" dirty="0"/>
              <a:t> </a:t>
            </a:r>
            <a:r>
              <a:rPr dirty="0"/>
              <a:t>tập</a:t>
            </a:r>
            <a:r>
              <a:rPr spc="-65" dirty="0"/>
              <a:t> </a:t>
            </a:r>
            <a:r>
              <a:rPr dirty="0"/>
              <a:t>hợp</a:t>
            </a:r>
            <a:r>
              <a:rPr spc="-65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986543"/>
            <a:ext cx="8228965" cy="288734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00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Arial"/>
                <a:cs typeface="Arial"/>
              </a:rPr>
              <a:t>Đặc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trưng</a:t>
            </a:r>
            <a:endParaRPr sz="32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90"/>
              </a:spcBef>
              <a:buChar char="•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Phép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hội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và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giao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có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tính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giao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hoán</a:t>
            </a:r>
            <a:endParaRPr sz="28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595"/>
              </a:spcBef>
            </a:pPr>
            <a:r>
              <a:rPr sz="2400" dirty="0">
                <a:latin typeface="Arial"/>
                <a:cs typeface="Arial"/>
              </a:rPr>
              <a:t>-</a:t>
            </a:r>
            <a:r>
              <a:rPr sz="2400" spc="3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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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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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"/>
                <a:cs typeface="Arial"/>
              </a:rPr>
              <a:t>R.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55"/>
              </a:spcBef>
              <a:buChar char="•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Phép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hội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và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giao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có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tính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kết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hợp</a:t>
            </a:r>
            <a:endParaRPr sz="28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595"/>
              </a:spcBef>
            </a:pPr>
            <a:r>
              <a:rPr sz="2400" dirty="0">
                <a:latin typeface="Arial"/>
                <a:cs typeface="Arial"/>
              </a:rPr>
              <a:t>-</a:t>
            </a:r>
            <a:r>
              <a:rPr sz="2400" spc="3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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(S </a:t>
            </a:r>
            <a:r>
              <a:rPr sz="2400" dirty="0">
                <a:latin typeface="Symbol"/>
                <a:cs typeface="Symbol"/>
              </a:rPr>
              <a:t>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T)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(R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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S)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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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(S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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T)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(R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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"/>
                <a:cs typeface="Arial"/>
              </a:rPr>
              <a:t>S)</a:t>
            </a:r>
            <a:endParaRPr sz="2400">
              <a:latin typeface="Arial"/>
              <a:cs typeface="Arial"/>
            </a:endParaRPr>
          </a:p>
          <a:p>
            <a:pPr marL="1155700">
              <a:lnSpc>
                <a:spcPct val="100000"/>
              </a:lnSpc>
            </a:pPr>
            <a:r>
              <a:rPr sz="2400" dirty="0">
                <a:latin typeface="Symbol"/>
                <a:cs typeface="Symbol"/>
              </a:rPr>
              <a:t>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"/>
                <a:cs typeface="Arial"/>
              </a:rPr>
              <a:t>T.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2042A-BDAC-57FC-7C18-3EB53AB1F6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Phép</a:t>
            </a:r>
            <a:r>
              <a:rPr spc="-45" dirty="0"/>
              <a:t> </a:t>
            </a:r>
            <a:r>
              <a:rPr dirty="0"/>
              <a:t>tích</a:t>
            </a:r>
            <a:r>
              <a:rPr spc="-40" dirty="0"/>
              <a:t> </a:t>
            </a:r>
            <a:r>
              <a:rPr spc="-10" dirty="0"/>
              <a:t>Cartesian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9240" y="1030775"/>
            <a:ext cx="8436610" cy="207581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93065" indent="-342265">
              <a:lnSpc>
                <a:spcPct val="100000"/>
              </a:lnSpc>
              <a:spcBef>
                <a:spcPts val="590"/>
              </a:spcBef>
              <a:buFont typeface="Wingdings"/>
              <a:buChar char=""/>
              <a:tabLst>
                <a:tab pos="393065" algn="l"/>
              </a:tabLst>
            </a:pPr>
            <a:r>
              <a:rPr sz="2000" dirty="0">
                <a:latin typeface="Arial"/>
                <a:cs typeface="Arial"/>
              </a:rPr>
              <a:t>Tích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Cartesian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(không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nhất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thiết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khả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hợp).</a:t>
            </a:r>
            <a:endParaRPr sz="2000">
              <a:latin typeface="Arial"/>
              <a:cs typeface="Arial"/>
            </a:endParaRPr>
          </a:p>
          <a:p>
            <a:pPr marL="794385" lvl="1" indent="-286385">
              <a:lnSpc>
                <a:spcPct val="100000"/>
              </a:lnSpc>
              <a:spcBef>
                <a:spcPts val="439"/>
              </a:spcBef>
              <a:buChar char="•"/>
              <a:tabLst>
                <a:tab pos="794385" algn="l"/>
              </a:tabLst>
            </a:pPr>
            <a:r>
              <a:rPr sz="1800" dirty="0">
                <a:latin typeface="Arial"/>
                <a:cs typeface="Arial"/>
              </a:rPr>
              <a:t>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Symbol"/>
                <a:cs typeface="Symbol"/>
              </a:rPr>
              <a:t></a:t>
            </a:r>
            <a:r>
              <a:rPr sz="1800" spc="45" dirty="0">
                <a:latin typeface="Times New Roman"/>
                <a:cs typeface="Times New Roman"/>
              </a:rPr>
              <a:t> </a:t>
            </a:r>
            <a:r>
              <a:rPr sz="1800" spc="-60" dirty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  <a:p>
            <a:pPr marL="794385" lvl="1" indent="-286385">
              <a:lnSpc>
                <a:spcPct val="100000"/>
              </a:lnSpc>
              <a:spcBef>
                <a:spcPts val="434"/>
              </a:spcBef>
              <a:buChar char="•"/>
              <a:tabLst>
                <a:tab pos="794385" algn="l"/>
              </a:tabLst>
            </a:pPr>
            <a:r>
              <a:rPr sz="1800" dirty="0">
                <a:latin typeface="Arial"/>
                <a:cs typeface="Arial"/>
              </a:rPr>
              <a:t>Là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quan hệ Q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mà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mỗi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bộ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một tổ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hợp của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một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và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một bộ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S.</a:t>
            </a:r>
            <a:endParaRPr sz="1800">
              <a:latin typeface="Arial"/>
              <a:cs typeface="Arial"/>
            </a:endParaRPr>
          </a:p>
          <a:p>
            <a:pPr marL="794385" lvl="1" indent="-286385">
              <a:lnSpc>
                <a:spcPct val="100000"/>
              </a:lnSpc>
              <a:spcBef>
                <a:spcPts val="430"/>
              </a:spcBef>
              <a:buChar char="•"/>
              <a:tabLst>
                <a:tab pos="794385" algn="l"/>
              </a:tabLst>
            </a:pPr>
            <a:r>
              <a:rPr sz="1800" dirty="0">
                <a:latin typeface="Arial"/>
                <a:cs typeface="Arial"/>
              </a:rPr>
              <a:t>Bậc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Bậc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+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Bậc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S.</a:t>
            </a:r>
            <a:endParaRPr sz="1800">
              <a:latin typeface="Arial"/>
              <a:cs typeface="Arial"/>
            </a:endParaRPr>
          </a:p>
          <a:p>
            <a:pPr marL="794385" lvl="1" indent="-286385">
              <a:lnSpc>
                <a:spcPct val="100000"/>
              </a:lnSpc>
              <a:spcBef>
                <a:spcPts val="430"/>
              </a:spcBef>
              <a:buChar char="•"/>
              <a:tabLst>
                <a:tab pos="794385" algn="l"/>
              </a:tabLst>
            </a:pPr>
            <a:r>
              <a:rPr sz="1800" dirty="0">
                <a:latin typeface="Arial"/>
                <a:cs typeface="Arial"/>
              </a:rPr>
              <a:t>Số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bộ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Q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Số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bộ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 </a:t>
            </a:r>
            <a:r>
              <a:rPr sz="1800" dirty="0">
                <a:latin typeface="Symbol"/>
                <a:cs typeface="Symbol"/>
              </a:rPr>
              <a:t>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Số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bộ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S.</a:t>
            </a:r>
            <a:endParaRPr sz="1800">
              <a:latin typeface="Arial"/>
              <a:cs typeface="Arial"/>
            </a:endParaRPr>
          </a:p>
          <a:p>
            <a:pPr marL="393065" indent="-342265">
              <a:lnSpc>
                <a:spcPct val="100000"/>
              </a:lnSpc>
              <a:spcBef>
                <a:spcPts val="475"/>
              </a:spcBef>
              <a:buFont typeface="Wingdings"/>
              <a:buChar char=""/>
              <a:tabLst>
                <a:tab pos="393065" algn="l"/>
              </a:tabLst>
            </a:pPr>
            <a:r>
              <a:rPr sz="2000" dirty="0">
                <a:latin typeface="Arial"/>
                <a:cs typeface="Arial"/>
              </a:rPr>
              <a:t>R </a:t>
            </a:r>
            <a:r>
              <a:rPr sz="2000" dirty="0">
                <a:latin typeface="Symbol"/>
                <a:cs typeface="Symbol"/>
              </a:rPr>
              <a:t>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S =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{(a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...,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1950" baseline="-21367" dirty="0">
                <a:latin typeface="Arial"/>
                <a:cs typeface="Arial"/>
              </a:rPr>
              <a:t>m</a:t>
            </a:r>
            <a:r>
              <a:rPr sz="2000" dirty="0">
                <a:latin typeface="Arial"/>
                <a:cs typeface="Arial"/>
              </a:rPr>
              <a:t>, b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...,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</a:t>
            </a:r>
            <a:r>
              <a:rPr sz="1950" baseline="-21367" dirty="0">
                <a:latin typeface="Arial"/>
                <a:cs typeface="Arial"/>
              </a:rPr>
              <a:t>n</a:t>
            </a:r>
            <a:r>
              <a:rPr sz="2000" dirty="0">
                <a:latin typeface="Arial"/>
                <a:cs typeface="Arial"/>
              </a:rPr>
              <a:t>)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|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(a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...,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1950" baseline="-21367" dirty="0">
                <a:latin typeface="Arial"/>
                <a:cs typeface="Arial"/>
              </a:rPr>
              <a:t>m</a:t>
            </a:r>
            <a:r>
              <a:rPr sz="2000" dirty="0">
                <a:latin typeface="Arial"/>
                <a:cs typeface="Arial"/>
              </a:rPr>
              <a:t>)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R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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(b</a:t>
            </a:r>
            <a:r>
              <a:rPr sz="1950" baseline="-21367" dirty="0">
                <a:latin typeface="Arial"/>
                <a:cs typeface="Arial"/>
              </a:rPr>
              <a:t>1</a:t>
            </a:r>
            <a:r>
              <a:rPr sz="2000" dirty="0">
                <a:latin typeface="Arial"/>
                <a:cs typeface="Arial"/>
              </a:rPr>
              <a:t>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...,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</a:t>
            </a:r>
            <a:r>
              <a:rPr sz="1950" baseline="-21367" dirty="0">
                <a:latin typeface="Arial"/>
                <a:cs typeface="Arial"/>
              </a:rPr>
              <a:t>n</a:t>
            </a:r>
            <a:r>
              <a:rPr sz="2000" dirty="0">
                <a:latin typeface="Arial"/>
                <a:cs typeface="Arial"/>
              </a:rPr>
              <a:t>)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S}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50850" y="3498850"/>
          <a:ext cx="2187575" cy="14763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813050" y="3498850"/>
          <a:ext cx="1640839" cy="11106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978397" y="3498850"/>
          <a:ext cx="2639060" cy="2574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4724400" y="4168140"/>
            <a:ext cx="914400" cy="76200"/>
          </a:xfrm>
          <a:custGeom>
            <a:avLst/>
            <a:gdLst/>
            <a:ahLst/>
            <a:cxnLst/>
            <a:rect l="l" t="t" r="r" b="b"/>
            <a:pathLst>
              <a:path w="914400" h="76200">
                <a:moveTo>
                  <a:pt x="838200" y="0"/>
                </a:moveTo>
                <a:lnTo>
                  <a:pt x="838200" y="76200"/>
                </a:lnTo>
                <a:lnTo>
                  <a:pt x="901700" y="44450"/>
                </a:lnTo>
                <a:lnTo>
                  <a:pt x="850900" y="44450"/>
                </a:lnTo>
                <a:lnTo>
                  <a:pt x="850900" y="31750"/>
                </a:lnTo>
                <a:lnTo>
                  <a:pt x="901700" y="31750"/>
                </a:lnTo>
                <a:lnTo>
                  <a:pt x="838200" y="0"/>
                </a:lnTo>
                <a:close/>
              </a:path>
              <a:path w="914400" h="76200">
                <a:moveTo>
                  <a:pt x="8382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838200" y="44450"/>
                </a:lnTo>
                <a:lnTo>
                  <a:pt x="838200" y="31750"/>
                </a:lnTo>
                <a:close/>
              </a:path>
              <a:path w="914400" h="76200">
                <a:moveTo>
                  <a:pt x="901700" y="31750"/>
                </a:moveTo>
                <a:lnTo>
                  <a:pt x="850900" y="31750"/>
                </a:lnTo>
                <a:lnTo>
                  <a:pt x="850900" y="44450"/>
                </a:lnTo>
                <a:lnTo>
                  <a:pt x="901700" y="44450"/>
                </a:lnTo>
                <a:lnTo>
                  <a:pt x="914400" y="38100"/>
                </a:lnTo>
                <a:lnTo>
                  <a:pt x="9017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869560" y="3780231"/>
            <a:ext cx="6286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R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Symbol"/>
                <a:cs typeface="Symbol"/>
              </a:rPr>
              <a:t>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367A5B-6835-1191-60C8-33355EED442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Một</a:t>
            </a:r>
            <a:r>
              <a:rPr spc="-45" dirty="0"/>
              <a:t> </a:t>
            </a:r>
            <a:r>
              <a:rPr dirty="0"/>
              <a:t>số</a:t>
            </a:r>
            <a:r>
              <a:rPr spc="-50" dirty="0"/>
              <a:t> </a:t>
            </a:r>
            <a:r>
              <a:rPr dirty="0"/>
              <a:t>ví</a:t>
            </a:r>
            <a:r>
              <a:rPr spc="-45" dirty="0"/>
              <a:t> </a:t>
            </a:r>
            <a:r>
              <a:rPr spc="-25" dirty="0"/>
              <a:t>dụ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9240" y="1092453"/>
            <a:ext cx="8522970" cy="4918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5638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93700" algn="l"/>
              </a:tabLst>
            </a:pPr>
            <a:r>
              <a:rPr sz="2400" dirty="0">
                <a:latin typeface="Arial"/>
                <a:cs typeface="Arial"/>
              </a:rPr>
              <a:t>Tìm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mã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viên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phòng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hoặc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giám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sát </a:t>
            </a:r>
            <a:r>
              <a:rPr sz="2400" dirty="0">
                <a:latin typeface="Arial"/>
                <a:cs typeface="Arial"/>
              </a:rPr>
              <a:t>trực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tiếp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viên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phòng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5.</a:t>
            </a:r>
            <a:endParaRPr sz="2400">
              <a:latin typeface="Arial"/>
              <a:cs typeface="Arial"/>
            </a:endParaRPr>
          </a:p>
          <a:p>
            <a:pPr marL="794385" marR="4605020" lvl="1" indent="-287020">
              <a:lnSpc>
                <a:spcPct val="120000"/>
              </a:lnSpc>
              <a:spcBef>
                <a:spcPts val="5"/>
              </a:spcBef>
              <a:buChar char="•"/>
              <a:tabLst>
                <a:tab pos="794385" algn="l"/>
              </a:tabLst>
            </a:pPr>
            <a:r>
              <a:rPr sz="2000" dirty="0">
                <a:latin typeface="Arial"/>
                <a:cs typeface="Arial"/>
              </a:rPr>
              <a:t>Q1 </a:t>
            </a:r>
            <a:r>
              <a:rPr sz="2000" dirty="0">
                <a:latin typeface="Symbol"/>
                <a:cs typeface="Symbol"/>
              </a:rPr>
              <a:t>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</a:t>
            </a:r>
            <a:r>
              <a:rPr sz="1950" baseline="-21367" dirty="0">
                <a:latin typeface="Arial"/>
                <a:cs typeface="Arial"/>
              </a:rPr>
              <a:t>MaPB</a:t>
            </a:r>
            <a:r>
              <a:rPr sz="1950" spc="37" baseline="-21367" dirty="0">
                <a:latin typeface="Arial"/>
                <a:cs typeface="Arial"/>
              </a:rPr>
              <a:t> </a:t>
            </a:r>
            <a:r>
              <a:rPr sz="1950" baseline="-21367" dirty="0">
                <a:latin typeface="Arial"/>
                <a:cs typeface="Arial"/>
              </a:rPr>
              <a:t>=</a:t>
            </a:r>
            <a:r>
              <a:rPr sz="1950" spc="30" baseline="-21367" dirty="0">
                <a:latin typeface="Arial"/>
                <a:cs typeface="Arial"/>
              </a:rPr>
              <a:t> </a:t>
            </a:r>
            <a:r>
              <a:rPr sz="1950" spc="-15" baseline="-21367" dirty="0">
                <a:latin typeface="Arial"/>
                <a:cs typeface="Arial"/>
              </a:rPr>
              <a:t>5</a:t>
            </a:r>
            <a:r>
              <a:rPr sz="2000" spc="-10" dirty="0">
                <a:latin typeface="Arial"/>
                <a:cs typeface="Arial"/>
              </a:rPr>
              <a:t>(NHANVIEN) </a:t>
            </a:r>
            <a:r>
              <a:rPr sz="2000" dirty="0">
                <a:latin typeface="Arial"/>
                <a:cs typeface="Arial"/>
              </a:rPr>
              <a:t>Q2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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Symbol"/>
                <a:cs typeface="Symbol"/>
              </a:rPr>
              <a:t></a:t>
            </a:r>
            <a:r>
              <a:rPr sz="1950" spc="-15" baseline="-21367" dirty="0">
                <a:latin typeface="Arial"/>
                <a:cs typeface="Arial"/>
              </a:rPr>
              <a:t>MaNV</a:t>
            </a:r>
            <a:r>
              <a:rPr sz="2000" spc="-10" dirty="0">
                <a:latin typeface="Arial"/>
                <a:cs typeface="Arial"/>
              </a:rPr>
              <a:t>(Q1)</a:t>
            </a:r>
            <a:endParaRPr sz="2000">
              <a:latin typeface="Arial"/>
              <a:cs typeface="Arial"/>
            </a:endParaRPr>
          </a:p>
          <a:p>
            <a:pPr marL="794385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"/>
                <a:cs typeface="Arial"/>
              </a:rPr>
              <a:t>Q3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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Symbol"/>
                <a:cs typeface="Symbol"/>
              </a:rPr>
              <a:t></a:t>
            </a:r>
            <a:r>
              <a:rPr sz="1950" spc="-15" baseline="-21367" dirty="0">
                <a:latin typeface="Arial"/>
                <a:cs typeface="Arial"/>
              </a:rPr>
              <a:t>MaGS</a:t>
            </a:r>
            <a:r>
              <a:rPr sz="2000" spc="-10" dirty="0">
                <a:latin typeface="Arial"/>
                <a:cs typeface="Arial"/>
              </a:rPr>
              <a:t>(Q1)</a:t>
            </a:r>
            <a:endParaRPr sz="2000">
              <a:latin typeface="Arial"/>
              <a:cs typeface="Arial"/>
            </a:endParaRPr>
          </a:p>
          <a:p>
            <a:pPr marL="794385">
              <a:lnSpc>
                <a:spcPct val="100000"/>
              </a:lnSpc>
              <a:spcBef>
                <a:spcPts val="480"/>
              </a:spcBef>
              <a:tabLst>
                <a:tab pos="1130935" algn="l"/>
              </a:tabLst>
            </a:pPr>
            <a:r>
              <a:rPr sz="2000" spc="-50" dirty="0">
                <a:latin typeface="Arial"/>
                <a:cs typeface="Arial"/>
              </a:rPr>
              <a:t>Q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dirty="0">
                <a:latin typeface="Symbol"/>
                <a:cs typeface="Symbol"/>
              </a:rPr>
              <a:t>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Q2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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Q3</a:t>
            </a:r>
            <a:endParaRPr sz="2000">
              <a:latin typeface="Arial"/>
              <a:cs typeface="Arial"/>
            </a:endParaRPr>
          </a:p>
          <a:p>
            <a:pPr marL="393700" marR="55880" indent="-34290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93700" algn="l"/>
              </a:tabLst>
            </a:pPr>
            <a:r>
              <a:rPr sz="2400" dirty="0">
                <a:latin typeface="Arial"/>
                <a:cs typeface="Arial"/>
              </a:rPr>
              <a:t>Cho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biết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họ,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tên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viên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nữ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tên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thân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nhân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họ.</a:t>
            </a:r>
            <a:endParaRPr sz="2400">
              <a:latin typeface="Arial"/>
              <a:cs typeface="Arial"/>
            </a:endParaRPr>
          </a:p>
          <a:p>
            <a:pPr marL="794385" lvl="1" indent="-286385">
              <a:lnSpc>
                <a:spcPct val="100000"/>
              </a:lnSpc>
              <a:spcBef>
                <a:spcPts val="484"/>
              </a:spcBef>
              <a:buChar char="•"/>
              <a:tabLst>
                <a:tab pos="794385" algn="l"/>
              </a:tabLst>
            </a:pPr>
            <a:r>
              <a:rPr sz="2000" dirty="0">
                <a:latin typeface="Arial"/>
                <a:cs typeface="Arial"/>
              </a:rPr>
              <a:t>Q1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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</a:t>
            </a:r>
            <a:r>
              <a:rPr sz="1950" baseline="-21367" dirty="0">
                <a:latin typeface="Arial"/>
                <a:cs typeface="Arial"/>
              </a:rPr>
              <a:t>GTinh</a:t>
            </a:r>
            <a:r>
              <a:rPr sz="1950" spc="-15" baseline="-21367" dirty="0">
                <a:latin typeface="Arial"/>
                <a:cs typeface="Arial"/>
              </a:rPr>
              <a:t> </a:t>
            </a:r>
            <a:r>
              <a:rPr sz="1950" baseline="-21367" dirty="0">
                <a:latin typeface="Arial"/>
                <a:cs typeface="Arial"/>
              </a:rPr>
              <a:t>=</a:t>
            </a:r>
            <a:r>
              <a:rPr sz="1950" spc="30" baseline="-21367" dirty="0">
                <a:latin typeface="Arial"/>
                <a:cs typeface="Arial"/>
              </a:rPr>
              <a:t> </a:t>
            </a:r>
            <a:r>
              <a:rPr sz="1950" spc="-15" baseline="-21367" dirty="0">
                <a:latin typeface="Arial"/>
                <a:cs typeface="Arial"/>
              </a:rPr>
              <a:t>‘Nu’</a:t>
            </a:r>
            <a:r>
              <a:rPr sz="2000" spc="-10" dirty="0">
                <a:latin typeface="Arial"/>
                <a:cs typeface="Arial"/>
              </a:rPr>
              <a:t>(NHANVIEN)</a:t>
            </a:r>
            <a:endParaRPr sz="2000">
              <a:latin typeface="Arial"/>
              <a:cs typeface="Arial"/>
            </a:endParaRPr>
          </a:p>
          <a:p>
            <a:pPr marL="794385" marR="3023235">
              <a:lnSpc>
                <a:spcPts val="2390"/>
              </a:lnSpc>
              <a:spcBef>
                <a:spcPts val="1060"/>
              </a:spcBef>
            </a:pPr>
            <a:r>
              <a:rPr sz="3000" baseline="13888" dirty="0">
                <a:latin typeface="Arial"/>
                <a:cs typeface="Arial"/>
              </a:rPr>
              <a:t>Q2</a:t>
            </a:r>
            <a:r>
              <a:rPr sz="3000" spc="75" baseline="13888" dirty="0">
                <a:latin typeface="Arial"/>
                <a:cs typeface="Arial"/>
              </a:rPr>
              <a:t> </a:t>
            </a:r>
            <a:r>
              <a:rPr sz="3000" baseline="13888" dirty="0">
                <a:latin typeface="Symbol"/>
                <a:cs typeface="Symbol"/>
              </a:rPr>
              <a:t></a:t>
            </a:r>
            <a:r>
              <a:rPr sz="3000" spc="165" baseline="13888" dirty="0">
                <a:latin typeface="Times New Roman"/>
                <a:cs typeface="Times New Roman"/>
              </a:rPr>
              <a:t> </a:t>
            </a:r>
            <a:r>
              <a:rPr sz="3000" baseline="13888" dirty="0">
                <a:latin typeface="Symbol"/>
                <a:cs typeface="Symbol"/>
              </a:rPr>
              <a:t></a:t>
            </a:r>
            <a:r>
              <a:rPr sz="1300" dirty="0">
                <a:latin typeface="Arial"/>
                <a:cs typeface="Arial"/>
              </a:rPr>
              <a:t>(HoNV,</a:t>
            </a:r>
            <a:r>
              <a:rPr sz="1300" spc="7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TenNV,</a:t>
            </a:r>
            <a:r>
              <a:rPr sz="1300" spc="3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MaNV1)</a:t>
            </a:r>
            <a:r>
              <a:rPr sz="3000" baseline="13888" dirty="0">
                <a:latin typeface="Arial"/>
                <a:cs typeface="Arial"/>
              </a:rPr>
              <a:t>(</a:t>
            </a:r>
            <a:r>
              <a:rPr sz="3000" baseline="13888" dirty="0">
                <a:latin typeface="Symbol"/>
                <a:cs typeface="Symbol"/>
              </a:rPr>
              <a:t></a:t>
            </a:r>
            <a:r>
              <a:rPr sz="1300" dirty="0">
                <a:latin typeface="Arial"/>
                <a:cs typeface="Arial"/>
              </a:rPr>
              <a:t>Ho,</a:t>
            </a:r>
            <a:r>
              <a:rPr sz="1300" spc="5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Ten,</a:t>
            </a:r>
            <a:r>
              <a:rPr sz="1300" spc="3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MaNV</a:t>
            </a:r>
            <a:r>
              <a:rPr sz="3000" spc="-15" baseline="13888" dirty="0">
                <a:latin typeface="Arial"/>
                <a:cs typeface="Arial"/>
              </a:rPr>
              <a:t>(Q1)) </a:t>
            </a:r>
            <a:r>
              <a:rPr sz="2000" dirty="0">
                <a:latin typeface="Arial"/>
                <a:cs typeface="Arial"/>
              </a:rPr>
              <a:t>Q3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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Q2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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THANNHAN</a:t>
            </a:r>
            <a:endParaRPr sz="2000">
              <a:latin typeface="Arial"/>
              <a:cs typeface="Arial"/>
            </a:endParaRPr>
          </a:p>
          <a:p>
            <a:pPr marL="794385">
              <a:lnSpc>
                <a:spcPct val="100000"/>
              </a:lnSpc>
              <a:spcBef>
                <a:spcPts val="894"/>
              </a:spcBef>
            </a:pPr>
            <a:r>
              <a:rPr sz="3000" baseline="13888" dirty="0">
                <a:latin typeface="Arial"/>
                <a:cs typeface="Arial"/>
              </a:rPr>
              <a:t>Q4 </a:t>
            </a:r>
            <a:r>
              <a:rPr sz="3000" baseline="13888" dirty="0">
                <a:latin typeface="Symbol"/>
                <a:cs typeface="Symbol"/>
              </a:rPr>
              <a:t></a:t>
            </a:r>
            <a:r>
              <a:rPr sz="3000" spc="97" baseline="13888" dirty="0">
                <a:latin typeface="Times New Roman"/>
                <a:cs typeface="Times New Roman"/>
              </a:rPr>
              <a:t> </a:t>
            </a:r>
            <a:r>
              <a:rPr sz="3000" baseline="13888" dirty="0">
                <a:latin typeface="Symbol"/>
                <a:cs typeface="Symbol"/>
              </a:rPr>
              <a:t></a:t>
            </a:r>
            <a:r>
              <a:rPr sz="1300" dirty="0">
                <a:latin typeface="Arial"/>
                <a:cs typeface="Arial"/>
              </a:rPr>
              <a:t>MaNV1</a:t>
            </a:r>
            <a:r>
              <a:rPr sz="1300" spc="3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=</a:t>
            </a:r>
            <a:r>
              <a:rPr sz="1300" spc="2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MaNV</a:t>
            </a:r>
            <a:r>
              <a:rPr sz="3000" spc="-15" baseline="13888" dirty="0">
                <a:latin typeface="Arial"/>
                <a:cs typeface="Arial"/>
              </a:rPr>
              <a:t>(Q3)</a:t>
            </a:r>
            <a:endParaRPr sz="3000" baseline="13888">
              <a:latin typeface="Arial"/>
              <a:cs typeface="Arial"/>
            </a:endParaRPr>
          </a:p>
          <a:p>
            <a:pPr marL="794385">
              <a:lnSpc>
                <a:spcPct val="100000"/>
              </a:lnSpc>
              <a:spcBef>
                <a:spcPts val="480"/>
              </a:spcBef>
            </a:pPr>
            <a:r>
              <a:rPr sz="3000" baseline="13888" dirty="0">
                <a:latin typeface="Arial"/>
                <a:cs typeface="Arial"/>
              </a:rPr>
              <a:t>Q</a:t>
            </a:r>
            <a:r>
              <a:rPr sz="3000" spc="37" baseline="13888" dirty="0">
                <a:latin typeface="Arial"/>
                <a:cs typeface="Arial"/>
              </a:rPr>
              <a:t> </a:t>
            </a:r>
            <a:r>
              <a:rPr sz="3000" baseline="13888" dirty="0">
                <a:latin typeface="Symbol"/>
                <a:cs typeface="Symbol"/>
              </a:rPr>
              <a:t></a:t>
            </a:r>
            <a:r>
              <a:rPr sz="3000" spc="135" baseline="13888" dirty="0">
                <a:latin typeface="Times New Roman"/>
                <a:cs typeface="Times New Roman"/>
              </a:rPr>
              <a:t> </a:t>
            </a:r>
            <a:r>
              <a:rPr sz="3000" baseline="13888" dirty="0">
                <a:latin typeface="Symbol"/>
                <a:cs typeface="Symbol"/>
              </a:rPr>
              <a:t></a:t>
            </a:r>
            <a:r>
              <a:rPr sz="1300" dirty="0">
                <a:latin typeface="Arial"/>
                <a:cs typeface="Arial"/>
              </a:rPr>
              <a:t>HoNV,</a:t>
            </a:r>
            <a:r>
              <a:rPr sz="1300" spc="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TenNV,</a:t>
            </a:r>
            <a:r>
              <a:rPr sz="1300" spc="3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Ten</a:t>
            </a:r>
            <a:r>
              <a:rPr sz="3000" spc="-15" baseline="13888" dirty="0">
                <a:latin typeface="Arial"/>
                <a:cs typeface="Arial"/>
              </a:rPr>
              <a:t>(Q4)</a:t>
            </a:r>
            <a:endParaRPr sz="3000" baseline="13888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1B231-6F57-853A-AA64-1393ACC20CD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Phép</a:t>
            </a:r>
            <a:r>
              <a:rPr spc="-20" dirty="0"/>
              <a:t> </a:t>
            </a:r>
            <a:r>
              <a:rPr spc="-25" dirty="0"/>
              <a:t>kết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87577"/>
            <a:ext cx="8147050" cy="2101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355600" algn="l"/>
              </a:tabLst>
            </a:pPr>
            <a:r>
              <a:rPr sz="3200" dirty="0">
                <a:latin typeface="Arial"/>
                <a:cs typeface="Arial"/>
              </a:rPr>
              <a:t>Để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kết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hợp</a:t>
            </a:r>
            <a:r>
              <a:rPr sz="3200" spc="-2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các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bộ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có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liên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quan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từ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hai</a:t>
            </a:r>
            <a:r>
              <a:rPr sz="3200" spc="-1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quan </a:t>
            </a:r>
            <a:r>
              <a:rPr sz="3200" spc="-25" dirty="0">
                <a:latin typeface="Arial"/>
                <a:cs typeface="Arial"/>
              </a:rPr>
              <a:t>hệ.</a:t>
            </a:r>
            <a:endParaRPr sz="32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354965" algn="l"/>
              </a:tabLst>
            </a:pPr>
            <a:r>
              <a:rPr sz="3200" dirty="0">
                <a:latin typeface="Arial"/>
                <a:cs typeface="Arial"/>
              </a:rPr>
              <a:t>Có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3</a:t>
            </a:r>
            <a:r>
              <a:rPr sz="3200" spc="-2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loại</a:t>
            </a:r>
            <a:endParaRPr sz="32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690"/>
              </a:spcBef>
              <a:buChar char="•"/>
              <a:tabLst>
                <a:tab pos="756285" algn="l"/>
              </a:tabLst>
            </a:pPr>
            <a:r>
              <a:rPr sz="2800" dirty="0">
                <a:latin typeface="Arial"/>
                <a:cs typeface="Arial"/>
              </a:rPr>
              <a:t>Kết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theta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(Theta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Join)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2044" y="3238880"/>
            <a:ext cx="474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-</a:t>
            </a:r>
            <a:r>
              <a:rPr sz="2400" spc="31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2977" y="3313557"/>
            <a:ext cx="939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"/>
                <a:cs typeface="Arial"/>
              </a:rPr>
              <a:t>&lt;ĐK&gt;</a:t>
            </a:r>
            <a:r>
              <a:rPr sz="1600" spc="-40" dirty="0">
                <a:latin typeface="Arial"/>
                <a:cs typeface="Arial"/>
              </a:rPr>
              <a:t> </a:t>
            </a:r>
            <a:r>
              <a:rPr sz="3600" spc="-52" baseline="13888" dirty="0">
                <a:latin typeface="Arial"/>
                <a:cs typeface="Arial"/>
              </a:rPr>
              <a:t>S.</a:t>
            </a:r>
            <a:endParaRPr sz="3600" baseline="13888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3605192"/>
            <a:ext cx="4486275" cy="192786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670"/>
              </a:spcBef>
            </a:pPr>
            <a:r>
              <a:rPr sz="2400" dirty="0">
                <a:latin typeface="Arial"/>
                <a:cs typeface="Arial"/>
              </a:rPr>
              <a:t>-</a:t>
            </a:r>
            <a:r>
              <a:rPr sz="2400" spc="3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&lt;ĐK&gt;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biểu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thức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logic.</a:t>
            </a:r>
            <a:endParaRPr sz="24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660"/>
              </a:spcBef>
              <a:buChar char="•"/>
              <a:tabLst>
                <a:tab pos="299085" algn="l"/>
              </a:tabLst>
            </a:pPr>
            <a:r>
              <a:rPr sz="2800" dirty="0">
                <a:latin typeface="Arial"/>
                <a:cs typeface="Arial"/>
              </a:rPr>
              <a:t>Kết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bằng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(Equi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Join)</a:t>
            </a:r>
            <a:endParaRPr sz="2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670"/>
              </a:spcBef>
              <a:buChar char="•"/>
              <a:tabLst>
                <a:tab pos="299085" algn="l"/>
              </a:tabLst>
            </a:pPr>
            <a:r>
              <a:rPr sz="2800" dirty="0">
                <a:latin typeface="Arial"/>
                <a:cs typeface="Arial"/>
              </a:rPr>
              <a:t>Kết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tự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nhiên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(Natural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Join)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95"/>
              </a:spcBef>
              <a:tabLst>
                <a:tab pos="1256665" algn="l"/>
              </a:tabLst>
            </a:pPr>
            <a:r>
              <a:rPr sz="2400" dirty="0">
                <a:latin typeface="Arial"/>
                <a:cs typeface="Arial"/>
              </a:rPr>
              <a:t>-</a:t>
            </a:r>
            <a:r>
              <a:rPr sz="2400" spc="33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R</a:t>
            </a:r>
            <a:r>
              <a:rPr sz="2400" dirty="0">
                <a:latin typeface="Arial"/>
                <a:cs typeface="Arial"/>
              </a:rPr>
              <a:t>	S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hoặc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*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S.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7649" y="3376993"/>
            <a:ext cx="161925" cy="1619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6793" y="5262181"/>
            <a:ext cx="161925" cy="161925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8D6F3D-31E8-7C5C-FF2C-794E5F45048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Phép</a:t>
            </a:r>
            <a:r>
              <a:rPr sz="3600" spc="-30" dirty="0"/>
              <a:t> </a:t>
            </a:r>
            <a:r>
              <a:rPr sz="3600" dirty="0"/>
              <a:t>kết</a:t>
            </a:r>
            <a:r>
              <a:rPr sz="3600" spc="-5" dirty="0"/>
              <a:t> </a:t>
            </a:r>
            <a:r>
              <a:rPr sz="3600" spc="-10" dirty="0"/>
              <a:t>theta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294640" y="1019899"/>
            <a:ext cx="5707380" cy="276987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367665" algn="l"/>
              </a:tabLst>
            </a:pPr>
            <a:r>
              <a:rPr sz="2400" dirty="0">
                <a:latin typeface="Arial"/>
                <a:cs typeface="Arial"/>
              </a:rPr>
              <a:t>Biểu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thức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điều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kiện</a:t>
            </a:r>
            <a:endParaRPr sz="2400">
              <a:latin typeface="Arial"/>
              <a:cs typeface="Arial"/>
            </a:endParaRPr>
          </a:p>
          <a:p>
            <a:pPr marL="768985" lvl="1" indent="-286385">
              <a:lnSpc>
                <a:spcPct val="100000"/>
              </a:lnSpc>
              <a:spcBef>
                <a:spcPts val="484"/>
              </a:spcBef>
              <a:buChar char="•"/>
              <a:tabLst>
                <a:tab pos="768985" algn="l"/>
              </a:tabLst>
            </a:pPr>
            <a:r>
              <a:rPr sz="2000" dirty="0">
                <a:latin typeface="Arial"/>
                <a:cs typeface="Arial"/>
              </a:rPr>
              <a:t>Chứa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mệnh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đề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có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dạng</a:t>
            </a:r>
            <a:endParaRPr sz="2000">
              <a:latin typeface="Arial"/>
              <a:cs typeface="Arial"/>
            </a:endParaRPr>
          </a:p>
          <a:p>
            <a:pPr marR="2113280" algn="r">
              <a:lnSpc>
                <a:spcPct val="100000"/>
              </a:lnSpc>
              <a:spcBef>
                <a:spcPts val="440"/>
              </a:spcBef>
              <a:tabLst>
                <a:tab pos="227965" algn="l"/>
              </a:tabLst>
            </a:pPr>
            <a:r>
              <a:rPr sz="1800" spc="-50" dirty="0">
                <a:latin typeface="Arial"/>
                <a:cs typeface="Arial"/>
              </a:rPr>
              <a:t>-</a:t>
            </a:r>
            <a:r>
              <a:rPr sz="1800" dirty="0">
                <a:latin typeface="Arial"/>
                <a:cs typeface="Arial"/>
              </a:rPr>
              <a:t>	A</a:t>
            </a:r>
            <a:r>
              <a:rPr sz="1800" baseline="-20833" dirty="0">
                <a:latin typeface="Arial"/>
                <a:cs typeface="Arial"/>
              </a:rPr>
              <a:t>i</a:t>
            </a:r>
            <a:r>
              <a:rPr sz="1800" spc="232" baseline="-20833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&lt;toán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tử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so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sánh&gt;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B</a:t>
            </a:r>
            <a:r>
              <a:rPr sz="1800" spc="-37" baseline="-20833" dirty="0">
                <a:latin typeface="Arial"/>
                <a:cs typeface="Arial"/>
              </a:rPr>
              <a:t>j</a:t>
            </a:r>
            <a:r>
              <a:rPr sz="1800" spc="-25" dirty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R="2099310" algn="r">
              <a:lnSpc>
                <a:spcPct val="100000"/>
              </a:lnSpc>
              <a:spcBef>
                <a:spcPts val="395"/>
              </a:spcBef>
            </a:pPr>
            <a:r>
              <a:rPr sz="1600" dirty="0">
                <a:latin typeface="Arial"/>
                <a:cs typeface="Arial"/>
              </a:rPr>
              <a:t>+</a:t>
            </a:r>
            <a:r>
              <a:rPr sz="1600" spc="39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575" baseline="-21164" dirty="0">
                <a:latin typeface="Arial"/>
                <a:cs typeface="Arial"/>
              </a:rPr>
              <a:t>i</a:t>
            </a:r>
            <a:r>
              <a:rPr sz="1575" spc="195" baseline="-21164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là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thuộc tính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của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R.</a:t>
            </a:r>
            <a:endParaRPr sz="1600">
              <a:latin typeface="Arial"/>
              <a:cs typeface="Arial"/>
            </a:endParaRPr>
          </a:p>
          <a:p>
            <a:pPr marR="2110105" algn="r">
              <a:lnSpc>
                <a:spcPct val="100000"/>
              </a:lnSpc>
              <a:spcBef>
                <a:spcPts val="384"/>
              </a:spcBef>
            </a:pPr>
            <a:r>
              <a:rPr sz="1600" dirty="0">
                <a:latin typeface="Arial"/>
                <a:cs typeface="Arial"/>
              </a:rPr>
              <a:t>+</a:t>
            </a:r>
            <a:r>
              <a:rPr sz="1600" spc="39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B</a:t>
            </a:r>
            <a:r>
              <a:rPr sz="1575" baseline="-21164" dirty="0">
                <a:latin typeface="Arial"/>
                <a:cs typeface="Arial"/>
              </a:rPr>
              <a:t>j</a:t>
            </a:r>
            <a:r>
              <a:rPr sz="1575" spc="195" baseline="-21164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là</a:t>
            </a:r>
            <a:r>
              <a:rPr sz="1600" spc="-3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thuộc tính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của</a:t>
            </a:r>
            <a:r>
              <a:rPr sz="1600" spc="-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S.</a:t>
            </a:r>
            <a:endParaRPr sz="1600">
              <a:latin typeface="Arial"/>
              <a:cs typeface="Arial"/>
            </a:endParaRPr>
          </a:p>
          <a:p>
            <a:pPr marL="1397000">
              <a:lnSpc>
                <a:spcPct val="100000"/>
              </a:lnSpc>
              <a:spcBef>
                <a:spcPts val="380"/>
              </a:spcBef>
            </a:pPr>
            <a:r>
              <a:rPr sz="1600" dirty="0">
                <a:latin typeface="Arial"/>
                <a:cs typeface="Arial"/>
              </a:rPr>
              <a:t>+</a:t>
            </a:r>
            <a:r>
              <a:rPr sz="1600" spc="40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Miền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giá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A</a:t>
            </a:r>
            <a:r>
              <a:rPr sz="1575" baseline="-21164" dirty="0">
                <a:latin typeface="Arial"/>
                <a:cs typeface="Arial"/>
              </a:rPr>
              <a:t>i</a:t>
            </a:r>
            <a:r>
              <a:rPr sz="1575" spc="187" baseline="-21164" dirty="0">
                <a:latin typeface="Arial"/>
                <a:cs typeface="Arial"/>
              </a:rPr>
              <a:t> </a:t>
            </a:r>
            <a:r>
              <a:rPr sz="1600" dirty="0">
                <a:latin typeface="Symbol"/>
                <a:cs typeface="Symbol"/>
              </a:rPr>
              <a:t>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Arial"/>
                <a:cs typeface="Arial"/>
              </a:rPr>
              <a:t>Miền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giá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trị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B</a:t>
            </a:r>
            <a:r>
              <a:rPr sz="1575" spc="-37" baseline="-21164" dirty="0">
                <a:latin typeface="Arial"/>
                <a:cs typeface="Arial"/>
              </a:rPr>
              <a:t>j</a:t>
            </a:r>
            <a:r>
              <a:rPr sz="1600" spc="-25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 marL="768985" lvl="1" indent="-286385">
              <a:lnSpc>
                <a:spcPct val="100000"/>
              </a:lnSpc>
              <a:spcBef>
                <a:spcPts val="470"/>
              </a:spcBef>
              <a:buChar char="•"/>
              <a:tabLst>
                <a:tab pos="768985" algn="l"/>
              </a:tabLst>
            </a:pPr>
            <a:r>
              <a:rPr sz="2000" dirty="0">
                <a:latin typeface="Arial"/>
                <a:cs typeface="Arial"/>
              </a:rPr>
              <a:t>Toán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tử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sánh: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&lt;,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≤,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&gt;,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≥,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≠.</a:t>
            </a:r>
            <a:endParaRPr sz="2000">
              <a:latin typeface="Arial"/>
              <a:cs typeface="Arial"/>
            </a:endParaRPr>
          </a:p>
          <a:p>
            <a:pPr marL="768985" lvl="1" indent="-286385">
              <a:lnSpc>
                <a:spcPct val="100000"/>
              </a:lnSpc>
              <a:spcBef>
                <a:spcPts val="480"/>
              </a:spcBef>
              <a:buChar char="•"/>
              <a:tabLst>
                <a:tab pos="768985" algn="l"/>
              </a:tabLst>
            </a:pPr>
            <a:r>
              <a:rPr sz="2000" dirty="0">
                <a:latin typeface="Arial"/>
                <a:cs typeface="Arial"/>
              </a:rPr>
              <a:t>Các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mệnh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đề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được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nối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bởi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toán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tử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logic: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25" dirty="0">
                <a:latin typeface="Symbol"/>
                <a:cs typeface="Symbol"/>
              </a:rPr>
              <a:t></a:t>
            </a:r>
            <a:r>
              <a:rPr sz="2000" spc="-25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74650" y="4093209"/>
          <a:ext cx="2187575" cy="1842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660650" y="4093209"/>
          <a:ext cx="1681480" cy="14744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4419600" y="4533900"/>
            <a:ext cx="1676400" cy="76200"/>
          </a:xfrm>
          <a:custGeom>
            <a:avLst/>
            <a:gdLst/>
            <a:ahLst/>
            <a:cxnLst/>
            <a:rect l="l" t="t" r="r" b="b"/>
            <a:pathLst>
              <a:path w="1676400" h="76200">
                <a:moveTo>
                  <a:pt x="1600200" y="0"/>
                </a:moveTo>
                <a:lnTo>
                  <a:pt x="1600200" y="76200"/>
                </a:lnTo>
                <a:lnTo>
                  <a:pt x="1663700" y="44450"/>
                </a:lnTo>
                <a:lnTo>
                  <a:pt x="1612900" y="44450"/>
                </a:lnTo>
                <a:lnTo>
                  <a:pt x="1612900" y="31750"/>
                </a:lnTo>
                <a:lnTo>
                  <a:pt x="1663700" y="31750"/>
                </a:lnTo>
                <a:lnTo>
                  <a:pt x="1600200" y="0"/>
                </a:lnTo>
                <a:close/>
              </a:path>
              <a:path w="1676400" h="76200">
                <a:moveTo>
                  <a:pt x="16002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600200" y="44450"/>
                </a:lnTo>
                <a:lnTo>
                  <a:pt x="1600200" y="31750"/>
                </a:lnTo>
                <a:close/>
              </a:path>
              <a:path w="1676400" h="76200">
                <a:moveTo>
                  <a:pt x="1663700" y="31750"/>
                </a:moveTo>
                <a:lnTo>
                  <a:pt x="1612900" y="31750"/>
                </a:lnTo>
                <a:lnTo>
                  <a:pt x="1612900" y="44450"/>
                </a:lnTo>
                <a:lnTo>
                  <a:pt x="1663700" y="44450"/>
                </a:lnTo>
                <a:lnTo>
                  <a:pt x="1676400" y="38100"/>
                </a:lnTo>
                <a:lnTo>
                  <a:pt x="16637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463288" y="4147566"/>
            <a:ext cx="184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40223" y="4203954"/>
            <a:ext cx="1159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Verdana"/>
                <a:cs typeface="Verdana"/>
              </a:rPr>
              <a:t>A=E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dirty="0">
                <a:latin typeface="Symbol"/>
                <a:cs typeface="Symbol"/>
              </a:rPr>
              <a:t>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Verdana"/>
                <a:cs typeface="Verdana"/>
              </a:rPr>
              <a:t>C&lt;F</a:t>
            </a:r>
            <a:r>
              <a:rPr sz="1200" spc="190" dirty="0">
                <a:latin typeface="Verdana"/>
                <a:cs typeface="Verdana"/>
              </a:rPr>
              <a:t> </a:t>
            </a:r>
            <a:r>
              <a:rPr sz="2700" spc="-75" baseline="13888" dirty="0">
                <a:latin typeface="Verdana"/>
                <a:cs typeface="Verdana"/>
              </a:rPr>
              <a:t>S</a:t>
            </a:r>
            <a:endParaRPr sz="2700" baseline="13888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1349" y="4215193"/>
            <a:ext cx="161925" cy="161925"/>
          </a:xfrm>
          <a:prstGeom prst="rect">
            <a:avLst/>
          </a:prstGeom>
        </p:spPr>
      </p:pic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242050" y="4108450"/>
          <a:ext cx="2639060" cy="11106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8097448-4F7C-DA2F-D07F-C59E8704ED5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Phép</a:t>
            </a:r>
            <a:r>
              <a:rPr spc="-40" dirty="0"/>
              <a:t> </a:t>
            </a:r>
            <a:r>
              <a:rPr dirty="0"/>
              <a:t>kết</a:t>
            </a:r>
            <a:r>
              <a:rPr spc="-35" dirty="0"/>
              <a:t> </a:t>
            </a:r>
            <a:r>
              <a:rPr spc="-20" dirty="0"/>
              <a:t>bằng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92453"/>
            <a:ext cx="833310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Tất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cả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toán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tử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sánh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biểu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thức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điều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kiện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đều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là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400" spc="-25" dirty="0">
                <a:latin typeface="Arial"/>
                <a:cs typeface="Arial"/>
              </a:rPr>
              <a:t>=.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4092702"/>
            <a:ext cx="82988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Trong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mỗi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bộ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luôn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một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hoặc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nhiều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cặp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có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giá </a:t>
            </a:r>
            <a:r>
              <a:rPr sz="2400" dirty="0">
                <a:latin typeface="Arial"/>
                <a:cs typeface="Arial"/>
              </a:rPr>
              <a:t>trị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giống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nhau.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74650" y="2051050"/>
          <a:ext cx="2187575" cy="1842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0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660650" y="2051050"/>
          <a:ext cx="1681480" cy="14757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4419600" y="2491739"/>
            <a:ext cx="1676400" cy="76200"/>
          </a:xfrm>
          <a:custGeom>
            <a:avLst/>
            <a:gdLst/>
            <a:ahLst/>
            <a:cxnLst/>
            <a:rect l="l" t="t" r="r" b="b"/>
            <a:pathLst>
              <a:path w="1676400" h="76200">
                <a:moveTo>
                  <a:pt x="1600200" y="0"/>
                </a:moveTo>
                <a:lnTo>
                  <a:pt x="1600200" y="76200"/>
                </a:lnTo>
                <a:lnTo>
                  <a:pt x="1663700" y="44450"/>
                </a:lnTo>
                <a:lnTo>
                  <a:pt x="1612900" y="44450"/>
                </a:lnTo>
                <a:lnTo>
                  <a:pt x="1612900" y="31750"/>
                </a:lnTo>
                <a:lnTo>
                  <a:pt x="1663700" y="31750"/>
                </a:lnTo>
                <a:lnTo>
                  <a:pt x="1600200" y="0"/>
                </a:lnTo>
                <a:close/>
              </a:path>
              <a:path w="1676400" h="76200">
                <a:moveTo>
                  <a:pt x="16002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600200" y="44450"/>
                </a:lnTo>
                <a:lnTo>
                  <a:pt x="1600200" y="31750"/>
                </a:lnTo>
                <a:close/>
              </a:path>
              <a:path w="1676400" h="76200">
                <a:moveTo>
                  <a:pt x="1663700" y="31750"/>
                </a:moveTo>
                <a:lnTo>
                  <a:pt x="1612900" y="31750"/>
                </a:lnTo>
                <a:lnTo>
                  <a:pt x="1612900" y="44450"/>
                </a:lnTo>
                <a:lnTo>
                  <a:pt x="1663700" y="44450"/>
                </a:lnTo>
                <a:lnTo>
                  <a:pt x="1676400" y="38100"/>
                </a:lnTo>
                <a:lnTo>
                  <a:pt x="16637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463288" y="2105405"/>
            <a:ext cx="184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40223" y="2161794"/>
            <a:ext cx="1159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Verdana"/>
                <a:cs typeface="Verdana"/>
              </a:rPr>
              <a:t>A=E</a:t>
            </a:r>
            <a:r>
              <a:rPr sz="1200" spc="-5" dirty="0">
                <a:latin typeface="Verdana"/>
                <a:cs typeface="Verdana"/>
              </a:rPr>
              <a:t> </a:t>
            </a:r>
            <a:r>
              <a:rPr sz="1200" dirty="0">
                <a:latin typeface="Symbol"/>
                <a:cs typeface="Symbol"/>
              </a:rPr>
              <a:t>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Verdana"/>
                <a:cs typeface="Verdana"/>
              </a:rPr>
              <a:t>C=F</a:t>
            </a:r>
            <a:r>
              <a:rPr sz="1200" spc="190" dirty="0">
                <a:latin typeface="Verdana"/>
                <a:cs typeface="Verdana"/>
              </a:rPr>
              <a:t> </a:t>
            </a:r>
            <a:r>
              <a:rPr sz="2700" spc="-75" baseline="13888" dirty="0">
                <a:latin typeface="Verdana"/>
                <a:cs typeface="Verdana"/>
              </a:rPr>
              <a:t>S</a:t>
            </a:r>
            <a:endParaRPr sz="2700" baseline="13888">
              <a:latin typeface="Verdana"/>
              <a:cs typeface="Verdan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1349" y="2173033"/>
            <a:ext cx="161925" cy="161925"/>
          </a:xfrm>
          <a:prstGeom prst="rect">
            <a:avLst/>
          </a:prstGeom>
        </p:spPr>
      </p:pic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242050" y="2066289"/>
          <a:ext cx="2639060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91A6058-4563-2C40-5CD6-CEC1AC3C52F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Phép</a:t>
            </a:r>
            <a:r>
              <a:rPr spc="-30" dirty="0"/>
              <a:t> </a:t>
            </a:r>
            <a:r>
              <a:rPr dirty="0"/>
              <a:t>kết</a:t>
            </a:r>
            <a:r>
              <a:rPr spc="-25" dirty="0"/>
              <a:t> </a:t>
            </a:r>
            <a:r>
              <a:rPr dirty="0"/>
              <a:t>tự</a:t>
            </a:r>
            <a:r>
              <a:rPr spc="-30" dirty="0"/>
              <a:t> </a:t>
            </a:r>
            <a:r>
              <a:rPr spc="-10" dirty="0"/>
              <a:t>nhiên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1940" y="4092702"/>
            <a:ext cx="8480425" cy="175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marR="36576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81000" algn="l"/>
              </a:tabLst>
            </a:pPr>
            <a:r>
              <a:rPr sz="2400" dirty="0">
                <a:latin typeface="Arial"/>
                <a:cs typeface="Arial"/>
              </a:rPr>
              <a:t>Nếu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cặp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không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cùng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tên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thì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phải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thực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hiện </a:t>
            </a:r>
            <a:r>
              <a:rPr sz="2400" dirty="0">
                <a:latin typeface="Arial"/>
                <a:cs typeface="Arial"/>
              </a:rPr>
              <a:t>phép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toán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đổi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tên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trước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khi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kết.</a:t>
            </a:r>
            <a:endParaRPr sz="2400">
              <a:latin typeface="Arial"/>
              <a:cs typeface="Arial"/>
            </a:endParaRPr>
          </a:p>
          <a:p>
            <a:pPr marL="781685" lvl="1" indent="-286385">
              <a:lnSpc>
                <a:spcPct val="100000"/>
              </a:lnSpc>
              <a:spcBef>
                <a:spcPts val="484"/>
              </a:spcBef>
              <a:buChar char="•"/>
              <a:tabLst>
                <a:tab pos="781685" algn="l"/>
              </a:tabLst>
            </a:pPr>
            <a:r>
              <a:rPr sz="2000" dirty="0">
                <a:latin typeface="Arial"/>
                <a:cs typeface="Arial"/>
              </a:rPr>
              <a:t>R(A,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C)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và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S(E,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F),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muốn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kết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tự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nhiên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trên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2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cặp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(A,</a:t>
            </a:r>
            <a:r>
              <a:rPr sz="2000" spc="-25" dirty="0">
                <a:latin typeface="Arial"/>
                <a:cs typeface="Arial"/>
              </a:rPr>
              <a:t> E)</a:t>
            </a:r>
            <a:endParaRPr sz="2000">
              <a:latin typeface="Arial"/>
              <a:cs typeface="Arial"/>
            </a:endParaRPr>
          </a:p>
          <a:p>
            <a:pPr marL="781685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và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(C,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F).</a:t>
            </a:r>
            <a:endParaRPr sz="2000">
              <a:latin typeface="Arial"/>
              <a:cs typeface="Arial"/>
            </a:endParaRPr>
          </a:p>
          <a:p>
            <a:pPr marL="952500">
              <a:lnSpc>
                <a:spcPct val="100000"/>
              </a:lnSpc>
              <a:spcBef>
                <a:spcPts val="440"/>
              </a:spcBef>
              <a:tabLst>
                <a:tab pos="1181100" algn="l"/>
                <a:tab pos="1726564" algn="l"/>
              </a:tabLst>
            </a:pPr>
            <a:r>
              <a:rPr sz="1800" spc="-50" dirty="0">
                <a:latin typeface="Arial"/>
                <a:cs typeface="Arial"/>
              </a:rPr>
              <a:t>-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50" dirty="0">
                <a:latin typeface="Arial"/>
                <a:cs typeface="Arial"/>
              </a:rPr>
              <a:t>R</a:t>
            </a:r>
            <a:r>
              <a:rPr sz="1800" dirty="0">
                <a:latin typeface="Arial"/>
                <a:cs typeface="Arial"/>
              </a:rPr>
              <a:t>	(</a:t>
            </a:r>
            <a:r>
              <a:rPr sz="1800" dirty="0">
                <a:latin typeface="Symbol"/>
                <a:cs typeface="Symbol"/>
              </a:rPr>
              <a:t></a:t>
            </a:r>
            <a:r>
              <a:rPr sz="1800" baseline="-20833" dirty="0">
                <a:latin typeface="Arial"/>
                <a:cs typeface="Arial"/>
              </a:rPr>
              <a:t>(A,</a:t>
            </a:r>
            <a:r>
              <a:rPr sz="1800" spc="-22" baseline="-20833" dirty="0">
                <a:latin typeface="Arial"/>
                <a:cs typeface="Arial"/>
              </a:rPr>
              <a:t> </a:t>
            </a:r>
            <a:r>
              <a:rPr sz="1800" spc="-15" baseline="-20833" dirty="0">
                <a:latin typeface="Arial"/>
                <a:cs typeface="Arial"/>
              </a:rPr>
              <a:t>C)</a:t>
            </a:r>
            <a:r>
              <a:rPr sz="1800" spc="-10" dirty="0">
                <a:latin typeface="Arial"/>
                <a:cs typeface="Arial"/>
              </a:rPr>
              <a:t>(S)).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74650" y="2112010"/>
          <a:ext cx="2187575" cy="1842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660650" y="2112010"/>
          <a:ext cx="1681480" cy="1473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07340" y="1092453"/>
            <a:ext cx="8296275" cy="1373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Là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phép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bằng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cặp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trong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mệnh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đề </a:t>
            </a:r>
            <a:r>
              <a:rPr sz="2400" dirty="0">
                <a:latin typeface="Arial"/>
                <a:cs typeface="Arial"/>
              </a:rPr>
              <a:t>phải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cùng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tên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cùng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miền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giá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trị.</a:t>
            </a:r>
            <a:endParaRPr sz="2400">
              <a:latin typeface="Arial"/>
              <a:cs typeface="Arial"/>
            </a:endParaRPr>
          </a:p>
          <a:p>
            <a:pPr marL="1524000" algn="ctr">
              <a:lnSpc>
                <a:spcPct val="100000"/>
              </a:lnSpc>
              <a:spcBef>
                <a:spcPts val="2690"/>
              </a:spcBef>
              <a:tabLst>
                <a:tab pos="2006600" algn="l"/>
              </a:tabLst>
            </a:pPr>
            <a:r>
              <a:rPr sz="1800" spc="-50" dirty="0">
                <a:latin typeface="Verdana"/>
                <a:cs typeface="Verdana"/>
              </a:rPr>
              <a:t>R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50" dirty="0"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19600" y="2552700"/>
            <a:ext cx="1676400" cy="76200"/>
          </a:xfrm>
          <a:custGeom>
            <a:avLst/>
            <a:gdLst/>
            <a:ahLst/>
            <a:cxnLst/>
            <a:rect l="l" t="t" r="r" b="b"/>
            <a:pathLst>
              <a:path w="1676400" h="76200">
                <a:moveTo>
                  <a:pt x="1600200" y="0"/>
                </a:moveTo>
                <a:lnTo>
                  <a:pt x="1600200" y="76200"/>
                </a:lnTo>
                <a:lnTo>
                  <a:pt x="1663700" y="44450"/>
                </a:lnTo>
                <a:lnTo>
                  <a:pt x="1612900" y="44450"/>
                </a:lnTo>
                <a:lnTo>
                  <a:pt x="1612900" y="31750"/>
                </a:lnTo>
                <a:lnTo>
                  <a:pt x="1663700" y="31750"/>
                </a:lnTo>
                <a:lnTo>
                  <a:pt x="1600200" y="0"/>
                </a:lnTo>
                <a:close/>
              </a:path>
              <a:path w="1676400" h="76200">
                <a:moveTo>
                  <a:pt x="16002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600200" y="44450"/>
                </a:lnTo>
                <a:lnTo>
                  <a:pt x="1600200" y="31750"/>
                </a:lnTo>
                <a:close/>
              </a:path>
              <a:path w="1676400" h="76200">
                <a:moveTo>
                  <a:pt x="1663700" y="31750"/>
                </a:moveTo>
                <a:lnTo>
                  <a:pt x="1612900" y="31750"/>
                </a:lnTo>
                <a:lnTo>
                  <a:pt x="1612900" y="44450"/>
                </a:lnTo>
                <a:lnTo>
                  <a:pt x="1663700" y="44450"/>
                </a:lnTo>
                <a:lnTo>
                  <a:pt x="1676400" y="38100"/>
                </a:lnTo>
                <a:lnTo>
                  <a:pt x="16637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9593" y="2233993"/>
            <a:ext cx="161925" cy="161925"/>
          </a:xfrm>
          <a:prstGeom prst="rect">
            <a:avLst/>
          </a:prstGeom>
        </p:spPr>
      </p:pic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277102" y="2112010"/>
          <a:ext cx="1654175" cy="1109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4121" y="5615749"/>
            <a:ext cx="161925" cy="161925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66B767B-1F11-4D99-FB90-8537C982186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Phép</a:t>
            </a:r>
            <a:r>
              <a:rPr spc="-60" dirty="0"/>
              <a:t> </a:t>
            </a:r>
            <a:r>
              <a:rPr dirty="0"/>
              <a:t>chia</a:t>
            </a:r>
            <a:r>
              <a:rPr spc="-55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1940" y="1090624"/>
            <a:ext cx="8211184" cy="4466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0" marR="30480" indent="-3429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81000" algn="l"/>
              </a:tabLst>
            </a:pPr>
            <a:r>
              <a:rPr sz="2800" dirty="0">
                <a:latin typeface="Arial"/>
                <a:cs typeface="Arial"/>
              </a:rPr>
              <a:t>Để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rút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trích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bộ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của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một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quan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hệ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liên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quan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với </a:t>
            </a:r>
            <a:r>
              <a:rPr sz="2800" dirty="0">
                <a:latin typeface="Arial"/>
                <a:cs typeface="Arial"/>
              </a:rPr>
              <a:t>tất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cả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bộ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của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quan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hệ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còn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lại.</a:t>
            </a:r>
            <a:endParaRPr sz="2800">
              <a:latin typeface="Arial"/>
              <a:cs typeface="Arial"/>
            </a:endParaRPr>
          </a:p>
          <a:p>
            <a:pPr marL="380365" indent="-342265">
              <a:lnSpc>
                <a:spcPct val="100000"/>
              </a:lnSpc>
              <a:spcBef>
                <a:spcPts val="675"/>
              </a:spcBef>
              <a:buFont typeface="Wingdings"/>
              <a:buChar char=""/>
              <a:tabLst>
                <a:tab pos="380365" algn="l"/>
              </a:tabLst>
            </a:pPr>
            <a:r>
              <a:rPr sz="2800" dirty="0">
                <a:latin typeface="Arial"/>
                <a:cs typeface="Arial"/>
              </a:rPr>
              <a:t>Cho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2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quan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hệ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R(Z)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và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S(X)</a:t>
            </a:r>
            <a:endParaRPr sz="2800">
              <a:latin typeface="Arial"/>
              <a:cs typeface="Arial"/>
            </a:endParaRPr>
          </a:p>
          <a:p>
            <a:pPr marL="781685" lvl="1" indent="-286385">
              <a:lnSpc>
                <a:spcPct val="100000"/>
              </a:lnSpc>
              <a:spcBef>
                <a:spcPts val="595"/>
              </a:spcBef>
              <a:buChar char="•"/>
              <a:tabLst>
                <a:tab pos="781685" algn="l"/>
              </a:tabLst>
            </a:pPr>
            <a:r>
              <a:rPr sz="2400" dirty="0">
                <a:latin typeface="Arial"/>
                <a:cs typeface="Arial"/>
              </a:rPr>
              <a:t>Z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tập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hợp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R.</a:t>
            </a:r>
            <a:endParaRPr sz="2400">
              <a:latin typeface="Arial"/>
              <a:cs typeface="Arial"/>
            </a:endParaRPr>
          </a:p>
          <a:p>
            <a:pPr marL="781685" lvl="1" indent="-286385">
              <a:lnSpc>
                <a:spcPct val="100000"/>
              </a:lnSpc>
              <a:spcBef>
                <a:spcPts val="575"/>
              </a:spcBef>
              <a:buChar char="•"/>
              <a:tabLst>
                <a:tab pos="781685" algn="l"/>
              </a:tabLst>
            </a:pPr>
            <a:r>
              <a:rPr sz="2400" dirty="0">
                <a:latin typeface="Arial"/>
                <a:cs typeface="Arial"/>
              </a:rPr>
              <a:t>X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tập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hợp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thuộc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S.</a:t>
            </a:r>
            <a:endParaRPr sz="2400">
              <a:latin typeface="Arial"/>
              <a:cs typeface="Arial"/>
            </a:endParaRPr>
          </a:p>
          <a:p>
            <a:pPr marL="781685" lvl="1" indent="-286385">
              <a:lnSpc>
                <a:spcPct val="100000"/>
              </a:lnSpc>
              <a:spcBef>
                <a:spcPts val="580"/>
              </a:spcBef>
              <a:buChar char="•"/>
              <a:tabLst>
                <a:tab pos="781685" algn="l"/>
              </a:tabLst>
            </a:pPr>
            <a:r>
              <a:rPr sz="2400" dirty="0">
                <a:latin typeface="Arial"/>
                <a:cs typeface="Arial"/>
              </a:rPr>
              <a:t>X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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"/>
                <a:cs typeface="Arial"/>
              </a:rPr>
              <a:t>Z.</a:t>
            </a:r>
            <a:endParaRPr sz="2400">
              <a:latin typeface="Arial"/>
              <a:cs typeface="Arial"/>
            </a:endParaRPr>
          </a:p>
          <a:p>
            <a:pPr marL="286385" marR="2133600" lvl="1" indent="-286385" algn="r">
              <a:lnSpc>
                <a:spcPct val="100000"/>
              </a:lnSpc>
              <a:spcBef>
                <a:spcPts val="575"/>
              </a:spcBef>
              <a:buChar char="•"/>
              <a:tabLst>
                <a:tab pos="286385" algn="l"/>
              </a:tabLst>
            </a:pPr>
            <a:r>
              <a:rPr sz="2400" dirty="0">
                <a:latin typeface="Arial"/>
                <a:cs typeface="Arial"/>
              </a:rPr>
              <a:t>R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chia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là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T(Y)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Z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–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X.</a:t>
            </a:r>
            <a:endParaRPr sz="2400">
              <a:latin typeface="Arial"/>
              <a:cs typeface="Arial"/>
            </a:endParaRPr>
          </a:p>
          <a:p>
            <a:pPr marR="2139315" algn="r">
              <a:lnSpc>
                <a:spcPct val="100000"/>
              </a:lnSpc>
              <a:spcBef>
                <a:spcPts val="484"/>
              </a:spcBef>
              <a:tabLst>
                <a:tab pos="227965" algn="l"/>
              </a:tabLst>
            </a:pPr>
            <a:r>
              <a:rPr sz="2000" spc="-50" dirty="0">
                <a:latin typeface="Arial"/>
                <a:cs typeface="Arial"/>
              </a:rPr>
              <a:t>-</a:t>
            </a:r>
            <a:r>
              <a:rPr sz="2000" dirty="0">
                <a:latin typeface="Arial"/>
                <a:cs typeface="Arial"/>
              </a:rPr>
              <a:t>	T(Y)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=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{t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| t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</a:t>
            </a:r>
            <a:r>
              <a:rPr sz="1950" baseline="-21367" dirty="0">
                <a:latin typeface="Arial"/>
                <a:cs typeface="Arial"/>
              </a:rPr>
              <a:t>Y</a:t>
            </a:r>
            <a:r>
              <a:rPr sz="2000" dirty="0">
                <a:latin typeface="Arial"/>
                <a:cs typeface="Arial"/>
              </a:rPr>
              <a:t>(R)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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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u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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(t,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u)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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R}.</a:t>
            </a:r>
            <a:endParaRPr sz="2000">
              <a:latin typeface="Arial"/>
              <a:cs typeface="Arial"/>
            </a:endParaRPr>
          </a:p>
          <a:p>
            <a:pPr marL="380365" indent="-342265">
              <a:lnSpc>
                <a:spcPct val="100000"/>
              </a:lnSpc>
              <a:spcBef>
                <a:spcPts val="655"/>
              </a:spcBef>
              <a:buFont typeface="Wingdings"/>
              <a:buChar char=""/>
              <a:tabLst>
                <a:tab pos="380365" algn="l"/>
              </a:tabLst>
            </a:pPr>
            <a:r>
              <a:rPr sz="2800" dirty="0">
                <a:latin typeface="Arial"/>
                <a:cs typeface="Arial"/>
              </a:rPr>
              <a:t>Cú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pháp</a:t>
            </a:r>
            <a:endParaRPr sz="2800">
              <a:latin typeface="Arial"/>
              <a:cs typeface="Arial"/>
            </a:endParaRPr>
          </a:p>
          <a:p>
            <a:pPr marL="781685" lvl="1" indent="-286385">
              <a:lnSpc>
                <a:spcPct val="100000"/>
              </a:lnSpc>
              <a:spcBef>
                <a:spcPts val="590"/>
              </a:spcBef>
              <a:buChar char="•"/>
              <a:tabLst>
                <a:tab pos="781685" algn="l"/>
              </a:tabLst>
            </a:pPr>
            <a:r>
              <a:rPr sz="2400" dirty="0">
                <a:latin typeface="Arial"/>
                <a:cs typeface="Arial"/>
              </a:rPr>
              <a:t>R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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4747B-07AB-0EAA-37CD-C2DA7CBEDB3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Phép</a:t>
            </a:r>
            <a:r>
              <a:rPr spc="-60" dirty="0"/>
              <a:t> </a:t>
            </a:r>
            <a:r>
              <a:rPr dirty="0"/>
              <a:t>chia</a:t>
            </a:r>
            <a:r>
              <a:rPr spc="-55" dirty="0"/>
              <a:t> </a:t>
            </a:r>
            <a:r>
              <a:rPr spc="-25" dirty="0"/>
              <a:t>(2)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825997" y="1060450"/>
          <a:ext cx="3172460" cy="3350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4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14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14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0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70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8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22250" y="1060450"/>
          <a:ext cx="1654175" cy="2582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0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067302" y="1060450"/>
          <a:ext cx="1607185" cy="11106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514197" y="3744848"/>
            <a:ext cx="9886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spc="-15" baseline="13888" dirty="0">
                <a:latin typeface="Symbol"/>
                <a:cs typeface="Symbol"/>
              </a:rPr>
              <a:t></a:t>
            </a:r>
            <a:r>
              <a:rPr sz="1200" spc="-10" dirty="0">
                <a:latin typeface="Verdana"/>
                <a:cs typeface="Verdana"/>
              </a:rPr>
              <a:t>A,B,C</a:t>
            </a:r>
            <a:r>
              <a:rPr sz="2700" spc="-15" baseline="13888" dirty="0">
                <a:latin typeface="Verdana"/>
                <a:cs typeface="Verdana"/>
              </a:rPr>
              <a:t>(R)</a:t>
            </a:r>
            <a:endParaRPr sz="2700" baseline="13888">
              <a:latin typeface="Verdana"/>
              <a:cs typeface="Verdan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590545" y="5022850"/>
          <a:ext cx="2597785" cy="1097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3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Symbol"/>
                          <a:cs typeface="Symbol"/>
                        </a:rPr>
                        <a:t></a:t>
                      </a:r>
                      <a:r>
                        <a:rPr sz="18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50" dirty="0">
                          <a:latin typeface="Arial"/>
                          <a:cs typeface="Arial"/>
                        </a:rPr>
                        <a:t>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1903857" y="1670303"/>
            <a:ext cx="4132579" cy="4303395"/>
          </a:xfrm>
          <a:custGeom>
            <a:avLst/>
            <a:gdLst/>
            <a:ahLst/>
            <a:cxnLst/>
            <a:rect l="l" t="t" r="r" b="b"/>
            <a:pathLst>
              <a:path w="4132579" h="4303395">
                <a:moveTo>
                  <a:pt x="52324" y="694309"/>
                </a:moveTo>
                <a:lnTo>
                  <a:pt x="2286" y="685673"/>
                </a:lnTo>
                <a:lnTo>
                  <a:pt x="0" y="698119"/>
                </a:lnTo>
                <a:lnTo>
                  <a:pt x="50165" y="706882"/>
                </a:lnTo>
                <a:lnTo>
                  <a:pt x="52324" y="694309"/>
                </a:lnTo>
                <a:close/>
              </a:path>
              <a:path w="4132579" h="4303395">
                <a:moveTo>
                  <a:pt x="127762" y="14224"/>
                </a:moveTo>
                <a:lnTo>
                  <a:pt x="120777" y="12319"/>
                </a:lnTo>
                <a:lnTo>
                  <a:pt x="88646" y="2921"/>
                </a:lnTo>
                <a:lnTo>
                  <a:pt x="79121" y="0"/>
                </a:lnTo>
                <a:lnTo>
                  <a:pt x="75526" y="12319"/>
                </a:lnTo>
                <a:lnTo>
                  <a:pt x="75996" y="12319"/>
                </a:lnTo>
                <a:lnTo>
                  <a:pt x="117348" y="24511"/>
                </a:lnTo>
                <a:lnTo>
                  <a:pt x="124460" y="26416"/>
                </a:lnTo>
                <a:lnTo>
                  <a:pt x="127762" y="14224"/>
                </a:lnTo>
                <a:close/>
              </a:path>
              <a:path w="4132579" h="4303395">
                <a:moveTo>
                  <a:pt x="139827" y="709549"/>
                </a:moveTo>
                <a:lnTo>
                  <a:pt x="89789" y="700913"/>
                </a:lnTo>
                <a:lnTo>
                  <a:pt x="87630" y="713359"/>
                </a:lnTo>
                <a:lnTo>
                  <a:pt x="137668" y="722122"/>
                </a:lnTo>
                <a:lnTo>
                  <a:pt x="139827" y="709549"/>
                </a:lnTo>
                <a:close/>
              </a:path>
              <a:path w="4132579" h="4303395">
                <a:moveTo>
                  <a:pt x="213487" y="37592"/>
                </a:moveTo>
                <a:lnTo>
                  <a:pt x="164465" y="24384"/>
                </a:lnTo>
                <a:lnTo>
                  <a:pt x="161163" y="36576"/>
                </a:lnTo>
                <a:lnTo>
                  <a:pt x="210185" y="49911"/>
                </a:lnTo>
                <a:lnTo>
                  <a:pt x="213487" y="37592"/>
                </a:lnTo>
                <a:close/>
              </a:path>
              <a:path w="4132579" h="4303395">
                <a:moveTo>
                  <a:pt x="227457" y="724916"/>
                </a:moveTo>
                <a:lnTo>
                  <a:pt x="177419" y="716153"/>
                </a:lnTo>
                <a:lnTo>
                  <a:pt x="175260" y="728726"/>
                </a:lnTo>
                <a:lnTo>
                  <a:pt x="225298" y="737362"/>
                </a:lnTo>
                <a:lnTo>
                  <a:pt x="227457" y="724916"/>
                </a:lnTo>
                <a:close/>
              </a:path>
              <a:path w="4132579" h="4303395">
                <a:moveTo>
                  <a:pt x="299466" y="60452"/>
                </a:moveTo>
                <a:lnTo>
                  <a:pt x="250317" y="47371"/>
                </a:lnTo>
                <a:lnTo>
                  <a:pt x="247015" y="59690"/>
                </a:lnTo>
                <a:lnTo>
                  <a:pt x="292481" y="71628"/>
                </a:lnTo>
                <a:lnTo>
                  <a:pt x="296164" y="72644"/>
                </a:lnTo>
                <a:lnTo>
                  <a:pt x="299466" y="60452"/>
                </a:lnTo>
                <a:close/>
              </a:path>
              <a:path w="4132579" h="4303395">
                <a:moveTo>
                  <a:pt x="314960" y="740283"/>
                </a:moveTo>
                <a:lnTo>
                  <a:pt x="264922" y="731520"/>
                </a:lnTo>
                <a:lnTo>
                  <a:pt x="262763" y="743966"/>
                </a:lnTo>
                <a:lnTo>
                  <a:pt x="312801" y="752856"/>
                </a:lnTo>
                <a:lnTo>
                  <a:pt x="314960" y="740283"/>
                </a:lnTo>
                <a:close/>
              </a:path>
              <a:path w="4132579" h="4303395">
                <a:moveTo>
                  <a:pt x="385318" y="83185"/>
                </a:moveTo>
                <a:lnTo>
                  <a:pt x="336296" y="70231"/>
                </a:lnTo>
                <a:lnTo>
                  <a:pt x="332994" y="82423"/>
                </a:lnTo>
                <a:lnTo>
                  <a:pt x="382143" y="95504"/>
                </a:lnTo>
                <a:lnTo>
                  <a:pt x="385318" y="83185"/>
                </a:lnTo>
                <a:close/>
              </a:path>
              <a:path w="4132579" h="4303395">
                <a:moveTo>
                  <a:pt x="402590" y="755904"/>
                </a:moveTo>
                <a:lnTo>
                  <a:pt x="352552" y="747014"/>
                </a:lnTo>
                <a:lnTo>
                  <a:pt x="350266" y="759460"/>
                </a:lnTo>
                <a:lnTo>
                  <a:pt x="400304" y="768477"/>
                </a:lnTo>
                <a:lnTo>
                  <a:pt x="402590" y="755904"/>
                </a:lnTo>
                <a:close/>
              </a:path>
              <a:path w="4132579" h="4303395">
                <a:moveTo>
                  <a:pt x="471297" y="106045"/>
                </a:moveTo>
                <a:lnTo>
                  <a:pt x="422148" y="92964"/>
                </a:lnTo>
                <a:lnTo>
                  <a:pt x="418973" y="105283"/>
                </a:lnTo>
                <a:lnTo>
                  <a:pt x="467995" y="118364"/>
                </a:lnTo>
                <a:lnTo>
                  <a:pt x="471297" y="106045"/>
                </a:lnTo>
                <a:close/>
              </a:path>
              <a:path w="4132579" h="4303395">
                <a:moveTo>
                  <a:pt x="490093" y="771652"/>
                </a:moveTo>
                <a:lnTo>
                  <a:pt x="440055" y="762635"/>
                </a:lnTo>
                <a:lnTo>
                  <a:pt x="437769" y="775081"/>
                </a:lnTo>
                <a:lnTo>
                  <a:pt x="487807" y="784225"/>
                </a:lnTo>
                <a:lnTo>
                  <a:pt x="490093" y="771652"/>
                </a:lnTo>
                <a:close/>
              </a:path>
              <a:path w="4132579" h="4303395">
                <a:moveTo>
                  <a:pt x="557022" y="129413"/>
                </a:moveTo>
                <a:lnTo>
                  <a:pt x="508127" y="116078"/>
                </a:lnTo>
                <a:lnTo>
                  <a:pt x="504698" y="128270"/>
                </a:lnTo>
                <a:lnTo>
                  <a:pt x="553720" y="141732"/>
                </a:lnTo>
                <a:lnTo>
                  <a:pt x="557022" y="129413"/>
                </a:lnTo>
                <a:close/>
              </a:path>
              <a:path w="4132579" h="4303395">
                <a:moveTo>
                  <a:pt x="577469" y="787654"/>
                </a:moveTo>
                <a:lnTo>
                  <a:pt x="527558" y="778510"/>
                </a:lnTo>
                <a:lnTo>
                  <a:pt x="525272" y="790956"/>
                </a:lnTo>
                <a:lnTo>
                  <a:pt x="575183" y="800100"/>
                </a:lnTo>
                <a:lnTo>
                  <a:pt x="577469" y="787654"/>
                </a:lnTo>
                <a:close/>
              </a:path>
              <a:path w="4132579" h="4303395">
                <a:moveTo>
                  <a:pt x="642747" y="153289"/>
                </a:moveTo>
                <a:lnTo>
                  <a:pt x="593852" y="139573"/>
                </a:lnTo>
                <a:lnTo>
                  <a:pt x="590423" y="151765"/>
                </a:lnTo>
                <a:lnTo>
                  <a:pt x="639318" y="165481"/>
                </a:lnTo>
                <a:lnTo>
                  <a:pt x="642747" y="153289"/>
                </a:lnTo>
                <a:close/>
              </a:path>
              <a:path w="4132579" h="4303395">
                <a:moveTo>
                  <a:pt x="664972" y="804037"/>
                </a:moveTo>
                <a:lnTo>
                  <a:pt x="614934" y="794639"/>
                </a:lnTo>
                <a:lnTo>
                  <a:pt x="612648" y="807085"/>
                </a:lnTo>
                <a:lnTo>
                  <a:pt x="662559" y="816483"/>
                </a:lnTo>
                <a:lnTo>
                  <a:pt x="664972" y="804037"/>
                </a:lnTo>
                <a:close/>
              </a:path>
              <a:path w="4132579" h="4303395">
                <a:moveTo>
                  <a:pt x="728218" y="177800"/>
                </a:moveTo>
                <a:lnTo>
                  <a:pt x="679450" y="163703"/>
                </a:lnTo>
                <a:lnTo>
                  <a:pt x="676021" y="175895"/>
                </a:lnTo>
                <a:lnTo>
                  <a:pt x="724662" y="189992"/>
                </a:lnTo>
                <a:lnTo>
                  <a:pt x="728218" y="177800"/>
                </a:lnTo>
                <a:close/>
              </a:path>
              <a:path w="4132579" h="4303395">
                <a:moveTo>
                  <a:pt x="752348" y="820674"/>
                </a:moveTo>
                <a:lnTo>
                  <a:pt x="702437" y="811022"/>
                </a:lnTo>
                <a:lnTo>
                  <a:pt x="700024" y="823595"/>
                </a:lnTo>
                <a:lnTo>
                  <a:pt x="749808" y="833120"/>
                </a:lnTo>
                <a:lnTo>
                  <a:pt x="752348" y="820674"/>
                </a:lnTo>
                <a:close/>
              </a:path>
              <a:path w="4132579" h="4303395">
                <a:moveTo>
                  <a:pt x="813562" y="203200"/>
                </a:moveTo>
                <a:lnTo>
                  <a:pt x="764794" y="188468"/>
                </a:lnTo>
                <a:lnTo>
                  <a:pt x="761238" y="200660"/>
                </a:lnTo>
                <a:lnTo>
                  <a:pt x="809879" y="215265"/>
                </a:lnTo>
                <a:lnTo>
                  <a:pt x="813562" y="203200"/>
                </a:lnTo>
                <a:close/>
              </a:path>
              <a:path w="4132579" h="4303395">
                <a:moveTo>
                  <a:pt x="839597" y="837819"/>
                </a:moveTo>
                <a:lnTo>
                  <a:pt x="792607" y="828548"/>
                </a:lnTo>
                <a:lnTo>
                  <a:pt x="789686" y="827913"/>
                </a:lnTo>
                <a:lnTo>
                  <a:pt x="787273" y="840486"/>
                </a:lnTo>
                <a:lnTo>
                  <a:pt x="790194" y="840994"/>
                </a:lnTo>
                <a:lnTo>
                  <a:pt x="837057" y="850265"/>
                </a:lnTo>
                <a:lnTo>
                  <a:pt x="839597" y="837819"/>
                </a:lnTo>
                <a:close/>
              </a:path>
              <a:path w="4132579" h="4303395">
                <a:moveTo>
                  <a:pt x="898525" y="229489"/>
                </a:moveTo>
                <a:lnTo>
                  <a:pt x="864489" y="218567"/>
                </a:lnTo>
                <a:lnTo>
                  <a:pt x="850011" y="214249"/>
                </a:lnTo>
                <a:lnTo>
                  <a:pt x="846328" y="226441"/>
                </a:lnTo>
                <a:lnTo>
                  <a:pt x="860679" y="230759"/>
                </a:lnTo>
                <a:lnTo>
                  <a:pt x="894715" y="241554"/>
                </a:lnTo>
                <a:lnTo>
                  <a:pt x="898525" y="229489"/>
                </a:lnTo>
                <a:close/>
              </a:path>
              <a:path w="4132579" h="4303395">
                <a:moveTo>
                  <a:pt x="926719" y="854964"/>
                </a:moveTo>
                <a:lnTo>
                  <a:pt x="887476" y="847344"/>
                </a:lnTo>
                <a:lnTo>
                  <a:pt x="876935" y="845185"/>
                </a:lnTo>
                <a:lnTo>
                  <a:pt x="874395" y="857631"/>
                </a:lnTo>
                <a:lnTo>
                  <a:pt x="924306" y="867410"/>
                </a:lnTo>
                <a:lnTo>
                  <a:pt x="926719" y="854964"/>
                </a:lnTo>
                <a:close/>
              </a:path>
              <a:path w="4132579" h="4303395">
                <a:moveTo>
                  <a:pt x="983234" y="256921"/>
                </a:moveTo>
                <a:lnTo>
                  <a:pt x="949325" y="245618"/>
                </a:lnTo>
                <a:lnTo>
                  <a:pt x="934847" y="241046"/>
                </a:lnTo>
                <a:lnTo>
                  <a:pt x="931037" y="253111"/>
                </a:lnTo>
                <a:lnTo>
                  <a:pt x="945388" y="257683"/>
                </a:lnTo>
                <a:lnTo>
                  <a:pt x="979170" y="268859"/>
                </a:lnTo>
                <a:lnTo>
                  <a:pt x="983234" y="256921"/>
                </a:lnTo>
                <a:close/>
              </a:path>
              <a:path w="4132579" h="4303395">
                <a:moveTo>
                  <a:pt x="1014095" y="871601"/>
                </a:moveTo>
                <a:lnTo>
                  <a:pt x="964184" y="862076"/>
                </a:lnTo>
                <a:lnTo>
                  <a:pt x="961771" y="874522"/>
                </a:lnTo>
                <a:lnTo>
                  <a:pt x="1011682" y="884047"/>
                </a:lnTo>
                <a:lnTo>
                  <a:pt x="1014095" y="871601"/>
                </a:lnTo>
                <a:close/>
              </a:path>
              <a:path w="4132579" h="4303395">
                <a:moveTo>
                  <a:pt x="1067435" y="285877"/>
                </a:moveTo>
                <a:lnTo>
                  <a:pt x="1032002" y="273304"/>
                </a:lnTo>
                <a:lnTo>
                  <a:pt x="1019302" y="269113"/>
                </a:lnTo>
                <a:lnTo>
                  <a:pt x="1015238" y="281051"/>
                </a:lnTo>
                <a:lnTo>
                  <a:pt x="1027938" y="285369"/>
                </a:lnTo>
                <a:lnTo>
                  <a:pt x="1063117" y="297815"/>
                </a:lnTo>
                <a:lnTo>
                  <a:pt x="1067435" y="285877"/>
                </a:lnTo>
                <a:close/>
              </a:path>
              <a:path w="4132579" h="4303395">
                <a:moveTo>
                  <a:pt x="1101344" y="888365"/>
                </a:moveTo>
                <a:lnTo>
                  <a:pt x="1051433" y="878713"/>
                </a:lnTo>
                <a:lnTo>
                  <a:pt x="1049147" y="891286"/>
                </a:lnTo>
                <a:lnTo>
                  <a:pt x="1098931" y="900811"/>
                </a:lnTo>
                <a:lnTo>
                  <a:pt x="1101344" y="888365"/>
                </a:lnTo>
                <a:close/>
              </a:path>
              <a:path w="4132579" h="4303395">
                <a:moveTo>
                  <a:pt x="1151001" y="316738"/>
                </a:moveTo>
                <a:lnTo>
                  <a:pt x="1149858" y="316230"/>
                </a:lnTo>
                <a:lnTo>
                  <a:pt x="1103249" y="298831"/>
                </a:lnTo>
                <a:lnTo>
                  <a:pt x="1098931" y="310769"/>
                </a:lnTo>
                <a:lnTo>
                  <a:pt x="1145413" y="328168"/>
                </a:lnTo>
                <a:lnTo>
                  <a:pt x="1146302" y="328549"/>
                </a:lnTo>
                <a:lnTo>
                  <a:pt x="1151001" y="316738"/>
                </a:lnTo>
                <a:close/>
              </a:path>
              <a:path w="4132579" h="4303395">
                <a:moveTo>
                  <a:pt x="1188720" y="905764"/>
                </a:moveTo>
                <a:lnTo>
                  <a:pt x="1138809" y="895858"/>
                </a:lnTo>
                <a:lnTo>
                  <a:pt x="1136269" y="908304"/>
                </a:lnTo>
                <a:lnTo>
                  <a:pt x="1181227" y="917194"/>
                </a:lnTo>
                <a:lnTo>
                  <a:pt x="1186053" y="918210"/>
                </a:lnTo>
                <a:lnTo>
                  <a:pt x="1188720" y="905764"/>
                </a:lnTo>
                <a:close/>
              </a:path>
              <a:path w="4132579" h="4303395">
                <a:moveTo>
                  <a:pt x="1233551" y="350266"/>
                </a:moveTo>
                <a:lnTo>
                  <a:pt x="1222883" y="345694"/>
                </a:lnTo>
                <a:lnTo>
                  <a:pt x="1187069" y="330835"/>
                </a:lnTo>
                <a:lnTo>
                  <a:pt x="1186383" y="330835"/>
                </a:lnTo>
                <a:lnTo>
                  <a:pt x="1181862" y="342519"/>
                </a:lnTo>
                <a:lnTo>
                  <a:pt x="1182370" y="342773"/>
                </a:lnTo>
                <a:lnTo>
                  <a:pt x="1218057" y="357378"/>
                </a:lnTo>
                <a:lnTo>
                  <a:pt x="1228471" y="361950"/>
                </a:lnTo>
                <a:lnTo>
                  <a:pt x="1233551" y="350266"/>
                </a:lnTo>
                <a:close/>
              </a:path>
              <a:path w="4132579" h="4303395">
                <a:moveTo>
                  <a:pt x="1275715" y="924687"/>
                </a:moveTo>
                <a:lnTo>
                  <a:pt x="1265047" y="922147"/>
                </a:lnTo>
                <a:lnTo>
                  <a:pt x="1225931" y="913765"/>
                </a:lnTo>
                <a:lnTo>
                  <a:pt x="1223264" y="926211"/>
                </a:lnTo>
                <a:lnTo>
                  <a:pt x="1262380" y="934593"/>
                </a:lnTo>
                <a:lnTo>
                  <a:pt x="1272794" y="937006"/>
                </a:lnTo>
                <a:lnTo>
                  <a:pt x="1275715" y="924687"/>
                </a:lnTo>
                <a:close/>
              </a:path>
              <a:path w="4132579" h="4303395">
                <a:moveTo>
                  <a:pt x="1314831" y="386715"/>
                </a:moveTo>
                <a:lnTo>
                  <a:pt x="1268603" y="365633"/>
                </a:lnTo>
                <a:lnTo>
                  <a:pt x="1263269" y="377190"/>
                </a:lnTo>
                <a:lnTo>
                  <a:pt x="1309497" y="398272"/>
                </a:lnTo>
                <a:lnTo>
                  <a:pt x="1314831" y="386715"/>
                </a:lnTo>
                <a:close/>
              </a:path>
              <a:path w="4132579" h="4303395">
                <a:moveTo>
                  <a:pt x="1362202" y="945261"/>
                </a:moveTo>
                <a:lnTo>
                  <a:pt x="1348232" y="941705"/>
                </a:lnTo>
                <a:lnTo>
                  <a:pt x="1312799" y="933196"/>
                </a:lnTo>
                <a:lnTo>
                  <a:pt x="1309928" y="945261"/>
                </a:lnTo>
                <a:lnTo>
                  <a:pt x="1309878" y="945515"/>
                </a:lnTo>
                <a:lnTo>
                  <a:pt x="1359154" y="957580"/>
                </a:lnTo>
                <a:lnTo>
                  <a:pt x="1362138" y="945515"/>
                </a:lnTo>
                <a:lnTo>
                  <a:pt x="1362202" y="945261"/>
                </a:lnTo>
                <a:close/>
              </a:path>
              <a:path w="4132579" h="4303395">
                <a:moveTo>
                  <a:pt x="1395209" y="425196"/>
                </a:moveTo>
                <a:lnTo>
                  <a:pt x="1390904" y="423037"/>
                </a:lnTo>
                <a:lnTo>
                  <a:pt x="1349375" y="403098"/>
                </a:lnTo>
                <a:lnTo>
                  <a:pt x="1343787" y="414528"/>
                </a:lnTo>
                <a:lnTo>
                  <a:pt x="1385443" y="434467"/>
                </a:lnTo>
                <a:lnTo>
                  <a:pt x="1389507" y="436499"/>
                </a:lnTo>
                <a:lnTo>
                  <a:pt x="1395209" y="425196"/>
                </a:lnTo>
                <a:close/>
              </a:path>
              <a:path w="4132579" h="4303395">
                <a:moveTo>
                  <a:pt x="1448435" y="967994"/>
                </a:moveTo>
                <a:lnTo>
                  <a:pt x="1434973" y="964184"/>
                </a:lnTo>
                <a:lnTo>
                  <a:pt x="1399273" y="954659"/>
                </a:lnTo>
                <a:lnTo>
                  <a:pt x="1395971" y="966978"/>
                </a:lnTo>
                <a:lnTo>
                  <a:pt x="1445006" y="980186"/>
                </a:lnTo>
                <a:lnTo>
                  <a:pt x="1448435" y="967994"/>
                </a:lnTo>
                <a:close/>
              </a:path>
              <a:path w="4132579" h="4303395">
                <a:moveTo>
                  <a:pt x="1474470" y="465709"/>
                </a:moveTo>
                <a:lnTo>
                  <a:pt x="1456309" y="456057"/>
                </a:lnTo>
                <a:lnTo>
                  <a:pt x="1429131" y="442341"/>
                </a:lnTo>
                <a:lnTo>
                  <a:pt x="1423416" y="453771"/>
                </a:lnTo>
                <a:lnTo>
                  <a:pt x="1450594" y="467487"/>
                </a:lnTo>
                <a:lnTo>
                  <a:pt x="1468501" y="476885"/>
                </a:lnTo>
                <a:lnTo>
                  <a:pt x="1474470" y="465709"/>
                </a:lnTo>
                <a:close/>
              </a:path>
              <a:path w="4132579" h="4303395">
                <a:moveTo>
                  <a:pt x="1533906" y="992632"/>
                </a:moveTo>
                <a:lnTo>
                  <a:pt x="1485138" y="978281"/>
                </a:lnTo>
                <a:lnTo>
                  <a:pt x="1481543" y="990600"/>
                </a:lnTo>
                <a:lnTo>
                  <a:pt x="1482013" y="990600"/>
                </a:lnTo>
                <a:lnTo>
                  <a:pt x="1530223" y="1004824"/>
                </a:lnTo>
                <a:lnTo>
                  <a:pt x="1533906" y="992632"/>
                </a:lnTo>
                <a:close/>
              </a:path>
              <a:path w="4132579" h="4303395">
                <a:moveTo>
                  <a:pt x="1552829" y="507873"/>
                </a:moveTo>
                <a:lnTo>
                  <a:pt x="1520825" y="490220"/>
                </a:lnTo>
                <a:lnTo>
                  <a:pt x="1508125" y="483489"/>
                </a:lnTo>
                <a:lnTo>
                  <a:pt x="1502156" y="494792"/>
                </a:lnTo>
                <a:lnTo>
                  <a:pt x="1514983" y="501523"/>
                </a:lnTo>
                <a:lnTo>
                  <a:pt x="1546606" y="519049"/>
                </a:lnTo>
                <a:lnTo>
                  <a:pt x="1552829" y="507873"/>
                </a:lnTo>
                <a:close/>
              </a:path>
              <a:path w="4132579" h="4303395">
                <a:moveTo>
                  <a:pt x="1618869" y="1019175"/>
                </a:moveTo>
                <a:lnTo>
                  <a:pt x="1570355" y="1003808"/>
                </a:lnTo>
                <a:lnTo>
                  <a:pt x="1566672" y="1016000"/>
                </a:lnTo>
                <a:lnTo>
                  <a:pt x="1615059" y="1031240"/>
                </a:lnTo>
                <a:lnTo>
                  <a:pt x="1618869" y="1019175"/>
                </a:lnTo>
                <a:close/>
              </a:path>
              <a:path w="4132579" h="4303395">
                <a:moveTo>
                  <a:pt x="1630299" y="551815"/>
                </a:moveTo>
                <a:lnTo>
                  <a:pt x="1586230" y="526415"/>
                </a:lnTo>
                <a:lnTo>
                  <a:pt x="1579880" y="537464"/>
                </a:lnTo>
                <a:lnTo>
                  <a:pt x="1623949" y="562737"/>
                </a:lnTo>
                <a:lnTo>
                  <a:pt x="1630299" y="551815"/>
                </a:lnTo>
                <a:close/>
              </a:path>
              <a:path w="4132579" h="4303395">
                <a:moveTo>
                  <a:pt x="1703324" y="1047242"/>
                </a:moveTo>
                <a:lnTo>
                  <a:pt x="1677289" y="1038352"/>
                </a:lnTo>
                <a:lnTo>
                  <a:pt x="1655191" y="1031113"/>
                </a:lnTo>
                <a:lnTo>
                  <a:pt x="1651127" y="1043178"/>
                </a:lnTo>
                <a:lnTo>
                  <a:pt x="1673225" y="1050417"/>
                </a:lnTo>
                <a:lnTo>
                  <a:pt x="1699260" y="1059307"/>
                </a:lnTo>
                <a:lnTo>
                  <a:pt x="1703324" y="1047242"/>
                </a:lnTo>
                <a:close/>
              </a:path>
              <a:path w="4132579" h="4303395">
                <a:moveTo>
                  <a:pt x="1706880" y="597154"/>
                </a:moveTo>
                <a:lnTo>
                  <a:pt x="1663192" y="571119"/>
                </a:lnTo>
                <a:lnTo>
                  <a:pt x="1656715" y="581914"/>
                </a:lnTo>
                <a:lnTo>
                  <a:pt x="1700276" y="608076"/>
                </a:lnTo>
                <a:lnTo>
                  <a:pt x="1706880" y="597154"/>
                </a:lnTo>
                <a:close/>
              </a:path>
              <a:path w="4132579" h="4303395">
                <a:moveTo>
                  <a:pt x="1782572" y="644144"/>
                </a:moveTo>
                <a:lnTo>
                  <a:pt x="1770888" y="636651"/>
                </a:lnTo>
                <a:lnTo>
                  <a:pt x="1739392" y="617220"/>
                </a:lnTo>
                <a:lnTo>
                  <a:pt x="1732661" y="628015"/>
                </a:lnTo>
                <a:lnTo>
                  <a:pt x="1764157" y="647446"/>
                </a:lnTo>
                <a:lnTo>
                  <a:pt x="1775714" y="654812"/>
                </a:lnTo>
                <a:lnTo>
                  <a:pt x="1782572" y="644144"/>
                </a:lnTo>
                <a:close/>
              </a:path>
              <a:path w="4132579" h="4303395">
                <a:moveTo>
                  <a:pt x="1787525" y="1076198"/>
                </a:moveTo>
                <a:lnTo>
                  <a:pt x="1739392" y="1059561"/>
                </a:lnTo>
                <a:lnTo>
                  <a:pt x="1735328" y="1071499"/>
                </a:lnTo>
                <a:lnTo>
                  <a:pt x="1783207" y="1088136"/>
                </a:lnTo>
                <a:lnTo>
                  <a:pt x="1787525" y="1076198"/>
                </a:lnTo>
                <a:close/>
              </a:path>
              <a:path w="4132579" h="4303395">
                <a:moveTo>
                  <a:pt x="1857248" y="692404"/>
                </a:moveTo>
                <a:lnTo>
                  <a:pt x="1831213" y="675259"/>
                </a:lnTo>
                <a:lnTo>
                  <a:pt x="1814703" y="664591"/>
                </a:lnTo>
                <a:lnTo>
                  <a:pt x="1807845" y="675259"/>
                </a:lnTo>
                <a:lnTo>
                  <a:pt x="1824482" y="685927"/>
                </a:lnTo>
                <a:lnTo>
                  <a:pt x="1850263" y="702945"/>
                </a:lnTo>
                <a:lnTo>
                  <a:pt x="1857248" y="692404"/>
                </a:lnTo>
                <a:close/>
              </a:path>
              <a:path w="4132579" h="4303395">
                <a:moveTo>
                  <a:pt x="1871218" y="1106170"/>
                </a:moveTo>
                <a:lnTo>
                  <a:pt x="1837436" y="1093851"/>
                </a:lnTo>
                <a:lnTo>
                  <a:pt x="1823466" y="1088898"/>
                </a:lnTo>
                <a:lnTo>
                  <a:pt x="1819148" y="1100836"/>
                </a:lnTo>
                <a:lnTo>
                  <a:pt x="1833118" y="1105789"/>
                </a:lnTo>
                <a:lnTo>
                  <a:pt x="1866900" y="1118108"/>
                </a:lnTo>
                <a:lnTo>
                  <a:pt x="1871218" y="1106170"/>
                </a:lnTo>
                <a:close/>
              </a:path>
              <a:path w="4132579" h="4303395">
                <a:moveTo>
                  <a:pt x="1931289" y="741807"/>
                </a:moveTo>
                <a:lnTo>
                  <a:pt x="1890776" y="714375"/>
                </a:lnTo>
                <a:lnTo>
                  <a:pt x="1889125" y="713359"/>
                </a:lnTo>
                <a:lnTo>
                  <a:pt x="1882140" y="723900"/>
                </a:lnTo>
                <a:lnTo>
                  <a:pt x="1883791" y="725043"/>
                </a:lnTo>
                <a:lnTo>
                  <a:pt x="1924177" y="752348"/>
                </a:lnTo>
                <a:lnTo>
                  <a:pt x="1931289" y="741807"/>
                </a:lnTo>
                <a:close/>
              </a:path>
              <a:path w="4132579" h="4303395">
                <a:moveTo>
                  <a:pt x="1954784" y="1136650"/>
                </a:moveTo>
                <a:lnTo>
                  <a:pt x="1946656" y="1133602"/>
                </a:lnTo>
                <a:lnTo>
                  <a:pt x="1907032" y="1119251"/>
                </a:lnTo>
                <a:lnTo>
                  <a:pt x="1902714" y="1131062"/>
                </a:lnTo>
                <a:lnTo>
                  <a:pt x="1942338" y="1145540"/>
                </a:lnTo>
                <a:lnTo>
                  <a:pt x="1950339" y="1148588"/>
                </a:lnTo>
                <a:lnTo>
                  <a:pt x="1954784" y="1136650"/>
                </a:lnTo>
                <a:close/>
              </a:path>
              <a:path w="4132579" h="4303395">
                <a:moveTo>
                  <a:pt x="2004568" y="792353"/>
                </a:moveTo>
                <a:lnTo>
                  <a:pt x="1962785" y="763397"/>
                </a:lnTo>
                <a:lnTo>
                  <a:pt x="1955546" y="773811"/>
                </a:lnTo>
                <a:lnTo>
                  <a:pt x="1997329" y="802767"/>
                </a:lnTo>
                <a:lnTo>
                  <a:pt x="2004568" y="792353"/>
                </a:lnTo>
                <a:close/>
              </a:path>
              <a:path w="4132579" h="4303395">
                <a:moveTo>
                  <a:pt x="2038096" y="1167892"/>
                </a:moveTo>
                <a:lnTo>
                  <a:pt x="1990471" y="1149985"/>
                </a:lnTo>
                <a:lnTo>
                  <a:pt x="1986026" y="1161923"/>
                </a:lnTo>
                <a:lnTo>
                  <a:pt x="2033651" y="1179703"/>
                </a:lnTo>
                <a:lnTo>
                  <a:pt x="2038096" y="1167892"/>
                </a:lnTo>
                <a:close/>
              </a:path>
              <a:path w="4132579" h="4303395">
                <a:moveTo>
                  <a:pt x="2076958" y="844042"/>
                </a:moveTo>
                <a:lnTo>
                  <a:pt x="2063877" y="834517"/>
                </a:lnTo>
                <a:lnTo>
                  <a:pt x="2035683" y="814451"/>
                </a:lnTo>
                <a:lnTo>
                  <a:pt x="2028317" y="824738"/>
                </a:lnTo>
                <a:lnTo>
                  <a:pt x="2056638" y="844931"/>
                </a:lnTo>
                <a:lnTo>
                  <a:pt x="2069592" y="854329"/>
                </a:lnTo>
                <a:lnTo>
                  <a:pt x="2076958" y="844042"/>
                </a:lnTo>
                <a:close/>
              </a:path>
              <a:path w="4132579" h="4303395">
                <a:moveTo>
                  <a:pt x="2121154" y="1199515"/>
                </a:moveTo>
                <a:lnTo>
                  <a:pt x="2073783" y="1181354"/>
                </a:lnTo>
                <a:lnTo>
                  <a:pt x="2069211" y="1193165"/>
                </a:lnTo>
                <a:lnTo>
                  <a:pt x="2116582" y="1211326"/>
                </a:lnTo>
                <a:lnTo>
                  <a:pt x="2121154" y="1199515"/>
                </a:lnTo>
                <a:close/>
              </a:path>
              <a:path w="4132579" h="4303395">
                <a:moveTo>
                  <a:pt x="2148840" y="896620"/>
                </a:moveTo>
                <a:lnTo>
                  <a:pt x="2119884" y="875157"/>
                </a:lnTo>
                <a:lnTo>
                  <a:pt x="2107819" y="866394"/>
                </a:lnTo>
                <a:lnTo>
                  <a:pt x="2100326" y="876681"/>
                </a:lnTo>
                <a:lnTo>
                  <a:pt x="2112391" y="885444"/>
                </a:lnTo>
                <a:lnTo>
                  <a:pt x="2141220" y="906780"/>
                </a:lnTo>
                <a:lnTo>
                  <a:pt x="2148840" y="896620"/>
                </a:lnTo>
                <a:close/>
              </a:path>
              <a:path w="4132579" h="4303395">
                <a:moveTo>
                  <a:pt x="2204085" y="1231646"/>
                </a:moveTo>
                <a:lnTo>
                  <a:pt x="2156714" y="1213231"/>
                </a:lnTo>
                <a:lnTo>
                  <a:pt x="2152142" y="1225042"/>
                </a:lnTo>
                <a:lnTo>
                  <a:pt x="2199513" y="1243457"/>
                </a:lnTo>
                <a:lnTo>
                  <a:pt x="2204085" y="1231646"/>
                </a:lnTo>
                <a:close/>
              </a:path>
              <a:path w="4132579" h="4303395">
                <a:moveTo>
                  <a:pt x="2219960" y="949960"/>
                </a:moveTo>
                <a:lnTo>
                  <a:pt x="2179447" y="919353"/>
                </a:lnTo>
                <a:lnTo>
                  <a:pt x="2171700" y="929513"/>
                </a:lnTo>
                <a:lnTo>
                  <a:pt x="2212340" y="960120"/>
                </a:lnTo>
                <a:lnTo>
                  <a:pt x="2219960" y="949960"/>
                </a:lnTo>
                <a:close/>
              </a:path>
              <a:path w="4132579" h="4303395">
                <a:moveTo>
                  <a:pt x="2286889" y="1264158"/>
                </a:moveTo>
                <a:lnTo>
                  <a:pt x="2239645" y="1245489"/>
                </a:lnTo>
                <a:lnTo>
                  <a:pt x="2234946" y="1257300"/>
                </a:lnTo>
                <a:lnTo>
                  <a:pt x="2282190" y="1275969"/>
                </a:lnTo>
                <a:lnTo>
                  <a:pt x="2286889" y="1264158"/>
                </a:lnTo>
                <a:close/>
              </a:path>
              <a:path w="4132579" h="4303395">
                <a:moveTo>
                  <a:pt x="2290318" y="1004570"/>
                </a:moveTo>
                <a:lnTo>
                  <a:pt x="2282317" y="998093"/>
                </a:lnTo>
                <a:lnTo>
                  <a:pt x="2250186" y="973201"/>
                </a:lnTo>
                <a:lnTo>
                  <a:pt x="2242439" y="983234"/>
                </a:lnTo>
                <a:lnTo>
                  <a:pt x="2274443" y="1008126"/>
                </a:lnTo>
                <a:lnTo>
                  <a:pt x="2282317" y="1014476"/>
                </a:lnTo>
                <a:lnTo>
                  <a:pt x="2290318" y="1004570"/>
                </a:lnTo>
                <a:close/>
              </a:path>
              <a:path w="4132579" h="4303395">
                <a:moveTo>
                  <a:pt x="2359406" y="1060704"/>
                </a:moveTo>
                <a:lnTo>
                  <a:pt x="2335149" y="1040511"/>
                </a:lnTo>
                <a:lnTo>
                  <a:pt x="2320036" y="1028446"/>
                </a:lnTo>
                <a:lnTo>
                  <a:pt x="2312035" y="1038352"/>
                </a:lnTo>
                <a:lnTo>
                  <a:pt x="2327148" y="1050417"/>
                </a:lnTo>
                <a:lnTo>
                  <a:pt x="2351278" y="1070483"/>
                </a:lnTo>
                <a:lnTo>
                  <a:pt x="2359406" y="1060704"/>
                </a:lnTo>
                <a:close/>
              </a:path>
              <a:path w="4132579" h="4303395">
                <a:moveTo>
                  <a:pt x="2369566" y="1296924"/>
                </a:moveTo>
                <a:lnTo>
                  <a:pt x="2366137" y="1295654"/>
                </a:lnTo>
                <a:lnTo>
                  <a:pt x="2322322" y="1278128"/>
                </a:lnTo>
                <a:lnTo>
                  <a:pt x="2317623" y="1289939"/>
                </a:lnTo>
                <a:lnTo>
                  <a:pt x="2364867" y="1308735"/>
                </a:lnTo>
                <a:lnTo>
                  <a:pt x="2369566" y="1296924"/>
                </a:lnTo>
                <a:close/>
              </a:path>
              <a:path w="4132579" h="4303395">
                <a:moveTo>
                  <a:pt x="2427224" y="1118235"/>
                </a:moveTo>
                <a:lnTo>
                  <a:pt x="2388743" y="1085215"/>
                </a:lnTo>
                <a:lnTo>
                  <a:pt x="2380488" y="1094867"/>
                </a:lnTo>
                <a:lnTo>
                  <a:pt x="2418969" y="1127887"/>
                </a:lnTo>
                <a:lnTo>
                  <a:pt x="2427224" y="1118235"/>
                </a:lnTo>
                <a:close/>
              </a:path>
              <a:path w="4132579" h="4303395">
                <a:moveTo>
                  <a:pt x="2452243" y="1329309"/>
                </a:moveTo>
                <a:lnTo>
                  <a:pt x="2413254" y="1314323"/>
                </a:lnTo>
                <a:lnTo>
                  <a:pt x="2404999" y="1311021"/>
                </a:lnTo>
                <a:lnTo>
                  <a:pt x="2400300" y="1322832"/>
                </a:lnTo>
                <a:lnTo>
                  <a:pt x="2447671" y="1341120"/>
                </a:lnTo>
                <a:lnTo>
                  <a:pt x="2452243" y="1329309"/>
                </a:lnTo>
                <a:close/>
              </a:path>
              <a:path w="4132579" h="4303395">
                <a:moveTo>
                  <a:pt x="2494153" y="1177163"/>
                </a:moveTo>
                <a:lnTo>
                  <a:pt x="2489073" y="1172591"/>
                </a:lnTo>
                <a:lnTo>
                  <a:pt x="2456053" y="1143381"/>
                </a:lnTo>
                <a:lnTo>
                  <a:pt x="2447671" y="1152906"/>
                </a:lnTo>
                <a:lnTo>
                  <a:pt x="2480691" y="1181989"/>
                </a:lnTo>
                <a:lnTo>
                  <a:pt x="2485644" y="1186561"/>
                </a:lnTo>
                <a:lnTo>
                  <a:pt x="2494153" y="1177163"/>
                </a:lnTo>
                <a:close/>
              </a:path>
              <a:path w="4132579" h="4303395">
                <a:moveTo>
                  <a:pt x="2535301" y="1360932"/>
                </a:moveTo>
                <a:lnTo>
                  <a:pt x="2487803" y="1342898"/>
                </a:lnTo>
                <a:lnTo>
                  <a:pt x="2483358" y="1354836"/>
                </a:lnTo>
                <a:lnTo>
                  <a:pt x="2530856" y="1372743"/>
                </a:lnTo>
                <a:lnTo>
                  <a:pt x="2535301" y="1360932"/>
                </a:lnTo>
                <a:close/>
              </a:path>
              <a:path w="4132579" h="4303395">
                <a:moveTo>
                  <a:pt x="2559812" y="1237234"/>
                </a:moveTo>
                <a:lnTo>
                  <a:pt x="2538730" y="1217676"/>
                </a:lnTo>
                <a:lnTo>
                  <a:pt x="2522347" y="1202690"/>
                </a:lnTo>
                <a:lnTo>
                  <a:pt x="2513838" y="1212088"/>
                </a:lnTo>
                <a:lnTo>
                  <a:pt x="2530221" y="1227074"/>
                </a:lnTo>
                <a:lnTo>
                  <a:pt x="2551176" y="1246505"/>
                </a:lnTo>
                <a:lnTo>
                  <a:pt x="2559812" y="1237234"/>
                </a:lnTo>
                <a:close/>
              </a:path>
              <a:path w="4132579" h="4303395">
                <a:moveTo>
                  <a:pt x="2618486" y="1392555"/>
                </a:moveTo>
                <a:lnTo>
                  <a:pt x="2570988" y="1374394"/>
                </a:lnTo>
                <a:lnTo>
                  <a:pt x="2566416" y="1386332"/>
                </a:lnTo>
                <a:lnTo>
                  <a:pt x="2613914" y="1404366"/>
                </a:lnTo>
                <a:lnTo>
                  <a:pt x="2618486" y="1392555"/>
                </a:lnTo>
                <a:close/>
              </a:path>
              <a:path w="4132579" h="4303395">
                <a:moveTo>
                  <a:pt x="2624582" y="1298194"/>
                </a:moveTo>
                <a:lnTo>
                  <a:pt x="2587752" y="1263142"/>
                </a:lnTo>
                <a:lnTo>
                  <a:pt x="2578989" y="1272413"/>
                </a:lnTo>
                <a:lnTo>
                  <a:pt x="2615819" y="1307338"/>
                </a:lnTo>
                <a:lnTo>
                  <a:pt x="2624582" y="1298194"/>
                </a:lnTo>
                <a:close/>
              </a:path>
              <a:path w="4132579" h="4303395">
                <a:moveTo>
                  <a:pt x="2688336" y="1360297"/>
                </a:moveTo>
                <a:lnTo>
                  <a:pt x="2682367" y="1354328"/>
                </a:lnTo>
                <a:lnTo>
                  <a:pt x="2652014" y="1324737"/>
                </a:lnTo>
                <a:lnTo>
                  <a:pt x="2643124" y="1333754"/>
                </a:lnTo>
                <a:lnTo>
                  <a:pt x="2673477" y="1363345"/>
                </a:lnTo>
                <a:lnTo>
                  <a:pt x="2679446" y="1369314"/>
                </a:lnTo>
                <a:lnTo>
                  <a:pt x="2688336" y="1360297"/>
                </a:lnTo>
                <a:close/>
              </a:path>
              <a:path w="4132579" h="4303395">
                <a:moveTo>
                  <a:pt x="2701290" y="1425067"/>
                </a:moveTo>
                <a:lnTo>
                  <a:pt x="2654046" y="1406271"/>
                </a:lnTo>
                <a:lnTo>
                  <a:pt x="2649347" y="1418082"/>
                </a:lnTo>
                <a:lnTo>
                  <a:pt x="2696591" y="1436878"/>
                </a:lnTo>
                <a:lnTo>
                  <a:pt x="2701290" y="1425067"/>
                </a:lnTo>
                <a:close/>
              </a:path>
              <a:path w="4132579" h="4303395">
                <a:moveTo>
                  <a:pt x="2751201" y="1423289"/>
                </a:moveTo>
                <a:lnTo>
                  <a:pt x="2728214" y="1399921"/>
                </a:lnTo>
                <a:lnTo>
                  <a:pt x="2715387" y="1387094"/>
                </a:lnTo>
                <a:lnTo>
                  <a:pt x="2706370" y="1396111"/>
                </a:lnTo>
                <a:lnTo>
                  <a:pt x="2719197" y="1408811"/>
                </a:lnTo>
                <a:lnTo>
                  <a:pt x="2742184" y="1432179"/>
                </a:lnTo>
                <a:lnTo>
                  <a:pt x="2751201" y="1423289"/>
                </a:lnTo>
                <a:close/>
              </a:path>
              <a:path w="4132579" h="4303395">
                <a:moveTo>
                  <a:pt x="2813177" y="1487043"/>
                </a:moveTo>
                <a:lnTo>
                  <a:pt x="2777871" y="1450467"/>
                </a:lnTo>
                <a:lnTo>
                  <a:pt x="2773464" y="1454810"/>
                </a:lnTo>
                <a:lnTo>
                  <a:pt x="2765298" y="1451229"/>
                </a:lnTo>
                <a:lnTo>
                  <a:pt x="2736723" y="1439291"/>
                </a:lnTo>
                <a:lnTo>
                  <a:pt x="2731770" y="1450975"/>
                </a:lnTo>
                <a:lnTo>
                  <a:pt x="2778506" y="1470787"/>
                </a:lnTo>
                <a:lnTo>
                  <a:pt x="2778925" y="1469809"/>
                </a:lnTo>
                <a:lnTo>
                  <a:pt x="2804033" y="1495806"/>
                </a:lnTo>
                <a:lnTo>
                  <a:pt x="2813177" y="1487043"/>
                </a:lnTo>
                <a:close/>
              </a:path>
              <a:path w="4132579" h="4303395">
                <a:moveTo>
                  <a:pt x="2864612" y="1496187"/>
                </a:moveTo>
                <a:lnTo>
                  <a:pt x="2848610" y="1488440"/>
                </a:lnTo>
                <a:lnTo>
                  <a:pt x="2818511" y="1474724"/>
                </a:lnTo>
                <a:lnTo>
                  <a:pt x="2813177" y="1486281"/>
                </a:lnTo>
                <a:lnTo>
                  <a:pt x="2843276" y="1499997"/>
                </a:lnTo>
                <a:lnTo>
                  <a:pt x="2859151" y="1507617"/>
                </a:lnTo>
                <a:lnTo>
                  <a:pt x="2864612" y="1496187"/>
                </a:lnTo>
                <a:close/>
              </a:path>
              <a:path w="4132579" h="4303395">
                <a:moveTo>
                  <a:pt x="2874391" y="1551686"/>
                </a:moveTo>
                <a:lnTo>
                  <a:pt x="2858643" y="1534795"/>
                </a:lnTo>
                <a:lnTo>
                  <a:pt x="2839593" y="1514602"/>
                </a:lnTo>
                <a:lnTo>
                  <a:pt x="2830322" y="1523365"/>
                </a:lnTo>
                <a:lnTo>
                  <a:pt x="2849499" y="1543558"/>
                </a:lnTo>
                <a:lnTo>
                  <a:pt x="2865120" y="1560322"/>
                </a:lnTo>
                <a:lnTo>
                  <a:pt x="2874391" y="1551686"/>
                </a:lnTo>
                <a:close/>
              </a:path>
              <a:path w="4132579" h="4303395">
                <a:moveTo>
                  <a:pt x="2934843" y="1616837"/>
                </a:moveTo>
                <a:lnTo>
                  <a:pt x="2900426" y="1579499"/>
                </a:lnTo>
                <a:lnTo>
                  <a:pt x="2891155" y="1588135"/>
                </a:lnTo>
                <a:lnTo>
                  <a:pt x="2925572" y="1625473"/>
                </a:lnTo>
                <a:lnTo>
                  <a:pt x="2934843" y="1616837"/>
                </a:lnTo>
                <a:close/>
              </a:path>
              <a:path w="4132579" h="4303395">
                <a:moveTo>
                  <a:pt x="2944114" y="1536700"/>
                </a:moveTo>
                <a:lnTo>
                  <a:pt x="2930652" y="1529461"/>
                </a:lnTo>
                <a:lnTo>
                  <a:pt x="2898902" y="1513078"/>
                </a:lnTo>
                <a:lnTo>
                  <a:pt x="2893187" y="1524381"/>
                </a:lnTo>
                <a:lnTo>
                  <a:pt x="2924937" y="1540637"/>
                </a:lnTo>
                <a:lnTo>
                  <a:pt x="2938018" y="1547876"/>
                </a:lnTo>
                <a:lnTo>
                  <a:pt x="2944114" y="1536700"/>
                </a:lnTo>
                <a:close/>
              </a:path>
              <a:path w="4132579" h="4303395">
                <a:moveTo>
                  <a:pt x="2994533" y="1683004"/>
                </a:moveTo>
                <a:lnTo>
                  <a:pt x="2977515" y="1663954"/>
                </a:lnTo>
                <a:lnTo>
                  <a:pt x="2960497" y="1645158"/>
                </a:lnTo>
                <a:lnTo>
                  <a:pt x="2951099" y="1653667"/>
                </a:lnTo>
                <a:lnTo>
                  <a:pt x="2968117" y="1672463"/>
                </a:lnTo>
                <a:lnTo>
                  <a:pt x="2985008" y="1691386"/>
                </a:lnTo>
                <a:lnTo>
                  <a:pt x="2994533" y="1683004"/>
                </a:lnTo>
                <a:close/>
              </a:path>
              <a:path w="4132579" h="4303395">
                <a:moveTo>
                  <a:pt x="3021457" y="1581277"/>
                </a:moveTo>
                <a:lnTo>
                  <a:pt x="3012186" y="1575435"/>
                </a:lnTo>
                <a:lnTo>
                  <a:pt x="2977642" y="1555242"/>
                </a:lnTo>
                <a:lnTo>
                  <a:pt x="2971165" y="1566164"/>
                </a:lnTo>
                <a:lnTo>
                  <a:pt x="3005836" y="1586484"/>
                </a:lnTo>
                <a:lnTo>
                  <a:pt x="3014726" y="1592072"/>
                </a:lnTo>
                <a:lnTo>
                  <a:pt x="3021457" y="1581277"/>
                </a:lnTo>
                <a:close/>
              </a:path>
              <a:path w="4132579" h="4303395">
                <a:moveTo>
                  <a:pt x="3052826" y="1750314"/>
                </a:moveTo>
                <a:lnTo>
                  <a:pt x="3049778" y="1746631"/>
                </a:lnTo>
                <a:lnTo>
                  <a:pt x="3019679" y="1711706"/>
                </a:lnTo>
                <a:lnTo>
                  <a:pt x="3010154" y="1719961"/>
                </a:lnTo>
                <a:lnTo>
                  <a:pt x="3040126" y="1754886"/>
                </a:lnTo>
                <a:lnTo>
                  <a:pt x="3043047" y="1758442"/>
                </a:lnTo>
                <a:lnTo>
                  <a:pt x="3052826" y="1750314"/>
                </a:lnTo>
                <a:close/>
              </a:path>
              <a:path w="4132579" h="4303395">
                <a:moveTo>
                  <a:pt x="3096387" y="1629664"/>
                </a:moveTo>
                <a:lnTo>
                  <a:pt x="3093593" y="1627759"/>
                </a:lnTo>
                <a:lnTo>
                  <a:pt x="3053842" y="1601597"/>
                </a:lnTo>
                <a:lnTo>
                  <a:pt x="3046857" y="1612138"/>
                </a:lnTo>
                <a:lnTo>
                  <a:pt x="3086608" y="1638300"/>
                </a:lnTo>
                <a:lnTo>
                  <a:pt x="3089148" y="1640078"/>
                </a:lnTo>
                <a:lnTo>
                  <a:pt x="3096387" y="1629664"/>
                </a:lnTo>
                <a:close/>
              </a:path>
              <a:path w="4132579" h="4303395">
                <a:moveTo>
                  <a:pt x="3109468" y="1819021"/>
                </a:moveTo>
                <a:lnTo>
                  <a:pt x="3083814" y="1787398"/>
                </a:lnTo>
                <a:lnTo>
                  <a:pt x="3077210" y="1779524"/>
                </a:lnTo>
                <a:lnTo>
                  <a:pt x="3067558" y="1787652"/>
                </a:lnTo>
                <a:lnTo>
                  <a:pt x="3074035" y="1795526"/>
                </a:lnTo>
                <a:lnTo>
                  <a:pt x="3099562" y="1827022"/>
                </a:lnTo>
                <a:lnTo>
                  <a:pt x="3109468" y="1819021"/>
                </a:lnTo>
                <a:close/>
              </a:path>
              <a:path w="4132579" h="4303395">
                <a:moveTo>
                  <a:pt x="3164459" y="1888998"/>
                </a:moveTo>
                <a:lnTo>
                  <a:pt x="3148203" y="1867789"/>
                </a:lnTo>
                <a:lnTo>
                  <a:pt x="3133217" y="1848866"/>
                </a:lnTo>
                <a:lnTo>
                  <a:pt x="3123311" y="1856740"/>
                </a:lnTo>
                <a:lnTo>
                  <a:pt x="3138297" y="1875663"/>
                </a:lnTo>
                <a:lnTo>
                  <a:pt x="3154426" y="1896745"/>
                </a:lnTo>
                <a:lnTo>
                  <a:pt x="3164459" y="1888998"/>
                </a:lnTo>
                <a:close/>
              </a:path>
              <a:path w="4132579" h="4303395">
                <a:moveTo>
                  <a:pt x="3169412" y="1680464"/>
                </a:moveTo>
                <a:lnTo>
                  <a:pt x="3134487" y="1655699"/>
                </a:lnTo>
                <a:lnTo>
                  <a:pt x="3127756" y="1651127"/>
                </a:lnTo>
                <a:lnTo>
                  <a:pt x="3120644" y="1661668"/>
                </a:lnTo>
                <a:lnTo>
                  <a:pt x="3127375" y="1666240"/>
                </a:lnTo>
                <a:lnTo>
                  <a:pt x="3162046" y="1690878"/>
                </a:lnTo>
                <a:lnTo>
                  <a:pt x="3169412" y="1680464"/>
                </a:lnTo>
                <a:close/>
              </a:path>
              <a:path w="4132579" h="4303395">
                <a:moveTo>
                  <a:pt x="3217799" y="1960372"/>
                </a:moveTo>
                <a:lnTo>
                  <a:pt x="3208020" y="1946910"/>
                </a:lnTo>
                <a:lnTo>
                  <a:pt x="3187573" y="1919490"/>
                </a:lnTo>
                <a:lnTo>
                  <a:pt x="3177413" y="1927098"/>
                </a:lnTo>
                <a:lnTo>
                  <a:pt x="3197733" y="1954530"/>
                </a:lnTo>
                <a:lnTo>
                  <a:pt x="3207512" y="1967865"/>
                </a:lnTo>
                <a:lnTo>
                  <a:pt x="3217799" y="1960372"/>
                </a:lnTo>
                <a:close/>
              </a:path>
              <a:path w="4132579" h="4303395">
                <a:moveTo>
                  <a:pt x="3240913" y="1733550"/>
                </a:moveTo>
                <a:lnTo>
                  <a:pt x="3216402" y="1714881"/>
                </a:lnTo>
                <a:lnTo>
                  <a:pt x="3200273" y="1703070"/>
                </a:lnTo>
                <a:lnTo>
                  <a:pt x="3192780" y="1713230"/>
                </a:lnTo>
                <a:lnTo>
                  <a:pt x="3208909" y="1725168"/>
                </a:lnTo>
                <a:lnTo>
                  <a:pt x="3233293" y="1743710"/>
                </a:lnTo>
                <a:lnTo>
                  <a:pt x="3240913" y="1733550"/>
                </a:lnTo>
                <a:close/>
              </a:path>
              <a:path w="4132579" h="4303395">
                <a:moveTo>
                  <a:pt x="3269361" y="2032889"/>
                </a:moveTo>
                <a:lnTo>
                  <a:pt x="3263773" y="2024761"/>
                </a:lnTo>
                <a:lnTo>
                  <a:pt x="3240024" y="1991360"/>
                </a:lnTo>
                <a:lnTo>
                  <a:pt x="3229737" y="1998726"/>
                </a:lnTo>
                <a:lnTo>
                  <a:pt x="3253359" y="2032127"/>
                </a:lnTo>
                <a:lnTo>
                  <a:pt x="3258947" y="2040128"/>
                </a:lnTo>
                <a:lnTo>
                  <a:pt x="3269361" y="2032889"/>
                </a:lnTo>
                <a:close/>
              </a:path>
              <a:path w="4132579" h="4303395">
                <a:moveTo>
                  <a:pt x="3311017" y="1788668"/>
                </a:moveTo>
                <a:lnTo>
                  <a:pt x="3297809" y="1777873"/>
                </a:lnTo>
                <a:lnTo>
                  <a:pt x="3271139" y="1756918"/>
                </a:lnTo>
                <a:lnTo>
                  <a:pt x="3263265" y="1766951"/>
                </a:lnTo>
                <a:lnTo>
                  <a:pt x="3289935" y="1787906"/>
                </a:lnTo>
                <a:lnTo>
                  <a:pt x="3302889" y="1798574"/>
                </a:lnTo>
                <a:lnTo>
                  <a:pt x="3311017" y="1788668"/>
                </a:lnTo>
                <a:close/>
              </a:path>
              <a:path w="4132579" h="4303395">
                <a:moveTo>
                  <a:pt x="3319526" y="2106549"/>
                </a:moveTo>
                <a:lnTo>
                  <a:pt x="3316097" y="2101342"/>
                </a:lnTo>
                <a:lnTo>
                  <a:pt x="3291078" y="2064385"/>
                </a:lnTo>
                <a:lnTo>
                  <a:pt x="3280537" y="2071497"/>
                </a:lnTo>
                <a:lnTo>
                  <a:pt x="3305556" y="2108454"/>
                </a:lnTo>
                <a:lnTo>
                  <a:pt x="3308858" y="2113534"/>
                </a:lnTo>
                <a:lnTo>
                  <a:pt x="3319526" y="2106549"/>
                </a:lnTo>
                <a:close/>
              </a:path>
              <a:path w="4132579" h="4303395">
                <a:moveTo>
                  <a:pt x="3358134" y="4302874"/>
                </a:moveTo>
                <a:lnTo>
                  <a:pt x="3349879" y="4227131"/>
                </a:lnTo>
                <a:lnTo>
                  <a:pt x="3278251" y="4273296"/>
                </a:lnTo>
                <a:lnTo>
                  <a:pt x="3358134" y="4302874"/>
                </a:lnTo>
                <a:close/>
              </a:path>
              <a:path w="4132579" h="4303395">
                <a:moveTo>
                  <a:pt x="3361817" y="3955084"/>
                </a:moveTo>
                <a:lnTo>
                  <a:pt x="3348621" y="3936720"/>
                </a:lnTo>
                <a:lnTo>
                  <a:pt x="3343389" y="3929430"/>
                </a:lnTo>
                <a:lnTo>
                  <a:pt x="3347720" y="3926433"/>
                </a:lnTo>
                <a:lnTo>
                  <a:pt x="3350641" y="3924554"/>
                </a:lnTo>
                <a:lnTo>
                  <a:pt x="3343910" y="3913759"/>
                </a:lnTo>
                <a:lnTo>
                  <a:pt x="3340989" y="3915664"/>
                </a:lnTo>
                <a:lnTo>
                  <a:pt x="3335985" y="3919131"/>
                </a:lnTo>
                <a:lnTo>
                  <a:pt x="3317367" y="3893185"/>
                </a:lnTo>
                <a:lnTo>
                  <a:pt x="3277616" y="3968496"/>
                </a:lnTo>
                <a:lnTo>
                  <a:pt x="3361817" y="3955084"/>
                </a:lnTo>
                <a:close/>
              </a:path>
              <a:path w="4132579" h="4303395">
                <a:moveTo>
                  <a:pt x="3368040" y="2181098"/>
                </a:moveTo>
                <a:lnTo>
                  <a:pt x="3365500" y="2177034"/>
                </a:lnTo>
                <a:lnTo>
                  <a:pt x="3341116" y="2139315"/>
                </a:lnTo>
                <a:lnTo>
                  <a:pt x="3340481" y="2138299"/>
                </a:lnTo>
                <a:lnTo>
                  <a:pt x="3329940" y="2145284"/>
                </a:lnTo>
                <a:lnTo>
                  <a:pt x="3330575" y="2146300"/>
                </a:lnTo>
                <a:lnTo>
                  <a:pt x="3354832" y="2183892"/>
                </a:lnTo>
                <a:lnTo>
                  <a:pt x="3357372" y="2187956"/>
                </a:lnTo>
                <a:lnTo>
                  <a:pt x="3368040" y="2181098"/>
                </a:lnTo>
                <a:close/>
              </a:path>
              <a:path w="4132579" h="4303395">
                <a:moveTo>
                  <a:pt x="3379343" y="1845945"/>
                </a:moveTo>
                <a:lnTo>
                  <a:pt x="3377565" y="1844294"/>
                </a:lnTo>
                <a:lnTo>
                  <a:pt x="3340481" y="1812925"/>
                </a:lnTo>
                <a:lnTo>
                  <a:pt x="3332353" y="1822704"/>
                </a:lnTo>
                <a:lnTo>
                  <a:pt x="3370961" y="1855470"/>
                </a:lnTo>
                <a:lnTo>
                  <a:pt x="3379343" y="1845945"/>
                </a:lnTo>
                <a:close/>
              </a:path>
              <a:path w="4132579" h="4303395">
                <a:moveTo>
                  <a:pt x="3415411" y="2256409"/>
                </a:moveTo>
                <a:lnTo>
                  <a:pt x="3389249" y="2214499"/>
                </a:lnTo>
                <a:lnTo>
                  <a:pt x="3388487" y="2213229"/>
                </a:lnTo>
                <a:lnTo>
                  <a:pt x="3377819" y="2220087"/>
                </a:lnTo>
                <a:lnTo>
                  <a:pt x="3378581" y="2221357"/>
                </a:lnTo>
                <a:lnTo>
                  <a:pt x="3404616" y="2263140"/>
                </a:lnTo>
                <a:lnTo>
                  <a:pt x="3415411" y="2256409"/>
                </a:lnTo>
                <a:close/>
              </a:path>
              <a:path w="4132579" h="4303395">
                <a:moveTo>
                  <a:pt x="3421507" y="4263326"/>
                </a:moveTo>
                <a:lnTo>
                  <a:pt x="3419983" y="4250715"/>
                </a:lnTo>
                <a:lnTo>
                  <a:pt x="3369564" y="4256849"/>
                </a:lnTo>
                <a:lnTo>
                  <a:pt x="3371088" y="4269460"/>
                </a:lnTo>
                <a:lnTo>
                  <a:pt x="3421507" y="4263326"/>
                </a:lnTo>
                <a:close/>
              </a:path>
              <a:path w="4132579" h="4303395">
                <a:moveTo>
                  <a:pt x="3426206" y="3877818"/>
                </a:moveTo>
                <a:lnTo>
                  <a:pt x="3419602" y="3867023"/>
                </a:lnTo>
                <a:lnTo>
                  <a:pt x="3376295" y="3893693"/>
                </a:lnTo>
                <a:lnTo>
                  <a:pt x="3383026" y="3904488"/>
                </a:lnTo>
                <a:lnTo>
                  <a:pt x="3426206" y="3877818"/>
                </a:lnTo>
                <a:close/>
              </a:path>
              <a:path w="4132579" h="4303395">
                <a:moveTo>
                  <a:pt x="3445637" y="1905266"/>
                </a:moveTo>
                <a:lnTo>
                  <a:pt x="3416681" y="1878711"/>
                </a:lnTo>
                <a:lnTo>
                  <a:pt x="3407918" y="1871103"/>
                </a:lnTo>
                <a:lnTo>
                  <a:pt x="3399536" y="1880628"/>
                </a:lnTo>
                <a:lnTo>
                  <a:pt x="3408172" y="1888236"/>
                </a:lnTo>
                <a:lnTo>
                  <a:pt x="3437128" y="1914652"/>
                </a:lnTo>
                <a:lnTo>
                  <a:pt x="3445637" y="1905266"/>
                </a:lnTo>
                <a:close/>
              </a:path>
              <a:path w="4132579" h="4303395">
                <a:moveTo>
                  <a:pt x="3462147" y="2332101"/>
                </a:moveTo>
                <a:lnTo>
                  <a:pt x="3457702" y="2325116"/>
                </a:lnTo>
                <a:lnTo>
                  <a:pt x="3435477" y="2288794"/>
                </a:lnTo>
                <a:lnTo>
                  <a:pt x="3424682" y="2295525"/>
                </a:lnTo>
                <a:lnTo>
                  <a:pt x="3446907" y="2331720"/>
                </a:lnTo>
                <a:lnTo>
                  <a:pt x="3451352" y="2338832"/>
                </a:lnTo>
                <a:lnTo>
                  <a:pt x="3462147" y="2332101"/>
                </a:lnTo>
                <a:close/>
              </a:path>
              <a:path w="4132579" h="4303395">
                <a:moveTo>
                  <a:pt x="3501009" y="3829177"/>
                </a:moveTo>
                <a:lnTo>
                  <a:pt x="3493897" y="3818636"/>
                </a:lnTo>
                <a:lnTo>
                  <a:pt x="3463417" y="3839083"/>
                </a:lnTo>
                <a:lnTo>
                  <a:pt x="3451733" y="3846703"/>
                </a:lnTo>
                <a:lnTo>
                  <a:pt x="3458464" y="3857371"/>
                </a:lnTo>
                <a:lnTo>
                  <a:pt x="3470529" y="3849624"/>
                </a:lnTo>
                <a:lnTo>
                  <a:pt x="3501009" y="3829177"/>
                </a:lnTo>
                <a:close/>
              </a:path>
              <a:path w="4132579" h="4303395">
                <a:moveTo>
                  <a:pt x="3508756" y="2407793"/>
                </a:moveTo>
                <a:lnTo>
                  <a:pt x="3500628" y="2394458"/>
                </a:lnTo>
                <a:lnTo>
                  <a:pt x="3482213" y="2364486"/>
                </a:lnTo>
                <a:lnTo>
                  <a:pt x="3471418" y="2371090"/>
                </a:lnTo>
                <a:lnTo>
                  <a:pt x="3489833" y="2401062"/>
                </a:lnTo>
                <a:lnTo>
                  <a:pt x="3497961" y="2414397"/>
                </a:lnTo>
                <a:lnTo>
                  <a:pt x="3508756" y="2407793"/>
                </a:lnTo>
                <a:close/>
              </a:path>
              <a:path w="4132579" h="4303395">
                <a:moveTo>
                  <a:pt x="3509899" y="4251414"/>
                </a:moveTo>
                <a:lnTo>
                  <a:pt x="3507994" y="4238866"/>
                </a:lnTo>
                <a:lnTo>
                  <a:pt x="3494659" y="4240923"/>
                </a:lnTo>
                <a:lnTo>
                  <a:pt x="3457702" y="4246029"/>
                </a:lnTo>
                <a:lnTo>
                  <a:pt x="3459480" y="4258615"/>
                </a:lnTo>
                <a:lnTo>
                  <a:pt x="3496564" y="4253471"/>
                </a:lnTo>
                <a:lnTo>
                  <a:pt x="3509899" y="4251414"/>
                </a:lnTo>
                <a:close/>
              </a:path>
              <a:path w="4132579" h="4303395">
                <a:moveTo>
                  <a:pt x="3510153" y="1966849"/>
                </a:moveTo>
                <a:lnTo>
                  <a:pt x="3492500" y="1949450"/>
                </a:lnTo>
                <a:lnTo>
                  <a:pt x="3473577" y="1931428"/>
                </a:lnTo>
                <a:lnTo>
                  <a:pt x="3464814" y="1940687"/>
                </a:lnTo>
                <a:lnTo>
                  <a:pt x="3483737" y="1958721"/>
                </a:lnTo>
                <a:lnTo>
                  <a:pt x="3501136" y="1975866"/>
                </a:lnTo>
                <a:lnTo>
                  <a:pt x="3510153" y="1966849"/>
                </a:lnTo>
                <a:close/>
              </a:path>
              <a:path w="4132579" h="4303395">
                <a:moveTo>
                  <a:pt x="3554476" y="2484247"/>
                </a:moveTo>
                <a:lnTo>
                  <a:pt x="3540760" y="2460752"/>
                </a:lnTo>
                <a:lnTo>
                  <a:pt x="3528568" y="2440432"/>
                </a:lnTo>
                <a:lnTo>
                  <a:pt x="3517646" y="2446909"/>
                </a:lnTo>
                <a:lnTo>
                  <a:pt x="3529838" y="2467229"/>
                </a:lnTo>
                <a:lnTo>
                  <a:pt x="3543427" y="2490597"/>
                </a:lnTo>
                <a:lnTo>
                  <a:pt x="3554476" y="2484247"/>
                </a:lnTo>
                <a:close/>
              </a:path>
              <a:path w="4132579" h="4303395">
                <a:moveTo>
                  <a:pt x="3572256" y="2030730"/>
                </a:moveTo>
                <a:lnTo>
                  <a:pt x="3564763" y="2022602"/>
                </a:lnTo>
                <a:lnTo>
                  <a:pt x="3537077" y="1993900"/>
                </a:lnTo>
                <a:lnTo>
                  <a:pt x="3527933" y="2002790"/>
                </a:lnTo>
                <a:lnTo>
                  <a:pt x="3555619" y="2031365"/>
                </a:lnTo>
                <a:lnTo>
                  <a:pt x="3562985" y="2039366"/>
                </a:lnTo>
                <a:lnTo>
                  <a:pt x="3572256" y="2030730"/>
                </a:lnTo>
                <a:close/>
              </a:path>
              <a:path w="4132579" h="4303395">
                <a:moveTo>
                  <a:pt x="3572764" y="3775583"/>
                </a:moveTo>
                <a:lnTo>
                  <a:pt x="3564509" y="3765931"/>
                </a:lnTo>
                <a:lnTo>
                  <a:pt x="3560318" y="3769487"/>
                </a:lnTo>
                <a:lnTo>
                  <a:pt x="3528695" y="3793871"/>
                </a:lnTo>
                <a:lnTo>
                  <a:pt x="3524758" y="3796665"/>
                </a:lnTo>
                <a:lnTo>
                  <a:pt x="3532124" y="3807079"/>
                </a:lnTo>
                <a:lnTo>
                  <a:pt x="3536442" y="3804031"/>
                </a:lnTo>
                <a:lnTo>
                  <a:pt x="3568573" y="3779139"/>
                </a:lnTo>
                <a:lnTo>
                  <a:pt x="3572764" y="3775583"/>
                </a:lnTo>
                <a:close/>
              </a:path>
              <a:path w="4132579" h="4303395">
                <a:moveTo>
                  <a:pt x="3597402" y="2562479"/>
                </a:moveTo>
                <a:lnTo>
                  <a:pt x="3595370" y="2558415"/>
                </a:lnTo>
                <a:lnTo>
                  <a:pt x="3577971" y="2525903"/>
                </a:lnTo>
                <a:lnTo>
                  <a:pt x="3573272" y="2517521"/>
                </a:lnTo>
                <a:lnTo>
                  <a:pt x="3562223" y="2523744"/>
                </a:lnTo>
                <a:lnTo>
                  <a:pt x="3566922" y="2532126"/>
                </a:lnTo>
                <a:lnTo>
                  <a:pt x="3584194" y="2564511"/>
                </a:lnTo>
                <a:lnTo>
                  <a:pt x="3586099" y="2568194"/>
                </a:lnTo>
                <a:lnTo>
                  <a:pt x="3597402" y="2562479"/>
                </a:lnTo>
                <a:close/>
              </a:path>
              <a:path w="4132579" h="4303395">
                <a:moveTo>
                  <a:pt x="3597783" y="4236288"/>
                </a:moveTo>
                <a:lnTo>
                  <a:pt x="3595243" y="4223817"/>
                </a:lnTo>
                <a:lnTo>
                  <a:pt x="3577463" y="4227347"/>
                </a:lnTo>
                <a:lnTo>
                  <a:pt x="3545459" y="4232910"/>
                </a:lnTo>
                <a:lnTo>
                  <a:pt x="3547618" y="4245419"/>
                </a:lnTo>
                <a:lnTo>
                  <a:pt x="3579876" y="4239806"/>
                </a:lnTo>
                <a:lnTo>
                  <a:pt x="3597783" y="4236288"/>
                </a:lnTo>
                <a:close/>
              </a:path>
              <a:path w="4132579" h="4303395">
                <a:moveTo>
                  <a:pt x="3631819" y="2097024"/>
                </a:moveTo>
                <a:lnTo>
                  <a:pt x="3598164" y="2058797"/>
                </a:lnTo>
                <a:lnTo>
                  <a:pt x="3588766" y="2067433"/>
                </a:lnTo>
                <a:lnTo>
                  <a:pt x="3589782" y="2068449"/>
                </a:lnTo>
                <a:lnTo>
                  <a:pt x="3622294" y="2105406"/>
                </a:lnTo>
                <a:lnTo>
                  <a:pt x="3631819" y="2097024"/>
                </a:lnTo>
                <a:close/>
              </a:path>
              <a:path w="4132579" h="4303395">
                <a:moveTo>
                  <a:pt x="3635502" y="2643251"/>
                </a:moveTo>
                <a:lnTo>
                  <a:pt x="3627374" y="2624455"/>
                </a:lnTo>
                <a:lnTo>
                  <a:pt x="3614420" y="2596769"/>
                </a:lnTo>
                <a:lnTo>
                  <a:pt x="3602863" y="2602230"/>
                </a:lnTo>
                <a:lnTo>
                  <a:pt x="3615944" y="2629916"/>
                </a:lnTo>
                <a:lnTo>
                  <a:pt x="3623818" y="2648204"/>
                </a:lnTo>
                <a:lnTo>
                  <a:pt x="3635502" y="2643251"/>
                </a:lnTo>
                <a:close/>
              </a:path>
              <a:path w="4132579" h="4303395">
                <a:moveTo>
                  <a:pt x="3638042" y="3714369"/>
                </a:moveTo>
                <a:lnTo>
                  <a:pt x="3628771" y="3705733"/>
                </a:lnTo>
                <a:lnTo>
                  <a:pt x="3618992" y="3716274"/>
                </a:lnTo>
                <a:lnTo>
                  <a:pt x="3605149" y="3730117"/>
                </a:lnTo>
                <a:lnTo>
                  <a:pt x="3593084" y="3741166"/>
                </a:lnTo>
                <a:lnTo>
                  <a:pt x="3601720" y="3750437"/>
                </a:lnTo>
                <a:lnTo>
                  <a:pt x="3614039" y="3739007"/>
                </a:lnTo>
                <a:lnTo>
                  <a:pt x="3628263" y="3724910"/>
                </a:lnTo>
                <a:lnTo>
                  <a:pt x="3638042" y="3714369"/>
                </a:lnTo>
                <a:close/>
              </a:path>
              <a:path w="4132579" h="4303395">
                <a:moveTo>
                  <a:pt x="3667506" y="2726563"/>
                </a:moveTo>
                <a:lnTo>
                  <a:pt x="3655822" y="2693289"/>
                </a:lnTo>
                <a:lnTo>
                  <a:pt x="3649980" y="2678684"/>
                </a:lnTo>
                <a:lnTo>
                  <a:pt x="3638169" y="2683256"/>
                </a:lnTo>
                <a:lnTo>
                  <a:pt x="3644011" y="2697861"/>
                </a:lnTo>
                <a:lnTo>
                  <a:pt x="3655568" y="2730754"/>
                </a:lnTo>
                <a:lnTo>
                  <a:pt x="3667506" y="2726563"/>
                </a:lnTo>
                <a:close/>
              </a:path>
              <a:path w="4132579" h="4303395">
                <a:moveTo>
                  <a:pt x="3684778" y="4216451"/>
                </a:moveTo>
                <a:lnTo>
                  <a:pt x="3681603" y="4204157"/>
                </a:lnTo>
                <a:lnTo>
                  <a:pt x="3656203" y="4210761"/>
                </a:lnTo>
                <a:lnTo>
                  <a:pt x="3632454" y="4216095"/>
                </a:lnTo>
                <a:lnTo>
                  <a:pt x="3635248" y="4228490"/>
                </a:lnTo>
                <a:lnTo>
                  <a:pt x="3659378" y="4223055"/>
                </a:lnTo>
                <a:lnTo>
                  <a:pt x="3684778" y="4216451"/>
                </a:lnTo>
                <a:close/>
              </a:path>
              <a:path w="4132579" h="4303395">
                <a:moveTo>
                  <a:pt x="3688334" y="2165985"/>
                </a:moveTo>
                <a:lnTo>
                  <a:pt x="3664077" y="2135632"/>
                </a:lnTo>
                <a:lnTo>
                  <a:pt x="3656330" y="2126361"/>
                </a:lnTo>
                <a:lnTo>
                  <a:pt x="3646551" y="2134489"/>
                </a:lnTo>
                <a:lnTo>
                  <a:pt x="3654298" y="2143760"/>
                </a:lnTo>
                <a:lnTo>
                  <a:pt x="3678428" y="2173859"/>
                </a:lnTo>
                <a:lnTo>
                  <a:pt x="3688334" y="2165985"/>
                </a:lnTo>
                <a:close/>
              </a:path>
              <a:path w="4132579" h="4303395">
                <a:moveTo>
                  <a:pt x="3691890" y="3641979"/>
                </a:moveTo>
                <a:lnTo>
                  <a:pt x="3680841" y="3635756"/>
                </a:lnTo>
                <a:lnTo>
                  <a:pt x="3677539" y="3641471"/>
                </a:lnTo>
                <a:lnTo>
                  <a:pt x="3667633" y="3657092"/>
                </a:lnTo>
                <a:lnTo>
                  <a:pt x="3656584" y="3672459"/>
                </a:lnTo>
                <a:lnTo>
                  <a:pt x="3653028" y="3677031"/>
                </a:lnTo>
                <a:lnTo>
                  <a:pt x="3663061" y="3684905"/>
                </a:lnTo>
                <a:lnTo>
                  <a:pt x="3666998" y="3679825"/>
                </a:lnTo>
                <a:lnTo>
                  <a:pt x="3678301" y="3663950"/>
                </a:lnTo>
                <a:lnTo>
                  <a:pt x="3688588" y="3647694"/>
                </a:lnTo>
                <a:lnTo>
                  <a:pt x="3691890" y="3641979"/>
                </a:lnTo>
                <a:close/>
              </a:path>
              <a:path w="4132579" h="4303395">
                <a:moveTo>
                  <a:pt x="3692271" y="2812669"/>
                </a:moveTo>
                <a:lnTo>
                  <a:pt x="3690366" y="2804541"/>
                </a:lnTo>
                <a:lnTo>
                  <a:pt x="3679952" y="2766060"/>
                </a:lnTo>
                <a:lnTo>
                  <a:pt x="3679063" y="2763139"/>
                </a:lnTo>
                <a:lnTo>
                  <a:pt x="3666871" y="2766949"/>
                </a:lnTo>
                <a:lnTo>
                  <a:pt x="3667760" y="2769870"/>
                </a:lnTo>
                <a:lnTo>
                  <a:pt x="3678174" y="2807970"/>
                </a:lnTo>
                <a:lnTo>
                  <a:pt x="3679952" y="2815590"/>
                </a:lnTo>
                <a:lnTo>
                  <a:pt x="3692271" y="2812669"/>
                </a:lnTo>
                <a:close/>
              </a:path>
              <a:path w="4132579" h="4303395">
                <a:moveTo>
                  <a:pt x="3710686" y="2899918"/>
                </a:moveTo>
                <a:lnTo>
                  <a:pt x="3708273" y="2887091"/>
                </a:lnTo>
                <a:lnTo>
                  <a:pt x="3703955" y="2865628"/>
                </a:lnTo>
                <a:lnTo>
                  <a:pt x="3700780" y="2850007"/>
                </a:lnTo>
                <a:lnTo>
                  <a:pt x="3688334" y="2852547"/>
                </a:lnTo>
                <a:lnTo>
                  <a:pt x="3691636" y="2868168"/>
                </a:lnTo>
                <a:lnTo>
                  <a:pt x="3698113" y="2902331"/>
                </a:lnTo>
                <a:lnTo>
                  <a:pt x="3710686" y="2899918"/>
                </a:lnTo>
                <a:close/>
              </a:path>
              <a:path w="4132579" h="4303395">
                <a:moveTo>
                  <a:pt x="3725418" y="2987802"/>
                </a:moveTo>
                <a:lnTo>
                  <a:pt x="3724148" y="2978912"/>
                </a:lnTo>
                <a:lnTo>
                  <a:pt x="3717417" y="2937510"/>
                </a:lnTo>
                <a:lnTo>
                  <a:pt x="3704844" y="2939669"/>
                </a:lnTo>
                <a:lnTo>
                  <a:pt x="3711575" y="2980944"/>
                </a:lnTo>
                <a:lnTo>
                  <a:pt x="3712845" y="2989707"/>
                </a:lnTo>
                <a:lnTo>
                  <a:pt x="3725418" y="2987802"/>
                </a:lnTo>
                <a:close/>
              </a:path>
              <a:path w="4132579" h="4303395">
                <a:moveTo>
                  <a:pt x="3725799" y="3558286"/>
                </a:moveTo>
                <a:lnTo>
                  <a:pt x="3713480" y="3555111"/>
                </a:lnTo>
                <a:lnTo>
                  <a:pt x="3713480" y="3555492"/>
                </a:lnTo>
                <a:lnTo>
                  <a:pt x="3707892" y="3574034"/>
                </a:lnTo>
                <a:lnTo>
                  <a:pt x="3701796" y="3591814"/>
                </a:lnTo>
                <a:lnTo>
                  <a:pt x="3697478" y="3602355"/>
                </a:lnTo>
                <a:lnTo>
                  <a:pt x="3709162" y="3607181"/>
                </a:lnTo>
                <a:lnTo>
                  <a:pt x="3713861" y="3595878"/>
                </a:lnTo>
                <a:lnTo>
                  <a:pt x="3720084" y="3577717"/>
                </a:lnTo>
                <a:lnTo>
                  <a:pt x="3725799" y="3558540"/>
                </a:lnTo>
                <a:lnTo>
                  <a:pt x="3725799" y="3558286"/>
                </a:lnTo>
                <a:close/>
              </a:path>
              <a:path w="4132579" h="4303395">
                <a:moveTo>
                  <a:pt x="3737356" y="3076067"/>
                </a:moveTo>
                <a:lnTo>
                  <a:pt x="3731260" y="3027426"/>
                </a:lnTo>
                <a:lnTo>
                  <a:pt x="3731006" y="3025521"/>
                </a:lnTo>
                <a:lnTo>
                  <a:pt x="3718433" y="3027299"/>
                </a:lnTo>
                <a:lnTo>
                  <a:pt x="3724783" y="3077591"/>
                </a:lnTo>
                <a:lnTo>
                  <a:pt x="3737356" y="3076067"/>
                </a:lnTo>
                <a:close/>
              </a:path>
              <a:path w="4132579" h="4303395">
                <a:moveTo>
                  <a:pt x="3742436" y="2236851"/>
                </a:moveTo>
                <a:lnTo>
                  <a:pt x="3724910" y="2213229"/>
                </a:lnTo>
                <a:lnTo>
                  <a:pt x="3711829" y="2196211"/>
                </a:lnTo>
                <a:lnTo>
                  <a:pt x="3701669" y="2203958"/>
                </a:lnTo>
                <a:lnTo>
                  <a:pt x="3714877" y="2220976"/>
                </a:lnTo>
                <a:lnTo>
                  <a:pt x="3732276" y="2244471"/>
                </a:lnTo>
                <a:lnTo>
                  <a:pt x="3742436" y="2236851"/>
                </a:lnTo>
                <a:close/>
              </a:path>
              <a:path w="4132579" h="4303395">
                <a:moveTo>
                  <a:pt x="3743198" y="3470275"/>
                </a:moveTo>
                <a:lnTo>
                  <a:pt x="3730625" y="3468751"/>
                </a:lnTo>
                <a:lnTo>
                  <a:pt x="3730117" y="3473196"/>
                </a:lnTo>
                <a:lnTo>
                  <a:pt x="3726815" y="3494786"/>
                </a:lnTo>
                <a:lnTo>
                  <a:pt x="3722878" y="3515741"/>
                </a:lnTo>
                <a:lnTo>
                  <a:pt x="3722420" y="3518027"/>
                </a:lnTo>
                <a:lnTo>
                  <a:pt x="3722370" y="3518281"/>
                </a:lnTo>
                <a:lnTo>
                  <a:pt x="3734689" y="3520948"/>
                </a:lnTo>
                <a:lnTo>
                  <a:pt x="3735260" y="3518281"/>
                </a:lnTo>
                <a:lnTo>
                  <a:pt x="3739261" y="3496691"/>
                </a:lnTo>
                <a:lnTo>
                  <a:pt x="3742690" y="3474720"/>
                </a:lnTo>
                <a:lnTo>
                  <a:pt x="3743198" y="3470275"/>
                </a:lnTo>
                <a:close/>
              </a:path>
              <a:path w="4132579" h="4303395">
                <a:moveTo>
                  <a:pt x="3745992" y="3164840"/>
                </a:moveTo>
                <a:lnTo>
                  <a:pt x="3743058" y="3129534"/>
                </a:lnTo>
                <a:lnTo>
                  <a:pt x="3742944" y="3128137"/>
                </a:lnTo>
                <a:lnTo>
                  <a:pt x="3741420" y="3114040"/>
                </a:lnTo>
                <a:lnTo>
                  <a:pt x="3728847" y="3115437"/>
                </a:lnTo>
                <a:lnTo>
                  <a:pt x="3730371" y="3129534"/>
                </a:lnTo>
                <a:lnTo>
                  <a:pt x="3733330" y="3164840"/>
                </a:lnTo>
                <a:lnTo>
                  <a:pt x="3733419" y="3165856"/>
                </a:lnTo>
                <a:lnTo>
                  <a:pt x="3745992" y="3164840"/>
                </a:lnTo>
                <a:close/>
              </a:path>
              <a:path w="4132579" h="4303395">
                <a:moveTo>
                  <a:pt x="3751072" y="3381248"/>
                </a:moveTo>
                <a:lnTo>
                  <a:pt x="3738372" y="3380867"/>
                </a:lnTo>
                <a:lnTo>
                  <a:pt x="3738334" y="3381502"/>
                </a:lnTo>
                <a:lnTo>
                  <a:pt x="3735197" y="3428238"/>
                </a:lnTo>
                <a:lnTo>
                  <a:pt x="3734816" y="3431032"/>
                </a:lnTo>
                <a:lnTo>
                  <a:pt x="3747516" y="3432302"/>
                </a:lnTo>
                <a:lnTo>
                  <a:pt x="3747897" y="3429000"/>
                </a:lnTo>
                <a:lnTo>
                  <a:pt x="3750945" y="3381502"/>
                </a:lnTo>
                <a:lnTo>
                  <a:pt x="3751072" y="3381248"/>
                </a:lnTo>
                <a:close/>
              </a:path>
              <a:path w="4132579" h="4303395">
                <a:moveTo>
                  <a:pt x="3751199" y="3253867"/>
                </a:moveTo>
                <a:lnTo>
                  <a:pt x="3750462" y="3231769"/>
                </a:lnTo>
                <a:lnTo>
                  <a:pt x="3750437" y="3231007"/>
                </a:lnTo>
                <a:lnTo>
                  <a:pt x="3748697" y="3203702"/>
                </a:lnTo>
                <a:lnTo>
                  <a:pt x="3748659" y="3202940"/>
                </a:lnTo>
                <a:lnTo>
                  <a:pt x="3736086" y="3203702"/>
                </a:lnTo>
                <a:lnTo>
                  <a:pt x="3737686" y="3231007"/>
                </a:lnTo>
                <a:lnTo>
                  <a:pt x="3737737" y="3231769"/>
                </a:lnTo>
                <a:lnTo>
                  <a:pt x="3738473" y="3253867"/>
                </a:lnTo>
                <a:lnTo>
                  <a:pt x="3738499" y="3254248"/>
                </a:lnTo>
                <a:lnTo>
                  <a:pt x="3751199" y="3253867"/>
                </a:lnTo>
                <a:close/>
              </a:path>
              <a:path w="4132579" h="4303395">
                <a:moveTo>
                  <a:pt x="3752456" y="3332353"/>
                </a:moveTo>
                <a:lnTo>
                  <a:pt x="3752215" y="3292221"/>
                </a:lnTo>
                <a:lnTo>
                  <a:pt x="3739515" y="3292221"/>
                </a:lnTo>
                <a:lnTo>
                  <a:pt x="3739769" y="3332353"/>
                </a:lnTo>
                <a:lnTo>
                  <a:pt x="3739388" y="3342767"/>
                </a:lnTo>
                <a:lnTo>
                  <a:pt x="3752088" y="3343148"/>
                </a:lnTo>
                <a:lnTo>
                  <a:pt x="3752456" y="3332353"/>
                </a:lnTo>
                <a:close/>
              </a:path>
              <a:path w="4132579" h="4303395">
                <a:moveTo>
                  <a:pt x="3770249" y="4189425"/>
                </a:moveTo>
                <a:lnTo>
                  <a:pt x="3765550" y="4177665"/>
                </a:lnTo>
                <a:lnTo>
                  <a:pt x="3764280" y="4178160"/>
                </a:lnTo>
                <a:lnTo>
                  <a:pt x="3729863" y="4190149"/>
                </a:lnTo>
                <a:lnTo>
                  <a:pt x="3717925" y="4193705"/>
                </a:lnTo>
                <a:lnTo>
                  <a:pt x="3721608" y="4205871"/>
                </a:lnTo>
                <a:lnTo>
                  <a:pt x="3733927" y="4202138"/>
                </a:lnTo>
                <a:lnTo>
                  <a:pt x="3769106" y="4189920"/>
                </a:lnTo>
                <a:lnTo>
                  <a:pt x="3770249" y="4189425"/>
                </a:lnTo>
                <a:close/>
              </a:path>
              <a:path w="4132579" h="4303395">
                <a:moveTo>
                  <a:pt x="3793998" y="2309622"/>
                </a:moveTo>
                <a:lnTo>
                  <a:pt x="3782949" y="2293239"/>
                </a:lnTo>
                <a:lnTo>
                  <a:pt x="3764915" y="2267839"/>
                </a:lnTo>
                <a:lnTo>
                  <a:pt x="3754501" y="2275078"/>
                </a:lnTo>
                <a:lnTo>
                  <a:pt x="3772535" y="2300478"/>
                </a:lnTo>
                <a:lnTo>
                  <a:pt x="3783457" y="2316734"/>
                </a:lnTo>
                <a:lnTo>
                  <a:pt x="3793998" y="2309622"/>
                </a:lnTo>
                <a:close/>
              </a:path>
              <a:path w="4132579" h="4303395">
                <a:moveTo>
                  <a:pt x="3842893" y="2384171"/>
                </a:moveTo>
                <a:lnTo>
                  <a:pt x="3837559" y="2375662"/>
                </a:lnTo>
                <a:lnTo>
                  <a:pt x="3815334" y="2341245"/>
                </a:lnTo>
                <a:lnTo>
                  <a:pt x="3804666" y="2348230"/>
                </a:lnTo>
                <a:lnTo>
                  <a:pt x="3827018" y="2382520"/>
                </a:lnTo>
                <a:lnTo>
                  <a:pt x="3832098" y="2390775"/>
                </a:lnTo>
                <a:lnTo>
                  <a:pt x="3842893" y="2384171"/>
                </a:lnTo>
                <a:close/>
              </a:path>
              <a:path w="4132579" h="4303395">
                <a:moveTo>
                  <a:pt x="3851402" y="4151477"/>
                </a:moveTo>
                <a:lnTo>
                  <a:pt x="3845179" y="4140403"/>
                </a:lnTo>
                <a:lnTo>
                  <a:pt x="3828034" y="4150029"/>
                </a:lnTo>
                <a:lnTo>
                  <a:pt x="3800348" y="4163225"/>
                </a:lnTo>
                <a:lnTo>
                  <a:pt x="3805809" y="4174693"/>
                </a:lnTo>
                <a:lnTo>
                  <a:pt x="3834257" y="4161104"/>
                </a:lnTo>
                <a:lnTo>
                  <a:pt x="3851402" y="4151477"/>
                </a:lnTo>
                <a:close/>
              </a:path>
              <a:path w="4132579" h="4303395">
                <a:moveTo>
                  <a:pt x="3888740" y="2460625"/>
                </a:moveTo>
                <a:lnTo>
                  <a:pt x="3888613" y="2460371"/>
                </a:lnTo>
                <a:lnTo>
                  <a:pt x="3863594" y="2417699"/>
                </a:lnTo>
                <a:lnTo>
                  <a:pt x="3862832" y="2416556"/>
                </a:lnTo>
                <a:lnTo>
                  <a:pt x="3852037" y="2423287"/>
                </a:lnTo>
                <a:lnTo>
                  <a:pt x="3852799" y="2424430"/>
                </a:lnTo>
                <a:lnTo>
                  <a:pt x="3877691" y="2466848"/>
                </a:lnTo>
                <a:lnTo>
                  <a:pt x="3888740" y="2460625"/>
                </a:lnTo>
                <a:close/>
              </a:path>
              <a:path w="4132579" h="4303395">
                <a:moveTo>
                  <a:pt x="3924935" y="4099534"/>
                </a:moveTo>
                <a:lnTo>
                  <a:pt x="3916680" y="4089933"/>
                </a:lnTo>
                <a:lnTo>
                  <a:pt x="3908933" y="4096562"/>
                </a:lnTo>
                <a:lnTo>
                  <a:pt x="3883914" y="4115866"/>
                </a:lnTo>
                <a:lnTo>
                  <a:pt x="3877056" y="4120438"/>
                </a:lnTo>
                <a:lnTo>
                  <a:pt x="3884168" y="4130992"/>
                </a:lnTo>
                <a:lnTo>
                  <a:pt x="3891661" y="4125925"/>
                </a:lnTo>
                <a:lnTo>
                  <a:pt x="3917315" y="4106164"/>
                </a:lnTo>
                <a:lnTo>
                  <a:pt x="3924935" y="4099534"/>
                </a:lnTo>
                <a:close/>
              </a:path>
              <a:path w="4132579" h="4303395">
                <a:moveTo>
                  <a:pt x="3931031" y="2538984"/>
                </a:moveTo>
                <a:lnTo>
                  <a:pt x="3912489" y="2503678"/>
                </a:lnTo>
                <a:lnTo>
                  <a:pt x="3907155" y="2494026"/>
                </a:lnTo>
                <a:lnTo>
                  <a:pt x="3895979" y="2500122"/>
                </a:lnTo>
                <a:lnTo>
                  <a:pt x="3901440" y="2509901"/>
                </a:lnTo>
                <a:lnTo>
                  <a:pt x="3919728" y="2544953"/>
                </a:lnTo>
                <a:lnTo>
                  <a:pt x="3931031" y="2538984"/>
                </a:lnTo>
                <a:close/>
              </a:path>
              <a:path w="4132579" h="4303395">
                <a:moveTo>
                  <a:pt x="3969639" y="2619502"/>
                </a:moveTo>
                <a:lnTo>
                  <a:pt x="3957193" y="2592070"/>
                </a:lnTo>
                <a:lnTo>
                  <a:pt x="3948049" y="2573274"/>
                </a:lnTo>
                <a:lnTo>
                  <a:pt x="3936619" y="2578862"/>
                </a:lnTo>
                <a:lnTo>
                  <a:pt x="3945763" y="2597658"/>
                </a:lnTo>
                <a:lnTo>
                  <a:pt x="3958082" y="2624709"/>
                </a:lnTo>
                <a:lnTo>
                  <a:pt x="3969639" y="2619502"/>
                </a:lnTo>
                <a:close/>
              </a:path>
              <a:path w="4132579" h="4303395">
                <a:moveTo>
                  <a:pt x="3988181" y="4035552"/>
                </a:moveTo>
                <a:lnTo>
                  <a:pt x="3978275" y="4027678"/>
                </a:lnTo>
                <a:lnTo>
                  <a:pt x="3973957" y="4033037"/>
                </a:lnTo>
                <a:lnTo>
                  <a:pt x="3953891" y="4055199"/>
                </a:lnTo>
                <a:lnTo>
                  <a:pt x="3944366" y="4064470"/>
                </a:lnTo>
                <a:lnTo>
                  <a:pt x="3953383" y="4073525"/>
                </a:lnTo>
                <a:lnTo>
                  <a:pt x="3963289" y="4063720"/>
                </a:lnTo>
                <a:lnTo>
                  <a:pt x="3983990" y="4040911"/>
                </a:lnTo>
                <a:lnTo>
                  <a:pt x="3988181" y="4035552"/>
                </a:lnTo>
                <a:close/>
              </a:path>
              <a:path w="4132579" h="4303395">
                <a:moveTo>
                  <a:pt x="4004183" y="2701798"/>
                </a:moveTo>
                <a:lnTo>
                  <a:pt x="3996817" y="2682875"/>
                </a:lnTo>
                <a:lnTo>
                  <a:pt x="3984879" y="2654554"/>
                </a:lnTo>
                <a:lnTo>
                  <a:pt x="3973195" y="2659507"/>
                </a:lnTo>
                <a:lnTo>
                  <a:pt x="3985133" y="2687701"/>
                </a:lnTo>
                <a:lnTo>
                  <a:pt x="3992372" y="2706370"/>
                </a:lnTo>
                <a:lnTo>
                  <a:pt x="4004183" y="2701798"/>
                </a:lnTo>
                <a:close/>
              </a:path>
              <a:path w="4132579" h="4303395">
                <a:moveTo>
                  <a:pt x="4034409" y="2785745"/>
                </a:moveTo>
                <a:lnTo>
                  <a:pt x="4031234" y="2776093"/>
                </a:lnTo>
                <a:lnTo>
                  <a:pt x="4017772" y="2737612"/>
                </a:lnTo>
                <a:lnTo>
                  <a:pt x="4005707" y="2741803"/>
                </a:lnTo>
                <a:lnTo>
                  <a:pt x="4019296" y="2780284"/>
                </a:lnTo>
                <a:lnTo>
                  <a:pt x="4022217" y="2789682"/>
                </a:lnTo>
                <a:lnTo>
                  <a:pt x="4034409" y="2785745"/>
                </a:lnTo>
                <a:close/>
              </a:path>
              <a:path w="4132579" h="4303395">
                <a:moveTo>
                  <a:pt x="4038600" y="3961079"/>
                </a:moveTo>
                <a:lnTo>
                  <a:pt x="4027424" y="3955161"/>
                </a:lnTo>
                <a:lnTo>
                  <a:pt x="4025011" y="3959542"/>
                </a:lnTo>
                <a:lnTo>
                  <a:pt x="4009390" y="3985298"/>
                </a:lnTo>
                <a:lnTo>
                  <a:pt x="4000881" y="3997553"/>
                </a:lnTo>
                <a:lnTo>
                  <a:pt x="4011295" y="4004805"/>
                </a:lnTo>
                <a:lnTo>
                  <a:pt x="4020312" y="3991876"/>
                </a:lnTo>
                <a:lnTo>
                  <a:pt x="4036314" y="3965448"/>
                </a:lnTo>
                <a:lnTo>
                  <a:pt x="4038600" y="3961079"/>
                </a:lnTo>
                <a:close/>
              </a:path>
              <a:path w="4132579" h="4303395">
                <a:moveTo>
                  <a:pt x="4059809" y="2871216"/>
                </a:moveTo>
                <a:lnTo>
                  <a:pt x="4053332" y="2847848"/>
                </a:lnTo>
                <a:lnTo>
                  <a:pt x="4046347" y="2823591"/>
                </a:lnTo>
                <a:lnTo>
                  <a:pt x="4045839" y="2822067"/>
                </a:lnTo>
                <a:lnTo>
                  <a:pt x="4033774" y="2825877"/>
                </a:lnTo>
                <a:lnTo>
                  <a:pt x="4034282" y="2827401"/>
                </a:lnTo>
                <a:lnTo>
                  <a:pt x="4041140" y="2851404"/>
                </a:lnTo>
                <a:lnTo>
                  <a:pt x="4047490" y="2874518"/>
                </a:lnTo>
                <a:lnTo>
                  <a:pt x="4059809" y="2871216"/>
                </a:lnTo>
                <a:close/>
              </a:path>
              <a:path w="4132579" h="4303395">
                <a:moveTo>
                  <a:pt x="4075430" y="3879469"/>
                </a:moveTo>
                <a:lnTo>
                  <a:pt x="4063619" y="3874897"/>
                </a:lnTo>
                <a:lnTo>
                  <a:pt x="4052062" y="3904107"/>
                </a:lnTo>
                <a:lnTo>
                  <a:pt x="4044315" y="3921468"/>
                </a:lnTo>
                <a:lnTo>
                  <a:pt x="4055872" y="3926687"/>
                </a:lnTo>
                <a:lnTo>
                  <a:pt x="4064000" y="3908806"/>
                </a:lnTo>
                <a:lnTo>
                  <a:pt x="4075430" y="3879469"/>
                </a:lnTo>
                <a:close/>
              </a:path>
              <a:path w="4132579" h="4303395">
                <a:moveTo>
                  <a:pt x="4080002" y="2958211"/>
                </a:moveTo>
                <a:lnTo>
                  <a:pt x="4072636" y="2924175"/>
                </a:lnTo>
                <a:lnTo>
                  <a:pt x="4068953" y="2908427"/>
                </a:lnTo>
                <a:lnTo>
                  <a:pt x="4056634" y="2911348"/>
                </a:lnTo>
                <a:lnTo>
                  <a:pt x="4060317" y="2927096"/>
                </a:lnTo>
                <a:lnTo>
                  <a:pt x="4067556" y="2960751"/>
                </a:lnTo>
                <a:lnTo>
                  <a:pt x="4080002" y="2958211"/>
                </a:lnTo>
                <a:close/>
              </a:path>
              <a:path w="4132579" h="4303395">
                <a:moveTo>
                  <a:pt x="4096385" y="3045841"/>
                </a:moveTo>
                <a:lnTo>
                  <a:pt x="4094226" y="3032125"/>
                </a:lnTo>
                <a:lnTo>
                  <a:pt x="4087495" y="2995676"/>
                </a:lnTo>
                <a:lnTo>
                  <a:pt x="4074922" y="2997962"/>
                </a:lnTo>
                <a:lnTo>
                  <a:pt x="4081653" y="3034411"/>
                </a:lnTo>
                <a:lnTo>
                  <a:pt x="4083812" y="3047873"/>
                </a:lnTo>
                <a:lnTo>
                  <a:pt x="4096385" y="3045841"/>
                </a:lnTo>
                <a:close/>
              </a:path>
              <a:path w="4132579" h="4303395">
                <a:moveTo>
                  <a:pt x="4100703" y="3793363"/>
                </a:moveTo>
                <a:lnTo>
                  <a:pt x="4088257" y="3790442"/>
                </a:lnTo>
                <a:lnTo>
                  <a:pt x="4083558" y="3810381"/>
                </a:lnTo>
                <a:lnTo>
                  <a:pt x="4075303" y="3839210"/>
                </a:lnTo>
                <a:lnTo>
                  <a:pt x="4087495" y="3842766"/>
                </a:lnTo>
                <a:lnTo>
                  <a:pt x="4095877" y="3813429"/>
                </a:lnTo>
                <a:lnTo>
                  <a:pt x="4100703" y="3793363"/>
                </a:lnTo>
                <a:close/>
              </a:path>
              <a:path w="4132579" h="4303395">
                <a:moveTo>
                  <a:pt x="4109466" y="3133979"/>
                </a:moveTo>
                <a:lnTo>
                  <a:pt x="4102481" y="3083433"/>
                </a:lnTo>
                <a:lnTo>
                  <a:pt x="4089908" y="3085465"/>
                </a:lnTo>
                <a:lnTo>
                  <a:pt x="4090670" y="3089910"/>
                </a:lnTo>
                <a:lnTo>
                  <a:pt x="4096893" y="3135630"/>
                </a:lnTo>
                <a:lnTo>
                  <a:pt x="4109466" y="3133979"/>
                </a:lnTo>
                <a:close/>
              </a:path>
              <a:path w="4132579" h="4303395">
                <a:moveTo>
                  <a:pt x="4117340" y="3705606"/>
                </a:moveTo>
                <a:lnTo>
                  <a:pt x="4104767" y="3703574"/>
                </a:lnTo>
                <a:lnTo>
                  <a:pt x="4098798" y="3740150"/>
                </a:lnTo>
                <a:lnTo>
                  <a:pt x="4096131" y="3753358"/>
                </a:lnTo>
                <a:lnTo>
                  <a:pt x="4108704" y="3755898"/>
                </a:lnTo>
                <a:lnTo>
                  <a:pt x="4111371" y="3742182"/>
                </a:lnTo>
                <a:lnTo>
                  <a:pt x="4117340" y="3705606"/>
                </a:lnTo>
                <a:close/>
              </a:path>
              <a:path w="4132579" h="4303395">
                <a:moveTo>
                  <a:pt x="4119499" y="3222498"/>
                </a:moveTo>
                <a:lnTo>
                  <a:pt x="4117467" y="3201416"/>
                </a:lnTo>
                <a:lnTo>
                  <a:pt x="4114038" y="3171825"/>
                </a:lnTo>
                <a:lnTo>
                  <a:pt x="4101465" y="3173349"/>
                </a:lnTo>
                <a:lnTo>
                  <a:pt x="4104894" y="3202940"/>
                </a:lnTo>
                <a:lnTo>
                  <a:pt x="4106672" y="3222498"/>
                </a:lnTo>
                <a:lnTo>
                  <a:pt x="4106799" y="3223768"/>
                </a:lnTo>
                <a:lnTo>
                  <a:pt x="4119499" y="3222498"/>
                </a:lnTo>
                <a:close/>
              </a:path>
              <a:path w="4132579" h="4303395">
                <a:moveTo>
                  <a:pt x="4126738" y="3311271"/>
                </a:moveTo>
                <a:lnTo>
                  <a:pt x="4123118" y="3261487"/>
                </a:lnTo>
                <a:lnTo>
                  <a:pt x="4123055" y="3260598"/>
                </a:lnTo>
                <a:lnTo>
                  <a:pt x="4110355" y="3261487"/>
                </a:lnTo>
                <a:lnTo>
                  <a:pt x="4113961" y="3311271"/>
                </a:lnTo>
                <a:lnTo>
                  <a:pt x="4114038" y="3312160"/>
                </a:lnTo>
                <a:lnTo>
                  <a:pt x="4126738" y="3311271"/>
                </a:lnTo>
                <a:close/>
              </a:path>
              <a:path w="4132579" h="4303395">
                <a:moveTo>
                  <a:pt x="4127373" y="3616706"/>
                </a:moveTo>
                <a:lnTo>
                  <a:pt x="4114800" y="3615817"/>
                </a:lnTo>
                <a:lnTo>
                  <a:pt x="4114419" y="3621024"/>
                </a:lnTo>
                <a:lnTo>
                  <a:pt x="4112387" y="3642487"/>
                </a:lnTo>
                <a:lnTo>
                  <a:pt x="4110228" y="3663061"/>
                </a:lnTo>
                <a:lnTo>
                  <a:pt x="4109847" y="3665982"/>
                </a:lnTo>
                <a:lnTo>
                  <a:pt x="4122420" y="3667633"/>
                </a:lnTo>
                <a:lnTo>
                  <a:pt x="4122801" y="3664331"/>
                </a:lnTo>
                <a:lnTo>
                  <a:pt x="4125087" y="3643630"/>
                </a:lnTo>
                <a:lnTo>
                  <a:pt x="4126992" y="3621913"/>
                </a:lnTo>
                <a:lnTo>
                  <a:pt x="4127373" y="3616706"/>
                </a:lnTo>
                <a:close/>
              </a:path>
              <a:path w="4132579" h="4303395">
                <a:moveTo>
                  <a:pt x="4130929" y="3400298"/>
                </a:moveTo>
                <a:lnTo>
                  <a:pt x="4130052" y="3370961"/>
                </a:lnTo>
                <a:lnTo>
                  <a:pt x="4130040" y="3370199"/>
                </a:lnTo>
                <a:lnTo>
                  <a:pt x="4128935" y="3350133"/>
                </a:lnTo>
                <a:lnTo>
                  <a:pt x="4128897" y="3349371"/>
                </a:lnTo>
                <a:lnTo>
                  <a:pt x="4116197" y="3350133"/>
                </a:lnTo>
                <a:lnTo>
                  <a:pt x="4117289" y="3370199"/>
                </a:lnTo>
                <a:lnTo>
                  <a:pt x="4117340" y="3370961"/>
                </a:lnTo>
                <a:lnTo>
                  <a:pt x="4118216" y="3400298"/>
                </a:lnTo>
                <a:lnTo>
                  <a:pt x="4118229" y="3400679"/>
                </a:lnTo>
                <a:lnTo>
                  <a:pt x="4130929" y="3400298"/>
                </a:lnTo>
                <a:close/>
              </a:path>
              <a:path w="4132579" h="4303395">
                <a:moveTo>
                  <a:pt x="4131818" y="3527552"/>
                </a:moveTo>
                <a:lnTo>
                  <a:pt x="4119118" y="3527552"/>
                </a:lnTo>
                <a:lnTo>
                  <a:pt x="4118356" y="3552190"/>
                </a:lnTo>
                <a:lnTo>
                  <a:pt x="4117340" y="3575812"/>
                </a:lnTo>
                <a:lnTo>
                  <a:pt x="4117213" y="3577844"/>
                </a:lnTo>
                <a:lnTo>
                  <a:pt x="4129913" y="3578606"/>
                </a:lnTo>
                <a:lnTo>
                  <a:pt x="4130040" y="3576320"/>
                </a:lnTo>
                <a:lnTo>
                  <a:pt x="4131056" y="3552571"/>
                </a:lnTo>
                <a:lnTo>
                  <a:pt x="4131818" y="3528060"/>
                </a:lnTo>
                <a:lnTo>
                  <a:pt x="4131818" y="3527552"/>
                </a:lnTo>
                <a:close/>
              </a:path>
              <a:path w="4132579" h="4303395">
                <a:moveTo>
                  <a:pt x="4132326" y="3477260"/>
                </a:moveTo>
                <a:lnTo>
                  <a:pt x="4131945" y="3438652"/>
                </a:lnTo>
                <a:lnTo>
                  <a:pt x="4119245" y="3438652"/>
                </a:lnTo>
                <a:lnTo>
                  <a:pt x="4119613" y="3477260"/>
                </a:lnTo>
                <a:lnTo>
                  <a:pt x="4119626" y="3489452"/>
                </a:lnTo>
                <a:lnTo>
                  <a:pt x="4132326" y="3489452"/>
                </a:lnTo>
                <a:lnTo>
                  <a:pt x="4132326" y="3477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6D44A4-7D51-BABF-C7AF-9517041D7E2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Một</a:t>
            </a:r>
            <a:r>
              <a:rPr spc="-45" dirty="0"/>
              <a:t> </a:t>
            </a:r>
            <a:r>
              <a:rPr dirty="0"/>
              <a:t>số</a:t>
            </a:r>
            <a:r>
              <a:rPr spc="-50" dirty="0"/>
              <a:t> </a:t>
            </a:r>
            <a:r>
              <a:rPr dirty="0"/>
              <a:t>ví</a:t>
            </a:r>
            <a:r>
              <a:rPr spc="-45" dirty="0"/>
              <a:t> </a:t>
            </a:r>
            <a:r>
              <a:rPr spc="-25" dirty="0"/>
              <a:t>dụ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92453"/>
            <a:ext cx="81629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Cho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biết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tên,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địa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chỉ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viên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phòng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Nghiên </a:t>
            </a:r>
            <a:r>
              <a:rPr sz="2400" spc="-20" dirty="0">
                <a:latin typeface="Arial"/>
                <a:cs typeface="Arial"/>
              </a:rPr>
              <a:t>cứu.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1885314"/>
            <a:ext cx="1149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1940" y="1947799"/>
            <a:ext cx="7992109" cy="326834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781685" marR="3053080">
              <a:lnSpc>
                <a:spcPts val="2390"/>
              </a:lnSpc>
              <a:spcBef>
                <a:spcPts val="190"/>
              </a:spcBef>
            </a:pPr>
            <a:r>
              <a:rPr sz="3000" baseline="13888" dirty="0">
                <a:latin typeface="Arial"/>
                <a:cs typeface="Arial"/>
              </a:rPr>
              <a:t>Q1</a:t>
            </a:r>
            <a:r>
              <a:rPr sz="3000" spc="44" baseline="13888" dirty="0">
                <a:latin typeface="Arial"/>
                <a:cs typeface="Arial"/>
              </a:rPr>
              <a:t> </a:t>
            </a:r>
            <a:r>
              <a:rPr sz="3000" baseline="13888" dirty="0">
                <a:latin typeface="Symbol"/>
                <a:cs typeface="Symbol"/>
              </a:rPr>
              <a:t></a:t>
            </a:r>
            <a:r>
              <a:rPr sz="3000" spc="135" baseline="13888" dirty="0">
                <a:latin typeface="Times New Roman"/>
                <a:cs typeface="Times New Roman"/>
              </a:rPr>
              <a:t> </a:t>
            </a:r>
            <a:r>
              <a:rPr sz="3000" baseline="13888" dirty="0">
                <a:latin typeface="Symbol"/>
                <a:cs typeface="Symbol"/>
              </a:rPr>
              <a:t></a:t>
            </a:r>
            <a:r>
              <a:rPr sz="1300" dirty="0">
                <a:latin typeface="Arial"/>
                <a:cs typeface="Arial"/>
              </a:rPr>
              <a:t>TenPB =</a:t>
            </a:r>
            <a:r>
              <a:rPr sz="1300" spc="4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‘Nghien</a:t>
            </a:r>
            <a:r>
              <a:rPr sz="1300" spc="2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cuu’</a:t>
            </a:r>
            <a:r>
              <a:rPr sz="3000" spc="-15" baseline="13888" dirty="0">
                <a:latin typeface="Arial"/>
                <a:cs typeface="Arial"/>
              </a:rPr>
              <a:t>(PHONGBAN) </a:t>
            </a:r>
            <a:r>
              <a:rPr sz="2000" dirty="0">
                <a:latin typeface="Arial"/>
                <a:cs typeface="Arial"/>
              </a:rPr>
              <a:t>Q2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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Q1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*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NHANVIEN</a:t>
            </a:r>
            <a:endParaRPr sz="2000">
              <a:latin typeface="Arial"/>
              <a:cs typeface="Arial"/>
            </a:endParaRPr>
          </a:p>
          <a:p>
            <a:pPr marL="781685">
              <a:lnSpc>
                <a:spcPct val="100000"/>
              </a:lnSpc>
              <a:spcBef>
                <a:spcPts val="895"/>
              </a:spcBef>
            </a:pPr>
            <a:r>
              <a:rPr sz="3000" baseline="13888" dirty="0">
                <a:latin typeface="Arial"/>
                <a:cs typeface="Arial"/>
              </a:rPr>
              <a:t>Q</a:t>
            </a:r>
            <a:r>
              <a:rPr sz="3000" spc="7" baseline="13888" dirty="0">
                <a:latin typeface="Arial"/>
                <a:cs typeface="Arial"/>
              </a:rPr>
              <a:t> </a:t>
            </a:r>
            <a:r>
              <a:rPr sz="3000" baseline="13888" dirty="0">
                <a:latin typeface="Symbol"/>
                <a:cs typeface="Symbol"/>
              </a:rPr>
              <a:t></a:t>
            </a:r>
            <a:r>
              <a:rPr sz="3000" spc="97" baseline="13888" dirty="0">
                <a:latin typeface="Times New Roman"/>
                <a:cs typeface="Times New Roman"/>
              </a:rPr>
              <a:t> </a:t>
            </a:r>
            <a:r>
              <a:rPr sz="3000" baseline="13888" dirty="0">
                <a:latin typeface="Symbol"/>
                <a:cs typeface="Symbol"/>
              </a:rPr>
              <a:t></a:t>
            </a:r>
            <a:r>
              <a:rPr sz="1300" dirty="0">
                <a:latin typeface="Arial"/>
                <a:cs typeface="Arial"/>
              </a:rPr>
              <a:t>Ho,</a:t>
            </a:r>
            <a:r>
              <a:rPr sz="1300" spc="2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Ten, </a:t>
            </a:r>
            <a:r>
              <a:rPr sz="1300" spc="-10" dirty="0">
                <a:latin typeface="Arial"/>
                <a:cs typeface="Arial"/>
              </a:rPr>
              <a:t>DChi</a:t>
            </a:r>
            <a:r>
              <a:rPr sz="3000" spc="-15" baseline="13888" dirty="0">
                <a:latin typeface="Arial"/>
                <a:cs typeface="Arial"/>
              </a:rPr>
              <a:t>(Q2)</a:t>
            </a:r>
            <a:endParaRPr sz="3000" baseline="13888">
              <a:latin typeface="Arial"/>
              <a:cs typeface="Arial"/>
            </a:endParaRPr>
          </a:p>
          <a:p>
            <a:pPr marL="381000" marR="43180" indent="-342900">
              <a:lnSpc>
                <a:spcPct val="100000"/>
              </a:lnSpc>
              <a:spcBef>
                <a:spcPts val="80"/>
              </a:spcBef>
              <a:buFont typeface="Wingdings"/>
              <a:buChar char=""/>
              <a:tabLst>
                <a:tab pos="381000" algn="l"/>
              </a:tabLst>
            </a:pPr>
            <a:r>
              <a:rPr sz="2400" dirty="0">
                <a:latin typeface="Arial"/>
                <a:cs typeface="Arial"/>
              </a:rPr>
              <a:t>Cho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biết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tên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viên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tham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gia</a:t>
            </a:r>
            <a:r>
              <a:rPr sz="2400" spc="-1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tất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cả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dự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án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do </a:t>
            </a:r>
            <a:r>
              <a:rPr sz="2400" dirty="0">
                <a:latin typeface="Arial"/>
                <a:cs typeface="Arial"/>
              </a:rPr>
              <a:t>phòng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5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điều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phối.</a:t>
            </a:r>
            <a:endParaRPr sz="2400">
              <a:latin typeface="Arial"/>
              <a:cs typeface="Arial"/>
            </a:endParaRPr>
          </a:p>
          <a:p>
            <a:pPr marL="781685" marR="3648710" lvl="1" indent="-287020">
              <a:lnSpc>
                <a:spcPct val="120100"/>
              </a:lnSpc>
              <a:buChar char="•"/>
              <a:tabLst>
                <a:tab pos="781685" algn="l"/>
              </a:tabLst>
            </a:pPr>
            <a:r>
              <a:rPr sz="2000" dirty="0">
                <a:latin typeface="Arial"/>
                <a:cs typeface="Arial"/>
              </a:rPr>
              <a:t>Q1</a:t>
            </a:r>
            <a:r>
              <a:rPr sz="2000" spc="3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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</a:t>
            </a:r>
            <a:r>
              <a:rPr sz="1950" baseline="-21367" dirty="0">
                <a:latin typeface="Arial"/>
                <a:cs typeface="Arial"/>
              </a:rPr>
              <a:t>MaDA</a:t>
            </a:r>
            <a:r>
              <a:rPr sz="2000" dirty="0">
                <a:latin typeface="Arial"/>
                <a:cs typeface="Arial"/>
              </a:rPr>
              <a:t>(</a:t>
            </a:r>
            <a:r>
              <a:rPr sz="2000" dirty="0">
                <a:latin typeface="Symbol"/>
                <a:cs typeface="Symbol"/>
              </a:rPr>
              <a:t></a:t>
            </a:r>
            <a:r>
              <a:rPr sz="1950" baseline="-21367" dirty="0">
                <a:latin typeface="Arial"/>
                <a:cs typeface="Arial"/>
              </a:rPr>
              <a:t>PhongQL</a:t>
            </a:r>
            <a:r>
              <a:rPr sz="1950" spc="7" baseline="-21367" dirty="0">
                <a:latin typeface="Arial"/>
                <a:cs typeface="Arial"/>
              </a:rPr>
              <a:t> </a:t>
            </a:r>
            <a:r>
              <a:rPr sz="1950" baseline="-21367" dirty="0">
                <a:latin typeface="Arial"/>
                <a:cs typeface="Arial"/>
              </a:rPr>
              <a:t>=</a:t>
            </a:r>
            <a:r>
              <a:rPr sz="1950" spc="60" baseline="-21367" dirty="0">
                <a:latin typeface="Arial"/>
                <a:cs typeface="Arial"/>
              </a:rPr>
              <a:t> </a:t>
            </a:r>
            <a:r>
              <a:rPr sz="1950" spc="-15" baseline="-21367" dirty="0">
                <a:latin typeface="Arial"/>
                <a:cs typeface="Arial"/>
              </a:rPr>
              <a:t>5</a:t>
            </a:r>
            <a:r>
              <a:rPr sz="2000" spc="-10" dirty="0">
                <a:latin typeface="Arial"/>
                <a:cs typeface="Arial"/>
              </a:rPr>
              <a:t>(DUAN)) </a:t>
            </a:r>
            <a:r>
              <a:rPr sz="2000" dirty="0">
                <a:latin typeface="Arial"/>
                <a:cs typeface="Arial"/>
              </a:rPr>
              <a:t>Q2 </a:t>
            </a:r>
            <a:r>
              <a:rPr sz="2000" dirty="0">
                <a:latin typeface="Symbol"/>
                <a:cs typeface="Symbol"/>
              </a:rPr>
              <a:t>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</a:t>
            </a:r>
            <a:r>
              <a:rPr sz="1950" baseline="-21367" dirty="0">
                <a:latin typeface="Arial"/>
                <a:cs typeface="Arial"/>
              </a:rPr>
              <a:t>MaNV,</a:t>
            </a:r>
            <a:r>
              <a:rPr sz="1950" spc="67" baseline="-21367" dirty="0">
                <a:latin typeface="Arial"/>
                <a:cs typeface="Arial"/>
              </a:rPr>
              <a:t> </a:t>
            </a:r>
            <a:r>
              <a:rPr sz="1950" spc="-15" baseline="-21367" dirty="0">
                <a:latin typeface="Arial"/>
                <a:cs typeface="Arial"/>
              </a:rPr>
              <a:t>MaDA</a:t>
            </a:r>
            <a:r>
              <a:rPr sz="2000" spc="-10" dirty="0">
                <a:latin typeface="Arial"/>
                <a:cs typeface="Arial"/>
              </a:rPr>
              <a:t>(THAMGIA) </a:t>
            </a:r>
            <a:r>
              <a:rPr sz="2000" dirty="0">
                <a:latin typeface="Arial"/>
                <a:cs typeface="Arial"/>
              </a:rPr>
              <a:t>Q3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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Q2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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Arial"/>
                <a:cs typeface="Arial"/>
              </a:rPr>
              <a:t>Q1</a:t>
            </a:r>
            <a:endParaRPr sz="2000">
              <a:latin typeface="Arial"/>
              <a:cs typeface="Arial"/>
            </a:endParaRPr>
          </a:p>
          <a:p>
            <a:pPr marL="781685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Arial"/>
                <a:cs typeface="Arial"/>
              </a:rPr>
              <a:t>Q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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</a:t>
            </a:r>
            <a:r>
              <a:rPr sz="1950" baseline="-21367" dirty="0">
                <a:latin typeface="Arial"/>
                <a:cs typeface="Arial"/>
              </a:rPr>
              <a:t>Ho,</a:t>
            </a:r>
            <a:r>
              <a:rPr sz="1950" spc="30" baseline="-21367" dirty="0">
                <a:latin typeface="Arial"/>
                <a:cs typeface="Arial"/>
              </a:rPr>
              <a:t> </a:t>
            </a:r>
            <a:r>
              <a:rPr sz="1950" baseline="-21367" dirty="0">
                <a:latin typeface="Arial"/>
                <a:cs typeface="Arial"/>
              </a:rPr>
              <a:t>Ten</a:t>
            </a:r>
            <a:r>
              <a:rPr sz="2000" dirty="0">
                <a:latin typeface="Arial"/>
                <a:cs typeface="Arial"/>
              </a:rPr>
              <a:t>(Q3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* </a:t>
            </a:r>
            <a:r>
              <a:rPr sz="2000" spc="-10" dirty="0">
                <a:latin typeface="Arial"/>
                <a:cs typeface="Arial"/>
              </a:rPr>
              <a:t>NHANVIEN)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C4476-D685-536F-0D45-3BB07053A2E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Các</a:t>
            </a:r>
            <a:r>
              <a:rPr spc="-90" dirty="0"/>
              <a:t> </a:t>
            </a:r>
            <a:r>
              <a:rPr dirty="0"/>
              <a:t>phép</a:t>
            </a:r>
            <a:r>
              <a:rPr spc="-80" dirty="0"/>
              <a:t> </a:t>
            </a:r>
            <a:r>
              <a:rPr dirty="0"/>
              <a:t>toán</a:t>
            </a:r>
            <a:r>
              <a:rPr spc="-95" dirty="0"/>
              <a:t> </a:t>
            </a:r>
            <a:r>
              <a:rPr spc="-20" dirty="0"/>
              <a:t>khác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90624"/>
            <a:ext cx="8418830" cy="3954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200025" indent="-3429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Để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biểu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diễn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truy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vấn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mà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không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thể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thực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hiện </a:t>
            </a:r>
            <a:r>
              <a:rPr sz="2800" dirty="0">
                <a:latin typeface="Arial"/>
                <a:cs typeface="Arial"/>
              </a:rPr>
              <a:t>với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các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phép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toán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đại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số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quan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hệ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cơ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sở</a:t>
            </a:r>
            <a:endParaRPr sz="2800">
              <a:latin typeface="Arial"/>
              <a:cs typeface="Arial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595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Các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truy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vấn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mang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tính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chất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thông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kê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đơn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giản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trên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một </a:t>
            </a:r>
            <a:r>
              <a:rPr sz="2400" dirty="0">
                <a:latin typeface="Arial"/>
                <a:cs typeface="Arial"/>
              </a:rPr>
              <a:t>tập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hợp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giá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trị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hoặc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nhóm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tập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hợp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giá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trị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liệu.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truy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vấn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dùng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để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tạo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báo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cáo.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655"/>
              </a:spcBef>
              <a:buFont typeface="Wingdings"/>
              <a:buChar char=""/>
              <a:tabLst>
                <a:tab pos="354965" algn="l"/>
              </a:tabLst>
            </a:pPr>
            <a:r>
              <a:rPr sz="2800" spc="-25" dirty="0">
                <a:latin typeface="Arial"/>
                <a:cs typeface="Arial"/>
              </a:rPr>
              <a:t>Gồm</a:t>
            </a:r>
            <a:endParaRPr sz="2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95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Hàm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tập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hợp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(Aggregate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Function).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Phép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gom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nhóm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bộ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dữ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liệu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(Grouping).</a:t>
            </a:r>
            <a:endParaRPr sz="2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Phép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mở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rộng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(Outer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Join).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38797-A810-C978-5FED-1FD1E2F0114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Hàm</a:t>
            </a:r>
            <a:r>
              <a:rPr spc="-75" dirty="0"/>
              <a:t> </a:t>
            </a:r>
            <a:r>
              <a:rPr dirty="0"/>
              <a:t>tập</a:t>
            </a:r>
            <a:r>
              <a:rPr spc="-80" dirty="0"/>
              <a:t> </a:t>
            </a:r>
            <a:r>
              <a:rPr dirty="0"/>
              <a:t>hợp</a:t>
            </a:r>
            <a:r>
              <a:rPr spc="-80" dirty="0"/>
              <a:t> </a:t>
            </a:r>
            <a:r>
              <a:rPr dirty="0"/>
              <a:t>và</a:t>
            </a:r>
            <a:r>
              <a:rPr spc="-70" dirty="0"/>
              <a:t> </a:t>
            </a:r>
            <a:r>
              <a:rPr dirty="0"/>
              <a:t>gom</a:t>
            </a:r>
            <a:r>
              <a:rPr spc="-65" dirty="0"/>
              <a:t> </a:t>
            </a:r>
            <a:r>
              <a:rPr dirty="0"/>
              <a:t>nhóm</a:t>
            </a:r>
            <a:r>
              <a:rPr spc="-75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640" y="1030775"/>
            <a:ext cx="8338820" cy="437578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590"/>
              </a:spcBef>
              <a:buFont typeface="Wingdings"/>
              <a:buChar char=""/>
              <a:tabLst>
                <a:tab pos="367665" algn="l"/>
              </a:tabLst>
            </a:pPr>
            <a:r>
              <a:rPr sz="2000" dirty="0">
                <a:latin typeface="Arial"/>
                <a:cs typeface="Arial"/>
              </a:rPr>
              <a:t>Để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thực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hiện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truy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vấn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thống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kê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đơn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giản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trên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tập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hợp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giá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trị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số</a:t>
            </a:r>
            <a:endParaRPr sz="2000">
              <a:latin typeface="Arial"/>
              <a:cs typeface="Arial"/>
            </a:endParaRPr>
          </a:p>
          <a:p>
            <a:pPr marL="768985" lvl="1" indent="-286385">
              <a:lnSpc>
                <a:spcPct val="100000"/>
              </a:lnSpc>
              <a:spcBef>
                <a:spcPts val="439"/>
              </a:spcBef>
              <a:buChar char="•"/>
              <a:tabLst>
                <a:tab pos="768985" algn="l"/>
              </a:tabLst>
            </a:pPr>
            <a:r>
              <a:rPr sz="1800" dirty="0">
                <a:latin typeface="Arial"/>
                <a:cs typeface="Arial"/>
              </a:rPr>
              <a:t>SUM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Tính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tổng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giá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trị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trong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tập</a:t>
            </a:r>
            <a:r>
              <a:rPr sz="1800" spc="-20" dirty="0">
                <a:latin typeface="Arial"/>
                <a:cs typeface="Arial"/>
              </a:rPr>
              <a:t> hợp.</a:t>
            </a:r>
            <a:endParaRPr sz="1800">
              <a:latin typeface="Arial"/>
              <a:cs typeface="Arial"/>
            </a:endParaRPr>
          </a:p>
          <a:p>
            <a:pPr marL="768985" lvl="1" indent="-286385">
              <a:lnSpc>
                <a:spcPct val="100000"/>
              </a:lnSpc>
              <a:spcBef>
                <a:spcPts val="434"/>
              </a:spcBef>
              <a:buChar char="•"/>
              <a:tabLst>
                <a:tab pos="768985" algn="l"/>
              </a:tabLst>
            </a:pPr>
            <a:r>
              <a:rPr sz="1800" dirty="0">
                <a:latin typeface="Arial"/>
                <a:cs typeface="Arial"/>
              </a:rPr>
              <a:t>AVG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Tính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giá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trị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trung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bình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giá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trị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trong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tập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hợp.</a:t>
            </a:r>
            <a:endParaRPr sz="1800">
              <a:latin typeface="Arial"/>
              <a:cs typeface="Arial"/>
            </a:endParaRPr>
          </a:p>
          <a:p>
            <a:pPr marL="768985" lvl="1" indent="-286385">
              <a:lnSpc>
                <a:spcPct val="100000"/>
              </a:lnSpc>
              <a:spcBef>
                <a:spcPts val="430"/>
              </a:spcBef>
              <a:buChar char="•"/>
              <a:tabLst>
                <a:tab pos="768985" algn="l"/>
              </a:tabLst>
            </a:pPr>
            <a:r>
              <a:rPr sz="1800" dirty="0">
                <a:latin typeface="Arial"/>
                <a:cs typeface="Arial"/>
              </a:rPr>
              <a:t>MAX,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MIN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Tìm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giá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trị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lớn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nhất,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nhỏ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nhất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của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giá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trị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trong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tập</a:t>
            </a:r>
            <a:r>
              <a:rPr sz="1800" spc="-20" dirty="0">
                <a:latin typeface="Arial"/>
                <a:cs typeface="Arial"/>
              </a:rPr>
              <a:t> hợp.</a:t>
            </a:r>
            <a:endParaRPr sz="1800">
              <a:latin typeface="Arial"/>
              <a:cs typeface="Arial"/>
            </a:endParaRPr>
          </a:p>
          <a:p>
            <a:pPr marL="367665" indent="-342265">
              <a:lnSpc>
                <a:spcPct val="100000"/>
              </a:lnSpc>
              <a:spcBef>
                <a:spcPts val="470"/>
              </a:spcBef>
              <a:buFont typeface="Wingdings"/>
              <a:buChar char=""/>
              <a:tabLst>
                <a:tab pos="367665" algn="l"/>
              </a:tabLst>
            </a:pPr>
            <a:r>
              <a:rPr sz="2000" dirty="0">
                <a:latin typeface="Arial"/>
                <a:cs typeface="Arial"/>
              </a:rPr>
              <a:t>Để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đếm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số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bộ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quan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hệ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hoặc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số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giá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trị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tính.</a:t>
            </a:r>
            <a:endParaRPr sz="2000">
              <a:latin typeface="Arial"/>
              <a:cs typeface="Arial"/>
            </a:endParaRPr>
          </a:p>
          <a:p>
            <a:pPr marL="768985" lvl="1" indent="-286385">
              <a:lnSpc>
                <a:spcPct val="100000"/>
              </a:lnSpc>
              <a:spcBef>
                <a:spcPts val="440"/>
              </a:spcBef>
              <a:buChar char="•"/>
              <a:tabLst>
                <a:tab pos="768985" algn="l"/>
              </a:tabLst>
            </a:pPr>
            <a:r>
              <a:rPr sz="1800" spc="-10" dirty="0">
                <a:latin typeface="Arial"/>
                <a:cs typeface="Arial"/>
              </a:rPr>
              <a:t>COUNT</a:t>
            </a:r>
            <a:endParaRPr sz="1800">
              <a:latin typeface="Arial"/>
              <a:cs typeface="Arial"/>
            </a:endParaRPr>
          </a:p>
          <a:p>
            <a:pPr marL="368300" marR="41910" indent="-342900">
              <a:lnSpc>
                <a:spcPct val="100000"/>
              </a:lnSpc>
              <a:spcBef>
                <a:spcPts val="475"/>
              </a:spcBef>
              <a:buFont typeface="Wingdings"/>
              <a:buChar char=""/>
              <a:tabLst>
                <a:tab pos="368300" algn="l"/>
              </a:tabLst>
            </a:pPr>
            <a:r>
              <a:rPr sz="2000" dirty="0">
                <a:latin typeface="Arial"/>
                <a:cs typeface="Arial"/>
              </a:rPr>
              <a:t>Để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gom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nhóm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bộ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của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một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quan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hệ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theo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thuộc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tính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rồi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áp</a:t>
            </a:r>
            <a:r>
              <a:rPr sz="2000" spc="-20" dirty="0">
                <a:latin typeface="Arial"/>
                <a:cs typeface="Arial"/>
              </a:rPr>
              <a:t> dụng </a:t>
            </a:r>
            <a:r>
              <a:rPr sz="2000" dirty="0">
                <a:latin typeface="Arial"/>
                <a:cs typeface="Arial"/>
              </a:rPr>
              <a:t>các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hàm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tập</a:t>
            </a:r>
            <a:r>
              <a:rPr sz="2000" spc="-20" dirty="0">
                <a:latin typeface="Arial"/>
                <a:cs typeface="Arial"/>
              </a:rPr>
              <a:t> hợp.</a:t>
            </a:r>
            <a:endParaRPr sz="2000">
              <a:latin typeface="Arial"/>
              <a:cs typeface="Arial"/>
            </a:endParaRPr>
          </a:p>
          <a:p>
            <a:pPr marL="367665" indent="-342265">
              <a:lnSpc>
                <a:spcPct val="100000"/>
              </a:lnSpc>
              <a:spcBef>
                <a:spcPts val="480"/>
              </a:spcBef>
              <a:buFont typeface="Wingdings"/>
              <a:buChar char=""/>
              <a:tabLst>
                <a:tab pos="367665" algn="l"/>
              </a:tabLst>
            </a:pPr>
            <a:r>
              <a:rPr sz="2000" dirty="0">
                <a:latin typeface="Arial"/>
                <a:cs typeface="Arial"/>
              </a:rPr>
              <a:t>Cú</a:t>
            </a:r>
            <a:r>
              <a:rPr sz="2000" spc="-20" dirty="0">
                <a:latin typeface="Arial"/>
                <a:cs typeface="Arial"/>
              </a:rPr>
              <a:t> pháp</a:t>
            </a:r>
            <a:endParaRPr sz="2000">
              <a:latin typeface="Arial"/>
              <a:cs typeface="Arial"/>
            </a:endParaRPr>
          </a:p>
          <a:p>
            <a:pPr marL="768985" lvl="1" indent="-286385">
              <a:lnSpc>
                <a:spcPts val="2155"/>
              </a:lnSpc>
              <a:spcBef>
                <a:spcPts val="890"/>
              </a:spcBef>
              <a:buSzPct val="150000"/>
              <a:buChar char="•"/>
              <a:tabLst>
                <a:tab pos="768985" algn="l"/>
              </a:tabLst>
            </a:pPr>
            <a:r>
              <a:rPr sz="1200" spc="-10" dirty="0">
                <a:latin typeface="Arial"/>
                <a:cs typeface="Arial"/>
              </a:rPr>
              <a:t>&lt;DSTT&gt;</a:t>
            </a:r>
            <a:r>
              <a:rPr sz="2700" spc="-15" baseline="13888" dirty="0">
                <a:latin typeface="Cambria Math"/>
                <a:cs typeface="Cambria Math"/>
              </a:rPr>
              <a:t>ℱ</a:t>
            </a:r>
            <a:r>
              <a:rPr sz="1200" spc="-10" dirty="0">
                <a:latin typeface="Arial"/>
                <a:cs typeface="Arial"/>
              </a:rPr>
              <a:t>&lt;DSH&gt;</a:t>
            </a:r>
            <a:r>
              <a:rPr sz="2700" spc="-15" baseline="13888" dirty="0">
                <a:latin typeface="Arial"/>
                <a:cs typeface="Arial"/>
              </a:rPr>
              <a:t>(R)</a:t>
            </a:r>
            <a:endParaRPr sz="2700" baseline="13888">
              <a:latin typeface="Arial"/>
              <a:cs typeface="Arial"/>
            </a:endParaRPr>
          </a:p>
          <a:p>
            <a:pPr marL="768985" lvl="1" indent="-286385">
              <a:lnSpc>
                <a:spcPts val="2155"/>
              </a:lnSpc>
              <a:buChar char="•"/>
              <a:tabLst>
                <a:tab pos="768985" algn="l"/>
              </a:tabLst>
            </a:pPr>
            <a:r>
              <a:rPr sz="1800" dirty="0">
                <a:latin typeface="Arial"/>
                <a:cs typeface="Arial"/>
              </a:rPr>
              <a:t>&lt;DSTT&gt;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danh sách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tính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R.</a:t>
            </a:r>
            <a:endParaRPr sz="1800">
              <a:latin typeface="Arial"/>
              <a:cs typeface="Arial"/>
            </a:endParaRPr>
          </a:p>
          <a:p>
            <a:pPr marL="768985" lvl="1" indent="-286385">
              <a:lnSpc>
                <a:spcPct val="100000"/>
              </a:lnSpc>
              <a:spcBef>
                <a:spcPts val="430"/>
              </a:spcBef>
              <a:buChar char="•"/>
              <a:tabLst>
                <a:tab pos="768985" algn="l"/>
              </a:tabLst>
            </a:pPr>
            <a:r>
              <a:rPr sz="1800" dirty="0">
                <a:latin typeface="Arial"/>
                <a:cs typeface="Arial"/>
              </a:rPr>
              <a:t>&lt;DSH&gt;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là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danh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sách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các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cặp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(hàm tập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hợp,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thuộc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tính)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áp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dụng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trên</a:t>
            </a:r>
            <a:r>
              <a:rPr sz="1800" spc="-25" dirty="0">
                <a:latin typeface="Arial"/>
                <a:cs typeface="Arial"/>
              </a:rPr>
              <a:t> các</a:t>
            </a:r>
            <a:endParaRPr sz="1800">
              <a:latin typeface="Arial"/>
              <a:cs typeface="Arial"/>
            </a:endParaRPr>
          </a:p>
          <a:p>
            <a:pPr marL="768985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nhóm.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B8B74-F12B-6408-8BFC-2588346989A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Hàm</a:t>
            </a:r>
            <a:r>
              <a:rPr spc="-75" dirty="0"/>
              <a:t> </a:t>
            </a:r>
            <a:r>
              <a:rPr dirty="0"/>
              <a:t>tập</a:t>
            </a:r>
            <a:r>
              <a:rPr spc="-80" dirty="0"/>
              <a:t> </a:t>
            </a:r>
            <a:r>
              <a:rPr dirty="0"/>
              <a:t>hợp</a:t>
            </a:r>
            <a:r>
              <a:rPr spc="-80" dirty="0"/>
              <a:t> </a:t>
            </a:r>
            <a:r>
              <a:rPr dirty="0"/>
              <a:t>và</a:t>
            </a:r>
            <a:r>
              <a:rPr spc="-70" dirty="0"/>
              <a:t> </a:t>
            </a:r>
            <a:r>
              <a:rPr dirty="0"/>
              <a:t>gom</a:t>
            </a:r>
            <a:r>
              <a:rPr spc="-65" dirty="0"/>
              <a:t> </a:t>
            </a:r>
            <a:r>
              <a:rPr dirty="0"/>
              <a:t>nhóm</a:t>
            </a:r>
            <a:r>
              <a:rPr spc="-75" dirty="0"/>
              <a:t> </a:t>
            </a:r>
            <a:r>
              <a:rPr spc="-25" dirty="0"/>
              <a:t>(2)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74650" y="2660650"/>
          <a:ext cx="2679700" cy="1826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165850" y="1136650"/>
          <a:ext cx="2679700" cy="1458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F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32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356350" y="3346450"/>
          <a:ext cx="2489200" cy="1095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4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MAX_C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MIN_C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508750" y="5251450"/>
          <a:ext cx="2336800" cy="729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8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COUNT_C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AVG_D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2322702" y="1339977"/>
            <a:ext cx="151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Symbol"/>
                <a:cs typeface="Symbol"/>
              </a:rPr>
              <a:t>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76727" y="1339977"/>
            <a:ext cx="568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5285" algn="l"/>
              </a:tabLst>
            </a:pPr>
            <a:r>
              <a:rPr sz="1800" spc="-50" dirty="0">
                <a:latin typeface="Tahoma"/>
                <a:cs typeface="Tahoma"/>
              </a:rPr>
              <a:t>(</a:t>
            </a:r>
            <a:r>
              <a:rPr sz="1800" dirty="0">
                <a:latin typeface="Tahoma"/>
                <a:cs typeface="Tahoma"/>
              </a:rPr>
              <a:t>	</a:t>
            </a:r>
            <a:r>
              <a:rPr sz="1800" spc="-50" dirty="0">
                <a:latin typeface="Tahoma"/>
                <a:cs typeface="Tahoma"/>
              </a:rPr>
              <a:t>ℱ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47670" y="1472565"/>
            <a:ext cx="24898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4300" algn="l"/>
              </a:tabLst>
            </a:pPr>
            <a:r>
              <a:rPr sz="1200" dirty="0">
                <a:latin typeface="Tahoma"/>
                <a:cs typeface="Tahoma"/>
              </a:rPr>
              <a:t>S(A,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B,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E,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F)</a:t>
            </a:r>
            <a:r>
              <a:rPr sz="1200" spc="2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A,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B</a:t>
            </a:r>
            <a:r>
              <a:rPr sz="1200" dirty="0">
                <a:latin typeface="Tahoma"/>
                <a:cs typeface="Tahoma"/>
              </a:rPr>
              <a:t>	SUM(C),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AVG(C)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12233" y="1339977"/>
            <a:ext cx="478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ahoma"/>
                <a:cs typeface="Tahoma"/>
              </a:rPr>
              <a:t>(</a:t>
            </a:r>
            <a:r>
              <a:rPr sz="1800" spc="-20" dirty="0">
                <a:latin typeface="Verdana"/>
                <a:cs typeface="Verdana"/>
              </a:rPr>
              <a:t>R))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95475" y="1790700"/>
            <a:ext cx="4048125" cy="577850"/>
          </a:xfrm>
          <a:custGeom>
            <a:avLst/>
            <a:gdLst/>
            <a:ahLst/>
            <a:cxnLst/>
            <a:rect l="l" t="t" r="r" b="b"/>
            <a:pathLst>
              <a:path w="4048125" h="577850">
                <a:moveTo>
                  <a:pt x="3971925" y="31750"/>
                </a:moveTo>
                <a:lnTo>
                  <a:pt x="0" y="31750"/>
                </a:lnTo>
                <a:lnTo>
                  <a:pt x="0" y="577850"/>
                </a:lnTo>
                <a:lnTo>
                  <a:pt x="9525" y="577850"/>
                </a:lnTo>
                <a:lnTo>
                  <a:pt x="9525" y="568325"/>
                </a:lnTo>
                <a:lnTo>
                  <a:pt x="6350" y="565150"/>
                </a:lnTo>
                <a:lnTo>
                  <a:pt x="12700" y="565150"/>
                </a:lnTo>
                <a:lnTo>
                  <a:pt x="12700" y="44450"/>
                </a:lnTo>
                <a:lnTo>
                  <a:pt x="6350" y="44450"/>
                </a:lnTo>
                <a:lnTo>
                  <a:pt x="12700" y="38100"/>
                </a:lnTo>
                <a:lnTo>
                  <a:pt x="3971925" y="38100"/>
                </a:lnTo>
                <a:lnTo>
                  <a:pt x="3971925" y="31750"/>
                </a:lnTo>
                <a:close/>
              </a:path>
              <a:path w="4048125" h="577850">
                <a:moveTo>
                  <a:pt x="12700" y="565150"/>
                </a:moveTo>
                <a:lnTo>
                  <a:pt x="9525" y="565150"/>
                </a:lnTo>
                <a:lnTo>
                  <a:pt x="9525" y="568325"/>
                </a:lnTo>
                <a:lnTo>
                  <a:pt x="12700" y="571500"/>
                </a:lnTo>
                <a:lnTo>
                  <a:pt x="12700" y="565150"/>
                </a:lnTo>
                <a:close/>
              </a:path>
              <a:path w="4048125" h="577850">
                <a:moveTo>
                  <a:pt x="9525" y="565150"/>
                </a:moveTo>
                <a:lnTo>
                  <a:pt x="6350" y="565150"/>
                </a:lnTo>
                <a:lnTo>
                  <a:pt x="9525" y="568325"/>
                </a:lnTo>
                <a:lnTo>
                  <a:pt x="9525" y="565150"/>
                </a:lnTo>
                <a:close/>
              </a:path>
              <a:path w="4048125" h="577850">
                <a:moveTo>
                  <a:pt x="3971925" y="0"/>
                </a:moveTo>
                <a:lnTo>
                  <a:pt x="3971925" y="76200"/>
                </a:lnTo>
                <a:lnTo>
                  <a:pt x="4035425" y="44450"/>
                </a:lnTo>
                <a:lnTo>
                  <a:pt x="3984625" y="44450"/>
                </a:lnTo>
                <a:lnTo>
                  <a:pt x="3984625" y="31750"/>
                </a:lnTo>
                <a:lnTo>
                  <a:pt x="4035425" y="31750"/>
                </a:lnTo>
                <a:lnTo>
                  <a:pt x="3971925" y="0"/>
                </a:lnTo>
                <a:close/>
              </a:path>
              <a:path w="4048125" h="577850">
                <a:moveTo>
                  <a:pt x="12700" y="38100"/>
                </a:moveTo>
                <a:lnTo>
                  <a:pt x="6350" y="44450"/>
                </a:lnTo>
                <a:lnTo>
                  <a:pt x="12700" y="44450"/>
                </a:lnTo>
                <a:lnTo>
                  <a:pt x="12700" y="38100"/>
                </a:lnTo>
                <a:close/>
              </a:path>
              <a:path w="4048125" h="577850">
                <a:moveTo>
                  <a:pt x="3971925" y="38100"/>
                </a:moveTo>
                <a:lnTo>
                  <a:pt x="12700" y="38100"/>
                </a:lnTo>
                <a:lnTo>
                  <a:pt x="12700" y="44450"/>
                </a:lnTo>
                <a:lnTo>
                  <a:pt x="3971925" y="44450"/>
                </a:lnTo>
                <a:lnTo>
                  <a:pt x="3971925" y="38100"/>
                </a:lnTo>
                <a:close/>
              </a:path>
              <a:path w="4048125" h="577850">
                <a:moveTo>
                  <a:pt x="4035425" y="31750"/>
                </a:moveTo>
                <a:lnTo>
                  <a:pt x="3984625" y="31750"/>
                </a:lnTo>
                <a:lnTo>
                  <a:pt x="3984625" y="44450"/>
                </a:lnTo>
                <a:lnTo>
                  <a:pt x="4035425" y="44450"/>
                </a:lnTo>
                <a:lnTo>
                  <a:pt x="4048125" y="38100"/>
                </a:lnTo>
                <a:lnTo>
                  <a:pt x="4035425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200400" y="3771900"/>
            <a:ext cx="2971800" cy="76200"/>
          </a:xfrm>
          <a:custGeom>
            <a:avLst/>
            <a:gdLst/>
            <a:ahLst/>
            <a:cxnLst/>
            <a:rect l="l" t="t" r="r" b="b"/>
            <a:pathLst>
              <a:path w="2971800" h="76200">
                <a:moveTo>
                  <a:pt x="2895600" y="0"/>
                </a:moveTo>
                <a:lnTo>
                  <a:pt x="2895600" y="76200"/>
                </a:lnTo>
                <a:lnTo>
                  <a:pt x="2959100" y="44450"/>
                </a:lnTo>
                <a:lnTo>
                  <a:pt x="2908300" y="44450"/>
                </a:lnTo>
                <a:lnTo>
                  <a:pt x="2908300" y="31750"/>
                </a:lnTo>
                <a:lnTo>
                  <a:pt x="2959100" y="31750"/>
                </a:lnTo>
                <a:lnTo>
                  <a:pt x="2895600" y="0"/>
                </a:lnTo>
                <a:close/>
              </a:path>
              <a:path w="2971800" h="76200">
                <a:moveTo>
                  <a:pt x="28956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895600" y="44450"/>
                </a:lnTo>
                <a:lnTo>
                  <a:pt x="2895600" y="31750"/>
                </a:lnTo>
                <a:close/>
              </a:path>
              <a:path w="2971800" h="76200">
                <a:moveTo>
                  <a:pt x="2959100" y="31750"/>
                </a:moveTo>
                <a:lnTo>
                  <a:pt x="2908300" y="31750"/>
                </a:lnTo>
                <a:lnTo>
                  <a:pt x="2908300" y="44450"/>
                </a:lnTo>
                <a:lnTo>
                  <a:pt x="2959100" y="44450"/>
                </a:lnTo>
                <a:lnTo>
                  <a:pt x="2971800" y="38100"/>
                </a:lnTo>
                <a:lnTo>
                  <a:pt x="29591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794505" y="3379723"/>
            <a:ext cx="1781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ahoma"/>
                <a:cs typeface="Tahoma"/>
              </a:rPr>
              <a:t>A</a:t>
            </a:r>
            <a:r>
              <a:rPr sz="2700" baseline="13888" dirty="0">
                <a:latin typeface="Tahoma"/>
                <a:cs typeface="Tahoma"/>
              </a:rPr>
              <a:t>ℱ</a:t>
            </a:r>
            <a:r>
              <a:rPr sz="1200" dirty="0">
                <a:latin typeface="Tahoma"/>
                <a:cs typeface="Tahoma"/>
              </a:rPr>
              <a:t>MAX(C),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MIN(C)</a:t>
            </a:r>
            <a:r>
              <a:rPr sz="2700" spc="-15" baseline="13888" dirty="0">
                <a:latin typeface="Tahoma"/>
                <a:cs typeface="Tahoma"/>
              </a:rPr>
              <a:t>(</a:t>
            </a:r>
            <a:r>
              <a:rPr sz="2700" spc="-15" baseline="13888" dirty="0">
                <a:latin typeface="Verdana"/>
                <a:cs typeface="Verdana"/>
              </a:rPr>
              <a:t>R)</a:t>
            </a:r>
            <a:endParaRPr sz="2700" baseline="13888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59302" y="5132578"/>
            <a:ext cx="18992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700" baseline="13888" dirty="0">
                <a:latin typeface="Tahoma"/>
                <a:cs typeface="Tahoma"/>
              </a:rPr>
              <a:t>ℱ</a:t>
            </a:r>
            <a:r>
              <a:rPr sz="1200" dirty="0">
                <a:latin typeface="Tahoma"/>
                <a:cs typeface="Tahoma"/>
              </a:rPr>
              <a:t>COUNT(C),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AVG(D)</a:t>
            </a:r>
            <a:r>
              <a:rPr sz="2700" spc="-15" baseline="13888" dirty="0">
                <a:latin typeface="Tahoma"/>
                <a:cs typeface="Tahoma"/>
              </a:rPr>
              <a:t>(</a:t>
            </a:r>
            <a:r>
              <a:rPr sz="2700" spc="-15" baseline="13888" dirty="0">
                <a:latin typeface="Verdana"/>
                <a:cs typeface="Verdana"/>
              </a:rPr>
              <a:t>R)</a:t>
            </a:r>
            <a:endParaRPr sz="2700" baseline="13888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81200" y="4946650"/>
            <a:ext cx="4114800" cy="654050"/>
          </a:xfrm>
          <a:custGeom>
            <a:avLst/>
            <a:gdLst/>
            <a:ahLst/>
            <a:cxnLst/>
            <a:rect l="l" t="t" r="r" b="b"/>
            <a:pathLst>
              <a:path w="4114800" h="654050">
                <a:moveTo>
                  <a:pt x="4038600" y="577850"/>
                </a:moveTo>
                <a:lnTo>
                  <a:pt x="4038600" y="654050"/>
                </a:lnTo>
                <a:lnTo>
                  <a:pt x="4102100" y="622300"/>
                </a:lnTo>
                <a:lnTo>
                  <a:pt x="4051300" y="622300"/>
                </a:lnTo>
                <a:lnTo>
                  <a:pt x="4051300" y="609600"/>
                </a:lnTo>
                <a:lnTo>
                  <a:pt x="4102100" y="609600"/>
                </a:lnTo>
                <a:lnTo>
                  <a:pt x="4038600" y="577850"/>
                </a:lnTo>
                <a:close/>
              </a:path>
              <a:path w="4114800" h="654050">
                <a:moveTo>
                  <a:pt x="0" y="6350"/>
                </a:moveTo>
                <a:lnTo>
                  <a:pt x="0" y="622300"/>
                </a:lnTo>
                <a:lnTo>
                  <a:pt x="4038600" y="622300"/>
                </a:lnTo>
                <a:lnTo>
                  <a:pt x="4038600" y="615950"/>
                </a:lnTo>
                <a:lnTo>
                  <a:pt x="12700" y="615950"/>
                </a:lnTo>
                <a:lnTo>
                  <a:pt x="6350" y="609600"/>
                </a:lnTo>
                <a:lnTo>
                  <a:pt x="12700" y="609600"/>
                </a:lnTo>
                <a:lnTo>
                  <a:pt x="12700" y="12700"/>
                </a:lnTo>
                <a:lnTo>
                  <a:pt x="6350" y="12700"/>
                </a:lnTo>
                <a:lnTo>
                  <a:pt x="0" y="6350"/>
                </a:lnTo>
                <a:close/>
              </a:path>
              <a:path w="4114800" h="654050">
                <a:moveTo>
                  <a:pt x="4102100" y="609600"/>
                </a:moveTo>
                <a:lnTo>
                  <a:pt x="4051300" y="609600"/>
                </a:lnTo>
                <a:lnTo>
                  <a:pt x="4051300" y="622300"/>
                </a:lnTo>
                <a:lnTo>
                  <a:pt x="4102100" y="622300"/>
                </a:lnTo>
                <a:lnTo>
                  <a:pt x="4114800" y="615950"/>
                </a:lnTo>
                <a:lnTo>
                  <a:pt x="4102100" y="609600"/>
                </a:lnTo>
                <a:close/>
              </a:path>
              <a:path w="4114800" h="654050">
                <a:moveTo>
                  <a:pt x="12700" y="609600"/>
                </a:moveTo>
                <a:lnTo>
                  <a:pt x="6350" y="609600"/>
                </a:lnTo>
                <a:lnTo>
                  <a:pt x="12700" y="615950"/>
                </a:lnTo>
                <a:lnTo>
                  <a:pt x="12700" y="609600"/>
                </a:lnTo>
                <a:close/>
              </a:path>
              <a:path w="4114800" h="654050">
                <a:moveTo>
                  <a:pt x="4038600" y="609600"/>
                </a:moveTo>
                <a:lnTo>
                  <a:pt x="12700" y="609600"/>
                </a:lnTo>
                <a:lnTo>
                  <a:pt x="12700" y="615950"/>
                </a:lnTo>
                <a:lnTo>
                  <a:pt x="4038600" y="615950"/>
                </a:lnTo>
                <a:lnTo>
                  <a:pt x="4038600" y="609600"/>
                </a:lnTo>
                <a:close/>
              </a:path>
              <a:path w="4114800" h="654050">
                <a:moveTo>
                  <a:pt x="12700" y="0"/>
                </a:moveTo>
                <a:lnTo>
                  <a:pt x="0" y="0"/>
                </a:lnTo>
                <a:lnTo>
                  <a:pt x="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F42729C-69DD-FE3E-1805-DAF0CEA90A2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Phép</a:t>
            </a:r>
            <a:r>
              <a:rPr sz="3600" spc="-30" dirty="0"/>
              <a:t> </a:t>
            </a:r>
            <a:r>
              <a:rPr sz="3600" dirty="0"/>
              <a:t>kết</a:t>
            </a:r>
            <a:r>
              <a:rPr sz="3600" spc="-5" dirty="0"/>
              <a:t> </a:t>
            </a:r>
            <a:r>
              <a:rPr sz="3600" dirty="0"/>
              <a:t>mở</a:t>
            </a:r>
            <a:r>
              <a:rPr sz="3600" spc="-10" dirty="0"/>
              <a:t> </a:t>
            </a:r>
            <a:r>
              <a:rPr sz="3600" dirty="0"/>
              <a:t>rộng</a:t>
            </a:r>
            <a:r>
              <a:rPr sz="3600" spc="-25" dirty="0"/>
              <a:t> (1)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Wingdings"/>
              <a:buChar char=""/>
              <a:tabLst>
                <a:tab pos="355600" algn="l"/>
              </a:tabLst>
            </a:pPr>
            <a:r>
              <a:rPr dirty="0"/>
              <a:t>Để</a:t>
            </a:r>
            <a:r>
              <a:rPr spc="-35" dirty="0"/>
              <a:t> </a:t>
            </a:r>
            <a:r>
              <a:rPr dirty="0"/>
              <a:t>giữ</a:t>
            </a:r>
            <a:r>
              <a:rPr spc="-45" dirty="0"/>
              <a:t> </a:t>
            </a:r>
            <a:r>
              <a:rPr dirty="0"/>
              <a:t>lại</a:t>
            </a:r>
            <a:r>
              <a:rPr spc="-40" dirty="0"/>
              <a:t> </a:t>
            </a:r>
            <a:r>
              <a:rPr dirty="0"/>
              <a:t>tất</a:t>
            </a:r>
            <a:r>
              <a:rPr spc="-50" dirty="0"/>
              <a:t> </a:t>
            </a:r>
            <a:r>
              <a:rPr dirty="0"/>
              <a:t>cả</a:t>
            </a:r>
            <a:r>
              <a:rPr spc="-55" dirty="0"/>
              <a:t> </a:t>
            </a:r>
            <a:r>
              <a:rPr dirty="0"/>
              <a:t>các</a:t>
            </a:r>
            <a:r>
              <a:rPr spc="-45" dirty="0"/>
              <a:t> </a:t>
            </a:r>
            <a:r>
              <a:rPr dirty="0"/>
              <a:t>bộ</a:t>
            </a:r>
            <a:r>
              <a:rPr spc="-50" dirty="0"/>
              <a:t> </a:t>
            </a:r>
            <a:r>
              <a:rPr dirty="0"/>
              <a:t>trong</a:t>
            </a:r>
            <a:r>
              <a:rPr spc="-40" dirty="0"/>
              <a:t> </a:t>
            </a:r>
            <a:r>
              <a:rPr dirty="0"/>
              <a:t>một</a:t>
            </a:r>
            <a:r>
              <a:rPr spc="-40" dirty="0"/>
              <a:t> </a:t>
            </a:r>
            <a:r>
              <a:rPr dirty="0"/>
              <a:t>quan</a:t>
            </a:r>
            <a:r>
              <a:rPr spc="-30" dirty="0"/>
              <a:t> </a:t>
            </a:r>
            <a:r>
              <a:rPr dirty="0"/>
              <a:t>hệ</a:t>
            </a:r>
            <a:r>
              <a:rPr spc="-40" dirty="0"/>
              <a:t> </a:t>
            </a:r>
            <a:r>
              <a:rPr dirty="0"/>
              <a:t>bất</a:t>
            </a:r>
            <a:r>
              <a:rPr spc="-50" dirty="0"/>
              <a:t> </a:t>
            </a:r>
            <a:r>
              <a:rPr spc="-20" dirty="0"/>
              <a:t>chấp </a:t>
            </a:r>
            <a:r>
              <a:rPr dirty="0"/>
              <a:t>chúng</a:t>
            </a:r>
            <a:r>
              <a:rPr spc="-55" dirty="0"/>
              <a:t> </a:t>
            </a:r>
            <a:r>
              <a:rPr dirty="0"/>
              <a:t>có</a:t>
            </a:r>
            <a:r>
              <a:rPr spc="-50" dirty="0"/>
              <a:t> </a:t>
            </a:r>
            <a:r>
              <a:rPr dirty="0"/>
              <a:t>được</a:t>
            </a:r>
            <a:r>
              <a:rPr spc="-55" dirty="0"/>
              <a:t> </a:t>
            </a:r>
            <a:r>
              <a:rPr dirty="0"/>
              <a:t>liên</a:t>
            </a:r>
            <a:r>
              <a:rPr spc="-30" dirty="0"/>
              <a:t> </a:t>
            </a:r>
            <a:r>
              <a:rPr dirty="0"/>
              <a:t>kết</a:t>
            </a:r>
            <a:r>
              <a:rPr spc="-55" dirty="0"/>
              <a:t> </a:t>
            </a:r>
            <a:r>
              <a:rPr dirty="0"/>
              <a:t>với</a:t>
            </a:r>
            <a:r>
              <a:rPr spc="-50" dirty="0"/>
              <a:t> </a:t>
            </a:r>
            <a:r>
              <a:rPr dirty="0"/>
              <a:t>các</a:t>
            </a:r>
            <a:r>
              <a:rPr spc="-45" dirty="0"/>
              <a:t> </a:t>
            </a:r>
            <a:r>
              <a:rPr dirty="0"/>
              <a:t>bộ</a:t>
            </a:r>
            <a:r>
              <a:rPr spc="-45" dirty="0"/>
              <a:t> </a:t>
            </a:r>
            <a:r>
              <a:rPr dirty="0"/>
              <a:t>trong</a:t>
            </a:r>
            <a:r>
              <a:rPr spc="-50" dirty="0"/>
              <a:t> </a:t>
            </a:r>
            <a:r>
              <a:rPr dirty="0"/>
              <a:t>quan</a:t>
            </a:r>
            <a:r>
              <a:rPr spc="-35" dirty="0"/>
              <a:t> </a:t>
            </a:r>
            <a:r>
              <a:rPr spc="-25" dirty="0"/>
              <a:t>hệ </a:t>
            </a:r>
            <a:r>
              <a:rPr dirty="0"/>
              <a:t>còn</a:t>
            </a:r>
            <a:r>
              <a:rPr spc="-60" dirty="0"/>
              <a:t> </a:t>
            </a:r>
            <a:r>
              <a:rPr dirty="0"/>
              <a:t>lại</a:t>
            </a:r>
            <a:r>
              <a:rPr spc="-50" dirty="0"/>
              <a:t> </a:t>
            </a:r>
            <a:r>
              <a:rPr dirty="0"/>
              <a:t>hay</a:t>
            </a:r>
            <a:r>
              <a:rPr spc="-60" dirty="0"/>
              <a:t> </a:t>
            </a:r>
            <a:r>
              <a:rPr dirty="0"/>
              <a:t>không</a:t>
            </a:r>
            <a:r>
              <a:rPr spc="-45" dirty="0"/>
              <a:t> </a:t>
            </a:r>
            <a:r>
              <a:rPr dirty="0"/>
              <a:t>nhằm</a:t>
            </a:r>
            <a:r>
              <a:rPr spc="-40" dirty="0"/>
              <a:t> </a:t>
            </a:r>
            <a:r>
              <a:rPr dirty="0"/>
              <a:t>tránh</a:t>
            </a:r>
            <a:r>
              <a:rPr spc="-45" dirty="0"/>
              <a:t> </a:t>
            </a:r>
            <a:r>
              <a:rPr dirty="0"/>
              <a:t>mất</a:t>
            </a:r>
            <a:r>
              <a:rPr spc="-45" dirty="0"/>
              <a:t> </a:t>
            </a:r>
            <a:r>
              <a:rPr dirty="0"/>
              <a:t>thông</a:t>
            </a:r>
            <a:r>
              <a:rPr spc="-60" dirty="0"/>
              <a:t> </a:t>
            </a:r>
            <a:r>
              <a:rPr dirty="0"/>
              <a:t>tin</a:t>
            </a:r>
            <a:r>
              <a:rPr spc="-50" dirty="0"/>
              <a:t> </a:t>
            </a:r>
            <a:r>
              <a:rPr spc="-20" dirty="0"/>
              <a:t>hoặc </a:t>
            </a:r>
            <a:r>
              <a:rPr dirty="0"/>
              <a:t>tạo</a:t>
            </a:r>
            <a:r>
              <a:rPr spc="-45" dirty="0"/>
              <a:t> </a:t>
            </a:r>
            <a:r>
              <a:rPr dirty="0"/>
              <a:t>các</a:t>
            </a:r>
            <a:r>
              <a:rPr spc="-50" dirty="0"/>
              <a:t> </a:t>
            </a:r>
            <a:r>
              <a:rPr dirty="0"/>
              <a:t>báo</a:t>
            </a:r>
            <a:r>
              <a:rPr spc="-45" dirty="0"/>
              <a:t> </a:t>
            </a:r>
            <a:r>
              <a:rPr spc="-20" dirty="0"/>
              <a:t>cáo.</a:t>
            </a:r>
          </a:p>
          <a:p>
            <a:pPr marL="354965" indent="-342265">
              <a:lnSpc>
                <a:spcPct val="100000"/>
              </a:lnSpc>
              <a:spcBef>
                <a:spcPts val="680"/>
              </a:spcBef>
              <a:buFont typeface="Wingdings"/>
              <a:buChar char=""/>
              <a:tabLst>
                <a:tab pos="354965" algn="l"/>
              </a:tabLst>
            </a:pPr>
            <a:r>
              <a:rPr dirty="0"/>
              <a:t>Có</a:t>
            </a:r>
            <a:r>
              <a:rPr spc="-20" dirty="0"/>
              <a:t> </a:t>
            </a:r>
            <a:r>
              <a:rPr dirty="0"/>
              <a:t>3</a:t>
            </a:r>
            <a:r>
              <a:rPr spc="-35" dirty="0"/>
              <a:t> </a:t>
            </a:r>
            <a:r>
              <a:rPr spc="-20" dirty="0"/>
              <a:t>dạng</a:t>
            </a:r>
          </a:p>
          <a:p>
            <a:pPr marL="756285" lvl="1" indent="-286385">
              <a:lnSpc>
                <a:spcPct val="100000"/>
              </a:lnSpc>
              <a:spcBef>
                <a:spcPts val="590"/>
              </a:spcBef>
              <a:buChar char="•"/>
              <a:tabLst>
                <a:tab pos="756285" algn="l"/>
              </a:tabLst>
            </a:pPr>
            <a:r>
              <a:rPr sz="2400" dirty="0">
                <a:latin typeface="Arial"/>
                <a:cs typeface="Arial"/>
              </a:rPr>
              <a:t>Mở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rộng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trái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(Left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Outer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Join)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2044" y="3811600"/>
            <a:ext cx="4381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0665" algn="l"/>
              </a:tabLst>
            </a:pPr>
            <a:r>
              <a:rPr sz="2000" spc="-50" dirty="0">
                <a:latin typeface="Arial"/>
                <a:cs typeface="Arial"/>
              </a:rPr>
              <a:t>-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50" dirty="0">
                <a:latin typeface="Arial"/>
                <a:cs typeface="Arial"/>
              </a:rPr>
              <a:t>R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37485" y="3886276"/>
            <a:ext cx="864869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950" baseline="4273" dirty="0">
                <a:latin typeface="Arial"/>
                <a:cs typeface="Arial"/>
              </a:rPr>
              <a:t>&lt;</a:t>
            </a:r>
            <a:r>
              <a:rPr sz="1600" dirty="0">
                <a:latin typeface="Arial"/>
                <a:cs typeface="Arial"/>
              </a:rPr>
              <a:t>ĐK</a:t>
            </a:r>
            <a:r>
              <a:rPr sz="1950" baseline="4273" dirty="0">
                <a:latin typeface="Arial"/>
                <a:cs typeface="Arial"/>
              </a:rPr>
              <a:t>&gt;</a:t>
            </a:r>
            <a:r>
              <a:rPr sz="1950" spc="300" baseline="4273" dirty="0">
                <a:latin typeface="Arial"/>
                <a:cs typeface="Arial"/>
              </a:rPr>
              <a:t> </a:t>
            </a:r>
            <a:r>
              <a:rPr sz="3000" spc="-37" baseline="16666" dirty="0">
                <a:latin typeface="Arial"/>
                <a:cs typeface="Arial"/>
              </a:rPr>
              <a:t>S.</a:t>
            </a:r>
            <a:endParaRPr sz="3000" baseline="16666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4190238"/>
            <a:ext cx="46120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"/>
                <a:cs typeface="Arial"/>
              </a:rPr>
              <a:t>Mở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rộng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phải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(Right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Outer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Join)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2044" y="4616958"/>
            <a:ext cx="4381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665" algn="l"/>
              </a:tabLst>
            </a:pPr>
            <a:r>
              <a:rPr sz="2000" spc="-50" dirty="0">
                <a:latin typeface="Arial"/>
                <a:cs typeface="Arial"/>
              </a:rPr>
              <a:t>-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50" dirty="0">
                <a:latin typeface="Arial"/>
                <a:cs typeface="Arial"/>
              </a:rPr>
              <a:t>R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37485" y="4691634"/>
            <a:ext cx="86486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950" baseline="4273" dirty="0">
                <a:latin typeface="Arial"/>
                <a:cs typeface="Arial"/>
              </a:rPr>
              <a:t>&lt;</a:t>
            </a:r>
            <a:r>
              <a:rPr sz="1600" dirty="0">
                <a:latin typeface="Arial"/>
                <a:cs typeface="Arial"/>
              </a:rPr>
              <a:t>ĐK</a:t>
            </a:r>
            <a:r>
              <a:rPr sz="1950" baseline="4273" dirty="0">
                <a:latin typeface="Arial"/>
                <a:cs typeface="Arial"/>
              </a:rPr>
              <a:t>&gt;</a:t>
            </a:r>
            <a:r>
              <a:rPr sz="1950" spc="300" baseline="4273" dirty="0">
                <a:latin typeface="Arial"/>
                <a:cs typeface="Arial"/>
              </a:rPr>
              <a:t> </a:t>
            </a:r>
            <a:r>
              <a:rPr sz="3000" spc="-37" baseline="16666" dirty="0">
                <a:latin typeface="Arial"/>
                <a:cs typeface="Arial"/>
              </a:rPr>
              <a:t>S.</a:t>
            </a:r>
            <a:endParaRPr sz="3000" baseline="16666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9140" y="4921294"/>
            <a:ext cx="4949825" cy="83185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24485" indent="-286385">
              <a:lnSpc>
                <a:spcPct val="100000"/>
              </a:lnSpc>
              <a:spcBef>
                <a:spcPts val="680"/>
              </a:spcBef>
              <a:buChar char="•"/>
              <a:tabLst>
                <a:tab pos="324485" algn="l"/>
              </a:tabLst>
            </a:pPr>
            <a:r>
              <a:rPr sz="2400" dirty="0">
                <a:latin typeface="Arial"/>
                <a:cs typeface="Arial"/>
              </a:rPr>
              <a:t>Mở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rộng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hai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phía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(Full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Outer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Join)</a:t>
            </a:r>
            <a:endParaRPr sz="2400">
              <a:latin typeface="Arial"/>
              <a:cs typeface="Arial"/>
            </a:endParaRPr>
          </a:p>
          <a:p>
            <a:pPr marL="495300">
              <a:lnSpc>
                <a:spcPct val="100000"/>
              </a:lnSpc>
              <a:spcBef>
                <a:spcPts val="484"/>
              </a:spcBef>
              <a:tabLst>
                <a:tab pos="723900" algn="l"/>
                <a:tab pos="1282700" algn="l"/>
                <a:tab pos="1426210" algn="l"/>
                <a:tab pos="1696085" algn="l"/>
              </a:tabLst>
            </a:pPr>
            <a:r>
              <a:rPr sz="2000" spc="-50" dirty="0">
                <a:latin typeface="Arial"/>
                <a:cs typeface="Arial"/>
              </a:rPr>
              <a:t>-</a:t>
            </a:r>
            <a:r>
              <a:rPr sz="2000" dirty="0">
                <a:latin typeface="Arial"/>
                <a:cs typeface="Arial"/>
              </a:rPr>
              <a:t>	R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1950" baseline="-21367" dirty="0">
                <a:latin typeface="Arial"/>
                <a:cs typeface="Arial"/>
              </a:rPr>
              <a:t>&lt;</a:t>
            </a:r>
            <a:r>
              <a:rPr sz="2400" baseline="-20833" dirty="0">
                <a:latin typeface="Arial"/>
                <a:cs typeface="Arial"/>
              </a:rPr>
              <a:t>ĐK</a:t>
            </a:r>
            <a:r>
              <a:rPr sz="1950" baseline="-21367" dirty="0">
                <a:latin typeface="Arial"/>
                <a:cs typeface="Arial"/>
              </a:rPr>
              <a:t>&gt;</a:t>
            </a:r>
            <a:r>
              <a:rPr sz="1950" spc="434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600" y="3898201"/>
            <a:ext cx="419290" cy="22136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61553" y="4719637"/>
            <a:ext cx="417766" cy="221361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1752600" y="5489257"/>
            <a:ext cx="615950" cy="229235"/>
            <a:chOff x="1752600" y="5489257"/>
            <a:chExt cx="615950" cy="229235"/>
          </a:xfrm>
        </p:grpSpPr>
        <p:sp>
          <p:nvSpPr>
            <p:cNvPr id="13" name="object 13"/>
            <p:cNvSpPr/>
            <p:nvPr/>
          </p:nvSpPr>
          <p:spPr>
            <a:xfrm>
              <a:off x="1955292" y="5503164"/>
              <a:ext cx="210820" cy="210820"/>
            </a:xfrm>
            <a:custGeom>
              <a:avLst/>
              <a:gdLst/>
              <a:ahLst/>
              <a:cxnLst/>
              <a:rect l="l" t="t" r="r" b="b"/>
              <a:pathLst>
                <a:path w="210819" h="210820">
                  <a:moveTo>
                    <a:pt x="210312" y="210312"/>
                  </a:moveTo>
                  <a:lnTo>
                    <a:pt x="210312" y="0"/>
                  </a:lnTo>
                  <a:lnTo>
                    <a:pt x="105156" y="105156"/>
                  </a:lnTo>
                  <a:lnTo>
                    <a:pt x="0" y="0"/>
                  </a:lnTo>
                  <a:lnTo>
                    <a:pt x="0" y="210312"/>
                  </a:lnTo>
                  <a:lnTo>
                    <a:pt x="105156" y="105156"/>
                  </a:lnTo>
                  <a:lnTo>
                    <a:pt x="210312" y="21031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752600" y="5494020"/>
              <a:ext cx="615950" cy="5080"/>
            </a:xfrm>
            <a:custGeom>
              <a:avLst/>
              <a:gdLst/>
              <a:ahLst/>
              <a:cxnLst/>
              <a:rect l="l" t="t" r="r" b="b"/>
              <a:pathLst>
                <a:path w="615950" h="5079">
                  <a:moveTo>
                    <a:pt x="615695" y="0"/>
                  </a:moveTo>
                  <a:lnTo>
                    <a:pt x="413004" y="0"/>
                  </a:lnTo>
                </a:path>
                <a:path w="615950" h="5079">
                  <a:moveTo>
                    <a:pt x="202692" y="4571"/>
                  </a:moveTo>
                  <a:lnTo>
                    <a:pt x="0" y="457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C681F34-4E99-2DC3-2817-E5E91D820ED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Phép</a:t>
            </a:r>
            <a:r>
              <a:rPr spc="-65" dirty="0"/>
              <a:t> </a:t>
            </a:r>
            <a:r>
              <a:rPr dirty="0"/>
              <a:t>kết</a:t>
            </a:r>
            <a:r>
              <a:rPr spc="-55" dirty="0"/>
              <a:t> </a:t>
            </a:r>
            <a:r>
              <a:rPr dirty="0"/>
              <a:t>mở</a:t>
            </a:r>
            <a:r>
              <a:rPr spc="-50" dirty="0"/>
              <a:t> </a:t>
            </a:r>
            <a:r>
              <a:rPr dirty="0"/>
              <a:t>rộng</a:t>
            </a:r>
            <a:r>
              <a:rPr spc="-60" dirty="0"/>
              <a:t> </a:t>
            </a:r>
            <a:r>
              <a:rPr spc="-20" dirty="0"/>
              <a:t>trái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92453"/>
            <a:ext cx="819340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Giữ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lại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tất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cả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bộ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ở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bên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trái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phép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toán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kết </a:t>
            </a:r>
            <a:r>
              <a:rPr sz="2400" dirty="0">
                <a:latin typeface="Arial"/>
                <a:cs typeface="Arial"/>
              </a:rPr>
              <a:t>mà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không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liên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bộ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nào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bên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phải.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66902" y="2203450"/>
          <a:ext cx="2187575" cy="1826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66902" y="4260850"/>
          <a:ext cx="1640839" cy="1827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708650" y="2432050"/>
          <a:ext cx="2733040" cy="2921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0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85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null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null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3200400" y="3848100"/>
            <a:ext cx="2286000" cy="76200"/>
          </a:xfrm>
          <a:custGeom>
            <a:avLst/>
            <a:gdLst/>
            <a:ahLst/>
            <a:cxnLst/>
            <a:rect l="l" t="t" r="r" b="b"/>
            <a:pathLst>
              <a:path w="2286000" h="76200">
                <a:moveTo>
                  <a:pt x="2209800" y="0"/>
                </a:moveTo>
                <a:lnTo>
                  <a:pt x="2209800" y="76200"/>
                </a:lnTo>
                <a:lnTo>
                  <a:pt x="2273300" y="44450"/>
                </a:lnTo>
                <a:lnTo>
                  <a:pt x="2222500" y="44450"/>
                </a:lnTo>
                <a:lnTo>
                  <a:pt x="2222500" y="31750"/>
                </a:lnTo>
                <a:lnTo>
                  <a:pt x="2273300" y="31750"/>
                </a:lnTo>
                <a:lnTo>
                  <a:pt x="2209800" y="0"/>
                </a:lnTo>
                <a:close/>
              </a:path>
              <a:path w="2286000" h="76200">
                <a:moveTo>
                  <a:pt x="22098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209800" y="44450"/>
                </a:lnTo>
                <a:lnTo>
                  <a:pt x="2209800" y="31750"/>
                </a:lnTo>
                <a:close/>
              </a:path>
              <a:path w="2286000" h="76200">
                <a:moveTo>
                  <a:pt x="2273300" y="31750"/>
                </a:moveTo>
                <a:lnTo>
                  <a:pt x="2222500" y="31750"/>
                </a:lnTo>
                <a:lnTo>
                  <a:pt x="2222500" y="44450"/>
                </a:lnTo>
                <a:lnTo>
                  <a:pt x="2273300" y="44450"/>
                </a:lnTo>
                <a:lnTo>
                  <a:pt x="2286000" y="38100"/>
                </a:lnTo>
                <a:lnTo>
                  <a:pt x="22733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674109" y="3461384"/>
            <a:ext cx="184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99534" y="3593972"/>
            <a:ext cx="3752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Verdana"/>
                <a:cs typeface="Verdana"/>
              </a:rPr>
              <a:t>C&lt;D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29302" y="3461384"/>
            <a:ext cx="182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8871" y="3500437"/>
            <a:ext cx="419290" cy="221361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72D7B9A-FFF9-2A0A-E515-9E5958EBF24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Phép</a:t>
            </a:r>
            <a:r>
              <a:rPr spc="-65" dirty="0"/>
              <a:t> </a:t>
            </a:r>
            <a:r>
              <a:rPr dirty="0"/>
              <a:t>kết</a:t>
            </a:r>
            <a:r>
              <a:rPr spc="-55" dirty="0"/>
              <a:t> </a:t>
            </a:r>
            <a:r>
              <a:rPr dirty="0"/>
              <a:t>mở</a:t>
            </a:r>
            <a:r>
              <a:rPr spc="-50" dirty="0"/>
              <a:t> </a:t>
            </a:r>
            <a:r>
              <a:rPr dirty="0"/>
              <a:t>rộng</a:t>
            </a:r>
            <a:r>
              <a:rPr spc="-60" dirty="0"/>
              <a:t> </a:t>
            </a:r>
            <a:r>
              <a:rPr spc="-20" dirty="0"/>
              <a:t>phải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92453"/>
            <a:ext cx="83134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Giữ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lại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tất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cả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bộ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ở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bên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phải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phép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toán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kết </a:t>
            </a:r>
            <a:r>
              <a:rPr sz="2400" dirty="0">
                <a:latin typeface="Arial"/>
                <a:cs typeface="Arial"/>
              </a:rPr>
              <a:t>mà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không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liên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bộ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nào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bên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trái.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66902" y="2127250"/>
          <a:ext cx="2187575" cy="1826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66902" y="4184650"/>
          <a:ext cx="1640839" cy="1827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3200400" y="3771900"/>
            <a:ext cx="2286000" cy="76200"/>
          </a:xfrm>
          <a:custGeom>
            <a:avLst/>
            <a:gdLst/>
            <a:ahLst/>
            <a:cxnLst/>
            <a:rect l="l" t="t" r="r" b="b"/>
            <a:pathLst>
              <a:path w="2286000" h="76200">
                <a:moveTo>
                  <a:pt x="2209800" y="0"/>
                </a:moveTo>
                <a:lnTo>
                  <a:pt x="2209800" y="76200"/>
                </a:lnTo>
                <a:lnTo>
                  <a:pt x="2273300" y="44450"/>
                </a:lnTo>
                <a:lnTo>
                  <a:pt x="2222500" y="44450"/>
                </a:lnTo>
                <a:lnTo>
                  <a:pt x="2222500" y="31750"/>
                </a:lnTo>
                <a:lnTo>
                  <a:pt x="2273300" y="31750"/>
                </a:lnTo>
                <a:lnTo>
                  <a:pt x="2209800" y="0"/>
                </a:lnTo>
                <a:close/>
              </a:path>
              <a:path w="2286000" h="76200">
                <a:moveTo>
                  <a:pt x="22098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209800" y="44450"/>
                </a:lnTo>
                <a:lnTo>
                  <a:pt x="2209800" y="31750"/>
                </a:lnTo>
                <a:close/>
              </a:path>
              <a:path w="2286000" h="76200">
                <a:moveTo>
                  <a:pt x="2273300" y="31750"/>
                </a:moveTo>
                <a:lnTo>
                  <a:pt x="2222500" y="31750"/>
                </a:lnTo>
                <a:lnTo>
                  <a:pt x="2222500" y="44450"/>
                </a:lnTo>
                <a:lnTo>
                  <a:pt x="2273300" y="44450"/>
                </a:lnTo>
                <a:lnTo>
                  <a:pt x="2286000" y="38100"/>
                </a:lnTo>
                <a:lnTo>
                  <a:pt x="22733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674109" y="3385184"/>
            <a:ext cx="1847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99534" y="3517772"/>
            <a:ext cx="3752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Verdana"/>
                <a:cs typeface="Verdana"/>
              </a:rPr>
              <a:t>C&gt;D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29302" y="3385184"/>
            <a:ext cx="182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5633" y="3441001"/>
            <a:ext cx="417766" cy="221361"/>
          </a:xfrm>
          <a:prstGeom prst="rect">
            <a:avLst/>
          </a:prstGeom>
        </p:spPr>
      </p:pic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784850" y="2355850"/>
          <a:ext cx="2738755" cy="3303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8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null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null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null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73DF09-F65E-57C7-3769-29F5F09767D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Phép</a:t>
            </a:r>
            <a:r>
              <a:rPr sz="3600" spc="-30" dirty="0"/>
              <a:t> </a:t>
            </a:r>
            <a:r>
              <a:rPr sz="3600" dirty="0"/>
              <a:t>kết</a:t>
            </a:r>
            <a:r>
              <a:rPr sz="3600" spc="-10" dirty="0"/>
              <a:t> </a:t>
            </a:r>
            <a:r>
              <a:rPr sz="3600" dirty="0"/>
              <a:t>mở</a:t>
            </a:r>
            <a:r>
              <a:rPr sz="3600" spc="-5" dirty="0"/>
              <a:t> </a:t>
            </a:r>
            <a:r>
              <a:rPr sz="3600" dirty="0"/>
              <a:t>rộng</a:t>
            </a:r>
            <a:r>
              <a:rPr sz="3600" spc="-30" dirty="0"/>
              <a:t> </a:t>
            </a:r>
            <a:r>
              <a:rPr sz="3600" dirty="0"/>
              <a:t>hai</a:t>
            </a:r>
            <a:r>
              <a:rPr sz="3600" spc="-5" dirty="0"/>
              <a:t> </a:t>
            </a:r>
            <a:r>
              <a:rPr sz="3600" spc="-20" dirty="0"/>
              <a:t>phía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07340" y="1092453"/>
            <a:ext cx="839660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Arial"/>
                <a:cs typeface="Arial"/>
              </a:rPr>
              <a:t>Giữ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lại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tất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cả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các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bộ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từng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ở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hai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bên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phép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toán </a:t>
            </a:r>
            <a:r>
              <a:rPr sz="2400" dirty="0">
                <a:latin typeface="Arial"/>
                <a:cs typeface="Arial"/>
              </a:rPr>
              <a:t>kết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mà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không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liên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kết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được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với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bộ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nào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của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quan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hệ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còn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lại.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66902" y="2127250"/>
          <a:ext cx="2187575" cy="1826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66902" y="4184650"/>
          <a:ext cx="1640839" cy="1827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spc="-50" dirty="0">
                          <a:latin typeface="Arial"/>
                          <a:cs typeface="Arial"/>
                        </a:rPr>
                        <a:t>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85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3200400" y="3771900"/>
            <a:ext cx="2286000" cy="76200"/>
          </a:xfrm>
          <a:custGeom>
            <a:avLst/>
            <a:gdLst/>
            <a:ahLst/>
            <a:cxnLst/>
            <a:rect l="l" t="t" r="r" b="b"/>
            <a:pathLst>
              <a:path w="2286000" h="76200">
                <a:moveTo>
                  <a:pt x="2209800" y="0"/>
                </a:moveTo>
                <a:lnTo>
                  <a:pt x="2209800" y="76200"/>
                </a:lnTo>
                <a:lnTo>
                  <a:pt x="2273300" y="44450"/>
                </a:lnTo>
                <a:lnTo>
                  <a:pt x="2222500" y="44450"/>
                </a:lnTo>
                <a:lnTo>
                  <a:pt x="2222500" y="31750"/>
                </a:lnTo>
                <a:lnTo>
                  <a:pt x="2273300" y="31750"/>
                </a:lnTo>
                <a:lnTo>
                  <a:pt x="2209800" y="0"/>
                </a:lnTo>
                <a:close/>
              </a:path>
              <a:path w="2286000" h="76200">
                <a:moveTo>
                  <a:pt x="22098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209800" y="44450"/>
                </a:lnTo>
                <a:lnTo>
                  <a:pt x="2209800" y="31750"/>
                </a:lnTo>
                <a:close/>
              </a:path>
              <a:path w="2286000" h="76200">
                <a:moveTo>
                  <a:pt x="2273300" y="31750"/>
                </a:moveTo>
                <a:lnTo>
                  <a:pt x="2222500" y="31750"/>
                </a:lnTo>
                <a:lnTo>
                  <a:pt x="2222500" y="44450"/>
                </a:lnTo>
                <a:lnTo>
                  <a:pt x="2273300" y="44450"/>
                </a:lnTo>
                <a:lnTo>
                  <a:pt x="2286000" y="38100"/>
                </a:lnTo>
                <a:lnTo>
                  <a:pt x="22733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522723" y="3517772"/>
            <a:ext cx="376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Verdana"/>
                <a:cs typeface="Verdana"/>
              </a:rPr>
              <a:t>C=D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54984" y="3385184"/>
            <a:ext cx="1581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2290" algn="l"/>
                <a:tab pos="675005" algn="l"/>
                <a:tab pos="953769" algn="l"/>
                <a:tab pos="1411605" algn="l"/>
              </a:tabLst>
            </a:pPr>
            <a:r>
              <a:rPr sz="1800" dirty="0">
                <a:latin typeface="Verdana"/>
                <a:cs typeface="Verdana"/>
              </a:rPr>
              <a:t>R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	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	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50" dirty="0">
                <a:latin typeface="Verdana"/>
                <a:cs typeface="Verdana"/>
              </a:rPr>
              <a:t>S</a:t>
            </a:r>
            <a:endParaRPr sz="1800">
              <a:latin typeface="Verdana"/>
              <a:cs typeface="Verdana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784850" y="2736850"/>
          <a:ext cx="2787650" cy="2200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B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23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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900" spc="-50" dirty="0">
                          <a:latin typeface="Symbol"/>
                          <a:cs typeface="Symbol"/>
                        </a:rPr>
                        <a:t></a:t>
                      </a:r>
                      <a:endParaRPr sz="1900">
                        <a:latin typeface="Symbol"/>
                        <a:cs typeface="Symbo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null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null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null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null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20" dirty="0">
                          <a:latin typeface="Arial"/>
                          <a:cs typeface="Arial"/>
                        </a:rPr>
                        <a:t>null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3817620" y="3424237"/>
            <a:ext cx="615950" cy="229235"/>
            <a:chOff x="3817620" y="3424237"/>
            <a:chExt cx="615950" cy="229235"/>
          </a:xfrm>
        </p:grpSpPr>
        <p:sp>
          <p:nvSpPr>
            <p:cNvPr id="11" name="object 11"/>
            <p:cNvSpPr/>
            <p:nvPr/>
          </p:nvSpPr>
          <p:spPr>
            <a:xfrm>
              <a:off x="4021836" y="3438144"/>
              <a:ext cx="208915" cy="210820"/>
            </a:xfrm>
            <a:custGeom>
              <a:avLst/>
              <a:gdLst/>
              <a:ahLst/>
              <a:cxnLst/>
              <a:rect l="l" t="t" r="r" b="b"/>
              <a:pathLst>
                <a:path w="208914" h="210820">
                  <a:moveTo>
                    <a:pt x="208787" y="210311"/>
                  </a:moveTo>
                  <a:lnTo>
                    <a:pt x="208787" y="0"/>
                  </a:lnTo>
                  <a:lnTo>
                    <a:pt x="104393" y="105155"/>
                  </a:lnTo>
                  <a:lnTo>
                    <a:pt x="0" y="0"/>
                  </a:lnTo>
                  <a:lnTo>
                    <a:pt x="0" y="210311"/>
                  </a:lnTo>
                  <a:lnTo>
                    <a:pt x="104393" y="105155"/>
                  </a:lnTo>
                  <a:lnTo>
                    <a:pt x="208787" y="210311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17620" y="3429000"/>
              <a:ext cx="615950" cy="5080"/>
            </a:xfrm>
            <a:custGeom>
              <a:avLst/>
              <a:gdLst/>
              <a:ahLst/>
              <a:cxnLst/>
              <a:rect l="l" t="t" r="r" b="b"/>
              <a:pathLst>
                <a:path w="615950" h="5079">
                  <a:moveTo>
                    <a:pt x="615695" y="0"/>
                  </a:moveTo>
                  <a:lnTo>
                    <a:pt x="413003" y="0"/>
                  </a:lnTo>
                </a:path>
                <a:path w="615950" h="5079">
                  <a:moveTo>
                    <a:pt x="204215" y="4572"/>
                  </a:moveTo>
                  <a:lnTo>
                    <a:pt x="0" y="4572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C46F4F5-104A-2DCD-FAE4-E242CD7CFC5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Một</a:t>
            </a:r>
            <a:r>
              <a:rPr spc="-45" dirty="0"/>
              <a:t> </a:t>
            </a:r>
            <a:r>
              <a:rPr dirty="0"/>
              <a:t>số</a:t>
            </a:r>
            <a:r>
              <a:rPr spc="-50" dirty="0"/>
              <a:t> </a:t>
            </a:r>
            <a:r>
              <a:rPr dirty="0"/>
              <a:t>ví</a:t>
            </a:r>
            <a:r>
              <a:rPr spc="-45" dirty="0"/>
              <a:t> </a:t>
            </a:r>
            <a:r>
              <a:rPr spc="-25" dirty="0"/>
              <a:t>dụ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9240" y="1092453"/>
            <a:ext cx="8266430" cy="2367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241935" indent="-34290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393700" algn="l"/>
              </a:tabLst>
            </a:pPr>
            <a:r>
              <a:rPr sz="2400" dirty="0">
                <a:latin typeface="Arial"/>
                <a:cs typeface="Arial"/>
              </a:rPr>
              <a:t>Với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mỗi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phòng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ban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biết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mã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số,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tổng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số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viên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và </a:t>
            </a:r>
            <a:r>
              <a:rPr sz="2400" dirty="0">
                <a:latin typeface="Arial"/>
                <a:cs typeface="Arial"/>
              </a:rPr>
              <a:t>mức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lương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trung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bình.</a:t>
            </a:r>
            <a:endParaRPr sz="2400">
              <a:latin typeface="Arial"/>
              <a:cs typeface="Arial"/>
            </a:endParaRPr>
          </a:p>
          <a:p>
            <a:pPr marL="794385" lvl="1" indent="-286385">
              <a:lnSpc>
                <a:spcPts val="2585"/>
              </a:lnSpc>
              <a:spcBef>
                <a:spcPts val="1165"/>
              </a:spcBef>
              <a:buFont typeface="Arial"/>
              <a:buChar char="•"/>
              <a:tabLst>
                <a:tab pos="794385" algn="l"/>
              </a:tabLst>
            </a:pPr>
            <a:r>
              <a:rPr sz="3600" baseline="13888" dirty="0">
                <a:latin typeface="Symbol"/>
                <a:cs typeface="Symbol"/>
              </a:rPr>
              <a:t></a:t>
            </a:r>
            <a:r>
              <a:rPr sz="1600" dirty="0">
                <a:latin typeface="Arial"/>
                <a:cs typeface="Arial"/>
              </a:rPr>
              <a:t>(MaPB,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SoNV,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LuongTB)</a:t>
            </a:r>
            <a:r>
              <a:rPr sz="3600" spc="-15" baseline="13888" dirty="0">
                <a:latin typeface="Arial"/>
                <a:cs typeface="Arial"/>
              </a:rPr>
              <a:t>(</a:t>
            </a:r>
            <a:r>
              <a:rPr sz="1600" spc="-10" dirty="0">
                <a:latin typeface="Arial"/>
                <a:cs typeface="Arial"/>
              </a:rPr>
              <a:t>MaPB</a:t>
            </a:r>
            <a:r>
              <a:rPr sz="3600" spc="-15" baseline="13888" dirty="0">
                <a:latin typeface="Cambria Math"/>
                <a:cs typeface="Cambria Math"/>
              </a:rPr>
              <a:t>ℱ</a:t>
            </a:r>
            <a:r>
              <a:rPr sz="1600" spc="-10" dirty="0">
                <a:latin typeface="Arial"/>
                <a:cs typeface="Arial"/>
              </a:rPr>
              <a:t>COUNT(MaNV),</a:t>
            </a:r>
            <a:r>
              <a:rPr sz="1600" dirty="0">
                <a:latin typeface="Arial"/>
                <a:cs typeface="Arial"/>
              </a:rPr>
              <a:t> </a:t>
            </a:r>
            <a:r>
              <a:rPr sz="1600" spc="-10" dirty="0">
                <a:latin typeface="Arial"/>
                <a:cs typeface="Arial"/>
              </a:rPr>
              <a:t>AVG(Luong)</a:t>
            </a:r>
            <a:endParaRPr sz="1600">
              <a:latin typeface="Arial"/>
              <a:cs typeface="Arial"/>
            </a:endParaRPr>
          </a:p>
          <a:p>
            <a:pPr marL="794385">
              <a:lnSpc>
                <a:spcPts val="2585"/>
              </a:lnSpc>
            </a:pPr>
            <a:r>
              <a:rPr sz="2400" spc="-10" dirty="0">
                <a:latin typeface="Arial"/>
                <a:cs typeface="Arial"/>
              </a:rPr>
              <a:t>(NHANVIEN))</a:t>
            </a:r>
            <a:endParaRPr sz="2400">
              <a:latin typeface="Arial"/>
              <a:cs typeface="Arial"/>
            </a:endParaRPr>
          </a:p>
          <a:p>
            <a:pPr marL="393065" indent="-342265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93065" algn="l"/>
              </a:tabLst>
            </a:pPr>
            <a:r>
              <a:rPr sz="2400" dirty="0">
                <a:latin typeface="Arial"/>
                <a:cs typeface="Arial"/>
              </a:rPr>
              <a:t>Với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mỗi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nhân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viên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cho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biết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họ,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tên</a:t>
            </a:r>
            <a:r>
              <a:rPr sz="2400" spc="-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và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tên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phòng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nếu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họ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là</a:t>
            </a:r>
            <a:endParaRPr sz="2400">
              <a:latin typeface="Arial"/>
              <a:cs typeface="Arial"/>
            </a:endParaRPr>
          </a:p>
          <a:p>
            <a:pPr marL="393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"/>
                <a:cs typeface="Arial"/>
              </a:rPr>
              <a:t>trưởng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phòng.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9140" y="3372529"/>
            <a:ext cx="2814955" cy="882015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324485" indent="-286385">
              <a:lnSpc>
                <a:spcPct val="100000"/>
              </a:lnSpc>
              <a:spcBef>
                <a:spcPts val="1065"/>
              </a:spcBef>
              <a:buChar char="•"/>
              <a:tabLst>
                <a:tab pos="324485" algn="l"/>
              </a:tabLst>
            </a:pPr>
            <a:r>
              <a:rPr sz="2000" dirty="0">
                <a:latin typeface="Arial"/>
                <a:cs typeface="Arial"/>
              </a:rPr>
              <a:t>Q1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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Arial"/>
                <a:cs typeface="Arial"/>
              </a:rPr>
              <a:t>NHANVIEN</a:t>
            </a:r>
            <a:endParaRPr sz="2000">
              <a:latin typeface="Arial"/>
              <a:cs typeface="Arial"/>
            </a:endParaRPr>
          </a:p>
          <a:p>
            <a:pPr marL="324485">
              <a:lnSpc>
                <a:spcPct val="100000"/>
              </a:lnSpc>
              <a:spcBef>
                <a:spcPts val="975"/>
              </a:spcBef>
            </a:pPr>
            <a:r>
              <a:rPr sz="3000" baseline="13888" dirty="0">
                <a:latin typeface="Arial"/>
                <a:cs typeface="Arial"/>
              </a:rPr>
              <a:t>Q</a:t>
            </a:r>
            <a:r>
              <a:rPr sz="3000" spc="7" baseline="13888" dirty="0">
                <a:latin typeface="Arial"/>
                <a:cs typeface="Arial"/>
              </a:rPr>
              <a:t> </a:t>
            </a:r>
            <a:r>
              <a:rPr sz="3000" baseline="13888" dirty="0">
                <a:latin typeface="Symbol"/>
                <a:cs typeface="Symbol"/>
              </a:rPr>
              <a:t></a:t>
            </a:r>
            <a:r>
              <a:rPr sz="3000" spc="97" baseline="13888" dirty="0">
                <a:latin typeface="Times New Roman"/>
                <a:cs typeface="Times New Roman"/>
              </a:rPr>
              <a:t> </a:t>
            </a:r>
            <a:r>
              <a:rPr sz="3000" baseline="13888" dirty="0">
                <a:latin typeface="Symbol"/>
                <a:cs typeface="Symbol"/>
              </a:rPr>
              <a:t></a:t>
            </a:r>
            <a:r>
              <a:rPr sz="1300" dirty="0">
                <a:latin typeface="Arial"/>
                <a:cs typeface="Arial"/>
              </a:rPr>
              <a:t>Ho,</a:t>
            </a:r>
            <a:r>
              <a:rPr sz="1300" spc="2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Ten, </a:t>
            </a:r>
            <a:r>
              <a:rPr sz="1300" spc="-10" dirty="0">
                <a:latin typeface="Arial"/>
                <a:cs typeface="Arial"/>
              </a:rPr>
              <a:t>TenPB</a:t>
            </a:r>
            <a:r>
              <a:rPr sz="3000" spc="-15" baseline="13888" dirty="0">
                <a:latin typeface="Arial"/>
                <a:cs typeface="Arial"/>
              </a:rPr>
              <a:t>(Q1)</a:t>
            </a:r>
            <a:endParaRPr sz="3000" baseline="13888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99383" y="3557396"/>
            <a:ext cx="29133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300" dirty="0">
                <a:latin typeface="Arial"/>
                <a:cs typeface="Arial"/>
              </a:rPr>
              <a:t>MaNV</a:t>
            </a:r>
            <a:r>
              <a:rPr sz="1300" spc="7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=</a:t>
            </a:r>
            <a:r>
              <a:rPr sz="1300" spc="5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TrPhong</a:t>
            </a:r>
            <a:r>
              <a:rPr sz="1300" spc="220" dirty="0">
                <a:latin typeface="Arial"/>
                <a:cs typeface="Arial"/>
              </a:rPr>
              <a:t> </a:t>
            </a:r>
            <a:r>
              <a:rPr sz="3000" spc="-15" baseline="13888" dirty="0">
                <a:latin typeface="Arial"/>
                <a:cs typeface="Arial"/>
              </a:rPr>
              <a:t>PHONGBAN</a:t>
            </a:r>
            <a:endParaRPr sz="3000" baseline="13888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3072" y="3576637"/>
            <a:ext cx="419290" cy="221361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7BCEF4-BC4D-26FE-ADA4-1C696521FBC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3298</Words>
  <Application>Microsoft Office PowerPoint</Application>
  <PresentationFormat>On-screen Show (4:3)</PresentationFormat>
  <Paragraphs>969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Aptos</vt:lpstr>
      <vt:lpstr>Arial</vt:lpstr>
      <vt:lpstr>Cambria Math</vt:lpstr>
      <vt:lpstr>Symbol</vt:lpstr>
      <vt:lpstr>Tahoma</vt:lpstr>
      <vt:lpstr>Times New Roman</vt:lpstr>
      <vt:lpstr>Verdana</vt:lpstr>
      <vt:lpstr>Wingdings</vt:lpstr>
      <vt:lpstr>Office Theme</vt:lpstr>
      <vt:lpstr>PowerPoint Presentation</vt:lpstr>
      <vt:lpstr>Nội dung trình bày</vt:lpstr>
      <vt:lpstr>Giới thiệu (1)</vt:lpstr>
      <vt:lpstr>Giới thiệu (2)</vt:lpstr>
      <vt:lpstr>Phép toán 1 ngôi</vt:lpstr>
      <vt:lpstr>Phép chọn (1)</vt:lpstr>
      <vt:lpstr>Phép chọn (2)</vt:lpstr>
      <vt:lpstr>Phép chiếu (1)</vt:lpstr>
      <vt:lpstr>Phép chiếu (2)</vt:lpstr>
      <vt:lpstr>Chuỗi các phép toán và phép gán</vt:lpstr>
      <vt:lpstr>Phép đổi tên</vt:lpstr>
      <vt:lpstr>Một số ví dụ</vt:lpstr>
      <vt:lpstr>Phép toán 2 ngôi</vt:lpstr>
      <vt:lpstr>Phép toán tập hợp (1)</vt:lpstr>
      <vt:lpstr>Phép hội</vt:lpstr>
      <vt:lpstr>Phép giao</vt:lpstr>
      <vt:lpstr>Phép hiệu</vt:lpstr>
      <vt:lpstr>Phép toán tập hợp (2)</vt:lpstr>
      <vt:lpstr>Phép tích Cartesian</vt:lpstr>
      <vt:lpstr>Một số ví dụ</vt:lpstr>
      <vt:lpstr>Phép kết</vt:lpstr>
      <vt:lpstr>Phép kết theta</vt:lpstr>
      <vt:lpstr>Phép kết bằng</vt:lpstr>
      <vt:lpstr>Phép kết tự nhiên</vt:lpstr>
      <vt:lpstr>Phép chia (1)</vt:lpstr>
      <vt:lpstr>Phép chia (2)</vt:lpstr>
      <vt:lpstr>Một số ví dụ</vt:lpstr>
      <vt:lpstr>Các phép toán khác</vt:lpstr>
      <vt:lpstr>Hàm tập hợp và gom nhóm (1)</vt:lpstr>
      <vt:lpstr>Hàm tập hợp và gom nhóm (2)</vt:lpstr>
      <vt:lpstr>Phép kết mở rộng (1)</vt:lpstr>
      <vt:lpstr>Phép kết mở rộng trái</vt:lpstr>
      <vt:lpstr>Phép kết mở rộng phải</vt:lpstr>
      <vt:lpstr>Phép kết mở rộng hai phía</vt:lpstr>
      <vt:lpstr>Một số ví dụ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Đại số quan hệ</dc:title>
  <dc:creator>Dũng Hà Thanh</dc:creator>
  <cp:lastModifiedBy>Nguyễn Thanh Tiến</cp:lastModifiedBy>
  <cp:revision>1</cp:revision>
  <dcterms:created xsi:type="dcterms:W3CDTF">2025-04-29T05:30:45Z</dcterms:created>
  <dcterms:modified xsi:type="dcterms:W3CDTF">2025-05-13T02:00:46Z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2024-11-15T00:00:00Z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2025-04-29T00:00:00Z</vt:filetime>
  </property>
  <property fmtid="{D5CDD505-2E9C-101B-9397-08002B2CF9AE}" pid="5" name="Producer">
    <vt:lpwstr>3-Heights(TM) PDF Security Shell 4.8.25.2 (http://www.pdf-tools.com)</vt:lpwstr>
  </property>
</Properties>
</file>