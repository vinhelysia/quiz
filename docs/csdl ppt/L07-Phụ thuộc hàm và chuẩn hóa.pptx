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CD647-8111-4841-9686-F84C18AAD1EC}" v="1" dt="2025-05-13T02:01:40.2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8C313-C4AE-449E-8952-B9BDA8C21805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F2977-C396-44C4-A77C-6B57B4E57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CFA9D-3444-4DB8-9C52-AFE0F99B2949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47A91-701C-46CB-979F-8CD63338A7E6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0649E-056C-4815-9331-F2A0F4B13836}" type="datetime1">
              <a:rPr lang="en-US" smtClean="0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4782A-EFF7-4F5C-B6FF-B02661DE0C0D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CCF18-205B-48BC-AB5D-F804C4C3F2F8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00" y="838200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5">
                <a:moveTo>
                  <a:pt x="0" y="0"/>
                </a:moveTo>
                <a:lnTo>
                  <a:pt x="8534400" y="1524"/>
                </a:lnTo>
              </a:path>
            </a:pathLst>
          </a:custGeom>
          <a:ln w="572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5561" y="6325361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4">
                <a:moveTo>
                  <a:pt x="0" y="0"/>
                </a:moveTo>
                <a:lnTo>
                  <a:pt x="8534400" y="1523"/>
                </a:lnTo>
              </a:path>
            </a:pathLst>
          </a:custGeom>
          <a:ln w="284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815" y="100406"/>
            <a:ext cx="845121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815" y="1093724"/>
            <a:ext cx="8370570" cy="3041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B2F0F-D9EF-425A-BCBE-FA8FF7A71A8D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219200"/>
            <a:ext cx="7772400" cy="4419600"/>
          </a:xfrm>
          <a:prstGeom prst="rect">
            <a:avLst/>
          </a:prstGeom>
          <a:ln w="57240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4580"/>
              </a:lnSpc>
            </a:pPr>
            <a:r>
              <a:rPr sz="4000" i="1" dirty="0">
                <a:latin typeface="Arial"/>
                <a:cs typeface="Arial"/>
              </a:rPr>
              <a:t>Lecture</a:t>
            </a:r>
            <a:r>
              <a:rPr sz="4000" i="1" spc="-150" dirty="0">
                <a:latin typeface="Arial"/>
                <a:cs typeface="Arial"/>
              </a:rPr>
              <a:t> </a:t>
            </a:r>
            <a:r>
              <a:rPr sz="4000" i="1" spc="-25" dirty="0">
                <a:latin typeface="Arial"/>
                <a:cs typeface="Arial"/>
              </a:rPr>
              <a:t>07</a:t>
            </a:r>
            <a:endParaRPr sz="40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4075"/>
              </a:spcBef>
            </a:pPr>
            <a:r>
              <a:rPr sz="4400" b="1" dirty="0">
                <a:latin typeface="Arial"/>
                <a:cs typeface="Arial"/>
              </a:rPr>
              <a:t>Phụ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thuộc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hàm</a:t>
            </a:r>
            <a:endParaRPr sz="4400">
              <a:latin typeface="Arial"/>
              <a:cs typeface="Arial"/>
            </a:endParaRPr>
          </a:p>
          <a:p>
            <a:pPr marL="154305" algn="ctr">
              <a:lnSpc>
                <a:spcPct val="100000"/>
              </a:lnSpc>
            </a:pPr>
            <a:r>
              <a:rPr sz="4400" b="1" spc="-25" dirty="0">
                <a:latin typeface="Arial"/>
                <a:cs typeface="Arial"/>
              </a:rPr>
              <a:t>và</a:t>
            </a:r>
            <a:endParaRPr sz="4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4400" b="1" dirty="0">
                <a:latin typeface="Arial"/>
                <a:cs typeface="Arial"/>
              </a:rPr>
              <a:t>Chuẩn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hóa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cơ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sở</a:t>
            </a:r>
            <a:r>
              <a:rPr sz="4400" b="1" spc="-2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dữ</a:t>
            </a:r>
            <a:r>
              <a:rPr sz="4400" b="1" spc="-5" dirty="0">
                <a:latin typeface="Arial"/>
                <a:cs typeface="Arial"/>
              </a:rPr>
              <a:t> </a:t>
            </a:r>
            <a:r>
              <a:rPr sz="4400" b="1" spc="-20" dirty="0">
                <a:latin typeface="Arial"/>
                <a:cs typeface="Arial"/>
              </a:rPr>
              <a:t>liệu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303BD9-C544-9337-21C8-D7D4ACD54A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90" dirty="0"/>
              <a:t> </a:t>
            </a:r>
            <a:r>
              <a:rPr dirty="0"/>
              <a:t>dung</a:t>
            </a:r>
            <a:r>
              <a:rPr spc="-70" dirty="0"/>
              <a:t> </a:t>
            </a:r>
            <a:r>
              <a:rPr dirty="0"/>
              <a:t>trình</a:t>
            </a:r>
            <a:r>
              <a:rPr spc="-75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7783830" cy="23831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Nguyên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tắc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thiết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kế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lược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đồ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quan</a:t>
            </a:r>
            <a:r>
              <a:rPr sz="3200" spc="-25" dirty="0">
                <a:latin typeface="Arial"/>
                <a:cs typeface="Arial"/>
              </a:rPr>
              <a:t> hệ.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Phụ</a:t>
            </a:r>
            <a:r>
              <a:rPr sz="3200" spc="-4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thuộc</a:t>
            </a:r>
            <a:r>
              <a:rPr sz="3200" spc="-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hàm.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Các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dạng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A6A6A6"/>
                </a:solidFill>
                <a:latin typeface="Arial"/>
                <a:cs typeface="Arial"/>
              </a:rPr>
              <a:t>chuẩn.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Một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số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thuật</a:t>
            </a:r>
            <a:r>
              <a:rPr sz="3200" spc="-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toán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chuẩn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hóa.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55775-FB8C-B28A-FEFF-10CF79142C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Nguyên</a:t>
            </a:r>
            <a:r>
              <a:rPr spc="-75" dirty="0"/>
              <a:t> </a:t>
            </a:r>
            <a:r>
              <a:rPr dirty="0"/>
              <a:t>tắc</a:t>
            </a:r>
            <a:r>
              <a:rPr spc="-90" dirty="0"/>
              <a:t> </a:t>
            </a:r>
            <a:r>
              <a:rPr dirty="0"/>
              <a:t>thiết</a:t>
            </a:r>
            <a:r>
              <a:rPr spc="-90" dirty="0"/>
              <a:t> </a:t>
            </a:r>
            <a:r>
              <a:rPr spc="-25" dirty="0"/>
              <a:t>kế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6748145" cy="371284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Nhìn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lại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đề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thiết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csdl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Dựa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trực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kế.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Thiếu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tiêu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đánh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giá.</a:t>
            </a:r>
            <a:endParaRPr sz="2400">
              <a:latin typeface="Arial"/>
              <a:cs typeface="Arial"/>
            </a:endParaRPr>
          </a:p>
          <a:p>
            <a:pPr marL="339725" marR="1899920" indent="-339725" algn="r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39725" algn="l"/>
              </a:tabLst>
            </a:pPr>
            <a:r>
              <a:rPr sz="2800" dirty="0">
                <a:latin typeface="Arial"/>
                <a:cs typeface="Arial"/>
              </a:rPr>
              <a:t>Đánh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giá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chất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thiết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kế</a:t>
            </a:r>
            <a:endParaRPr sz="2800">
              <a:latin typeface="Arial"/>
              <a:cs typeface="Arial"/>
            </a:endParaRPr>
          </a:p>
          <a:p>
            <a:pPr marL="281305" marR="1901825" lvl="1" indent="-281305" algn="r">
              <a:lnSpc>
                <a:spcPct val="100000"/>
              </a:lnSpc>
              <a:spcBef>
                <a:spcPts val="615"/>
              </a:spcBef>
              <a:buChar char="•"/>
              <a:tabLst>
                <a:tab pos="281305" algn="l"/>
              </a:tabLst>
            </a:pPr>
            <a:r>
              <a:rPr sz="2400" dirty="0">
                <a:latin typeface="Arial"/>
                <a:cs typeface="Arial"/>
              </a:rPr>
              <a:t>Ngữ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Giảm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thừa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bộ.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Giảm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bộ.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Không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xuất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thực.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F28B5-F11D-4835-0483-6AB782F8BD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838200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5">
                <a:moveTo>
                  <a:pt x="0" y="0"/>
                </a:moveTo>
                <a:lnTo>
                  <a:pt x="8534400" y="1524"/>
                </a:lnTo>
              </a:path>
            </a:pathLst>
          </a:custGeom>
          <a:ln w="572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Ngữ</a:t>
            </a:r>
            <a:r>
              <a:rPr spc="-65" dirty="0"/>
              <a:t> </a:t>
            </a:r>
            <a:r>
              <a:rPr dirty="0"/>
              <a:t>nghĩa</a:t>
            </a:r>
            <a:r>
              <a:rPr spc="-55" dirty="0"/>
              <a:t> </a:t>
            </a:r>
            <a:r>
              <a:rPr dirty="0"/>
              <a:t>của</a:t>
            </a:r>
            <a:r>
              <a:rPr spc="-70" dirty="0"/>
              <a:t> </a:t>
            </a:r>
            <a:r>
              <a:rPr dirty="0"/>
              <a:t>các</a:t>
            </a:r>
            <a:r>
              <a:rPr spc="-65" dirty="0"/>
              <a:t> </a:t>
            </a:r>
            <a:r>
              <a:rPr dirty="0"/>
              <a:t>thuộc</a:t>
            </a:r>
            <a:r>
              <a:rPr spc="-55" dirty="0"/>
              <a:t> </a:t>
            </a:r>
            <a:r>
              <a:rPr dirty="0"/>
              <a:t>tính</a:t>
            </a:r>
            <a:r>
              <a:rPr spc="-75" dirty="0"/>
              <a:t> </a:t>
            </a:r>
            <a:r>
              <a:rPr spc="-25" dirty="0"/>
              <a:t>(1)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78661" y="1977897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8499" y="1578659"/>
          <a:ext cx="6415405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48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MaPhong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664200" y="1247647"/>
            <a:ext cx="331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320" y="1247647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8661" y="3276980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98499" y="2877107"/>
          <a:ext cx="3596004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882264" y="2546350"/>
            <a:ext cx="331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320" y="2546350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0561" y="5075046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05761" y="4499609"/>
            <a:ext cx="1066800" cy="319405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2115"/>
              </a:lnSpc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Truso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561" y="4499609"/>
            <a:ext cx="1600200" cy="319405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87045">
              <a:lnSpc>
                <a:spcPts val="2115"/>
              </a:lnSpc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2664" y="4162170"/>
            <a:ext cx="331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2320" y="3798189"/>
            <a:ext cx="1791335" cy="6642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spc="-10" dirty="0">
                <a:latin typeface="Arial"/>
                <a:cs typeface="Arial"/>
              </a:rPr>
              <a:t>TRUSO_PHONG</a:t>
            </a:r>
            <a:endParaRPr sz="1800">
              <a:latin typeface="Arial"/>
              <a:cs typeface="Arial"/>
            </a:endParaRPr>
          </a:p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4913" y="4851653"/>
            <a:ext cx="2362200" cy="152400"/>
          </a:xfrm>
          <a:custGeom>
            <a:avLst/>
            <a:gdLst/>
            <a:ahLst/>
            <a:cxnLst/>
            <a:rect l="l" t="t" r="r" b="b"/>
            <a:pathLst>
              <a:path w="2362200" h="152400">
                <a:moveTo>
                  <a:pt x="2362200" y="0"/>
                </a:moveTo>
                <a:lnTo>
                  <a:pt x="2324217" y="44982"/>
                </a:lnTo>
                <a:lnTo>
                  <a:pt x="2281604" y="61484"/>
                </a:lnTo>
                <a:lnTo>
                  <a:pt x="2227567" y="72310"/>
                </a:lnTo>
                <a:lnTo>
                  <a:pt x="2165350" y="76200"/>
                </a:lnTo>
                <a:lnTo>
                  <a:pt x="1377950" y="76200"/>
                </a:lnTo>
                <a:lnTo>
                  <a:pt x="1315732" y="80089"/>
                </a:lnTo>
                <a:lnTo>
                  <a:pt x="1261695" y="90915"/>
                </a:lnTo>
                <a:lnTo>
                  <a:pt x="1219082" y="107417"/>
                </a:lnTo>
                <a:lnTo>
                  <a:pt x="1191136" y="128332"/>
                </a:lnTo>
                <a:lnTo>
                  <a:pt x="1181100" y="152400"/>
                </a:lnTo>
                <a:lnTo>
                  <a:pt x="1171063" y="128332"/>
                </a:lnTo>
                <a:lnTo>
                  <a:pt x="1143117" y="107417"/>
                </a:lnTo>
                <a:lnTo>
                  <a:pt x="1100504" y="90915"/>
                </a:lnTo>
                <a:lnTo>
                  <a:pt x="1046467" y="80089"/>
                </a:lnTo>
                <a:lnTo>
                  <a:pt x="984250" y="76200"/>
                </a:lnTo>
                <a:lnTo>
                  <a:pt x="196850" y="76200"/>
                </a:lnTo>
                <a:lnTo>
                  <a:pt x="134627" y="72310"/>
                </a:lnTo>
                <a:lnTo>
                  <a:pt x="80589" y="61484"/>
                </a:lnTo>
                <a:lnTo>
                  <a:pt x="37978" y="44982"/>
                </a:lnTo>
                <a:lnTo>
                  <a:pt x="10034" y="24067"/>
                </a:lnTo>
                <a:lnTo>
                  <a:pt x="0" y="0"/>
                </a:lnTo>
              </a:path>
            </a:pathLst>
          </a:custGeom>
          <a:ln w="22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136896" y="3273678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032299" y="2874060"/>
          <a:ext cx="5043805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PhongQly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7988554" y="2543302"/>
            <a:ext cx="331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16451" y="2543302"/>
            <a:ext cx="67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194099" y="4533696"/>
          <a:ext cx="336740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4069841" y="5162169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73346" y="4204207"/>
            <a:ext cx="331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78251" y="3748277"/>
            <a:ext cx="1069340" cy="7556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  <a:p>
            <a:pPr marL="340995">
              <a:lnSpc>
                <a:spcPct val="100000"/>
              </a:lnSpc>
              <a:spcBef>
                <a:spcPts val="715"/>
              </a:spcBef>
            </a:pP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50514" y="4941570"/>
            <a:ext cx="1828800" cy="152400"/>
          </a:xfrm>
          <a:custGeom>
            <a:avLst/>
            <a:gdLst/>
            <a:ahLst/>
            <a:cxnLst/>
            <a:rect l="l" t="t" r="r" b="b"/>
            <a:pathLst>
              <a:path w="1828800" h="152400">
                <a:moveTo>
                  <a:pt x="1828800" y="0"/>
                </a:moveTo>
                <a:lnTo>
                  <a:pt x="1816828" y="29640"/>
                </a:lnTo>
                <a:lnTo>
                  <a:pt x="1784175" y="53863"/>
                </a:lnTo>
                <a:lnTo>
                  <a:pt x="1735734" y="70205"/>
                </a:lnTo>
                <a:lnTo>
                  <a:pt x="1676400" y="76199"/>
                </a:lnTo>
                <a:lnTo>
                  <a:pt x="1066800" y="76199"/>
                </a:lnTo>
                <a:lnTo>
                  <a:pt x="1007465" y="82194"/>
                </a:lnTo>
                <a:lnTo>
                  <a:pt x="959024" y="98536"/>
                </a:lnTo>
                <a:lnTo>
                  <a:pt x="926371" y="122759"/>
                </a:lnTo>
                <a:lnTo>
                  <a:pt x="914400" y="152399"/>
                </a:lnTo>
                <a:lnTo>
                  <a:pt x="902428" y="122759"/>
                </a:lnTo>
                <a:lnTo>
                  <a:pt x="869775" y="98536"/>
                </a:lnTo>
                <a:lnTo>
                  <a:pt x="821334" y="82194"/>
                </a:lnTo>
                <a:lnTo>
                  <a:pt x="762000" y="76199"/>
                </a:lnTo>
                <a:lnTo>
                  <a:pt x="152400" y="76199"/>
                </a:lnTo>
                <a:lnTo>
                  <a:pt x="93065" y="70205"/>
                </a:lnTo>
                <a:lnTo>
                  <a:pt x="44624" y="53863"/>
                </a:lnTo>
                <a:lnTo>
                  <a:pt x="11971" y="29640"/>
                </a:lnTo>
                <a:lnTo>
                  <a:pt x="0" y="0"/>
                </a:lnTo>
              </a:path>
            </a:pathLst>
          </a:custGeom>
          <a:ln w="22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6EA0CED-CC9C-AF09-652E-0E14BE02D4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Ngữ</a:t>
            </a:r>
            <a:r>
              <a:rPr spc="-65" dirty="0"/>
              <a:t> </a:t>
            </a:r>
            <a:r>
              <a:rPr dirty="0"/>
              <a:t>nghĩa</a:t>
            </a:r>
            <a:r>
              <a:rPr spc="-55" dirty="0"/>
              <a:t> </a:t>
            </a:r>
            <a:r>
              <a:rPr dirty="0"/>
              <a:t>của</a:t>
            </a:r>
            <a:r>
              <a:rPr spc="-70" dirty="0"/>
              <a:t> </a:t>
            </a:r>
            <a:r>
              <a:rPr dirty="0"/>
              <a:t>các</a:t>
            </a:r>
            <a:r>
              <a:rPr spc="-65" dirty="0"/>
              <a:t> </a:t>
            </a:r>
            <a:r>
              <a:rPr dirty="0"/>
              <a:t>thuộc</a:t>
            </a:r>
            <a:r>
              <a:rPr spc="-55" dirty="0"/>
              <a:t> </a:t>
            </a:r>
            <a:r>
              <a:rPr dirty="0"/>
              <a:t>tính</a:t>
            </a:r>
            <a:r>
              <a:rPr spc="-7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3470605"/>
            <a:ext cx="8426450" cy="2237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042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Arial"/>
              <a:cs typeface="Arial"/>
            </a:endParaRPr>
          </a:p>
          <a:p>
            <a:pPr marL="352425" marR="5080" indent="-34036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Ý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càng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dễ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kế </a:t>
            </a:r>
            <a:r>
              <a:rPr sz="2400" dirty="0">
                <a:latin typeface="Arial"/>
                <a:cs typeface="Arial"/>
              </a:rPr>
              <a:t>càng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tốt.</a:t>
            </a:r>
            <a:endParaRPr sz="2400">
              <a:latin typeface="Arial"/>
              <a:cs typeface="Arial"/>
            </a:endParaRPr>
          </a:p>
          <a:p>
            <a:pPr marL="352425" marR="495934" indent="-34036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Tránh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vào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đồ.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06091" y="1426259"/>
          <a:ext cx="640334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90497" y="1095247"/>
            <a:ext cx="5870575" cy="1029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51170" algn="l"/>
              </a:tabLst>
            </a:pPr>
            <a:r>
              <a:rPr sz="1800" spc="-10" dirty="0">
                <a:latin typeface="Arial"/>
                <a:cs typeface="Arial"/>
              </a:rPr>
              <a:t>NHANVIEN_PHONGBAN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800">
              <a:latin typeface="Arial"/>
              <a:cs typeface="Arial"/>
            </a:endParaRPr>
          </a:p>
          <a:p>
            <a:pPr marL="1042669">
              <a:lnSpc>
                <a:spcPct val="100000"/>
              </a:lnSpc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93899" y="2797860"/>
          <a:ext cx="5647055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479540" y="2467102"/>
            <a:ext cx="331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7670" y="2467102"/>
            <a:ext cx="197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74114" y="3227070"/>
            <a:ext cx="1828800" cy="152400"/>
          </a:xfrm>
          <a:custGeom>
            <a:avLst/>
            <a:gdLst/>
            <a:ahLst/>
            <a:cxnLst/>
            <a:rect l="l" t="t" r="r" b="b"/>
            <a:pathLst>
              <a:path w="1828800" h="152400">
                <a:moveTo>
                  <a:pt x="1828800" y="0"/>
                </a:moveTo>
                <a:lnTo>
                  <a:pt x="1816828" y="29640"/>
                </a:lnTo>
                <a:lnTo>
                  <a:pt x="1784175" y="53863"/>
                </a:lnTo>
                <a:lnTo>
                  <a:pt x="1735734" y="70205"/>
                </a:lnTo>
                <a:lnTo>
                  <a:pt x="1676400" y="76200"/>
                </a:lnTo>
                <a:lnTo>
                  <a:pt x="1066800" y="76200"/>
                </a:lnTo>
                <a:lnTo>
                  <a:pt x="1007465" y="82194"/>
                </a:lnTo>
                <a:lnTo>
                  <a:pt x="959024" y="98536"/>
                </a:lnTo>
                <a:lnTo>
                  <a:pt x="926371" y="122759"/>
                </a:lnTo>
                <a:lnTo>
                  <a:pt x="914400" y="152400"/>
                </a:lnTo>
                <a:lnTo>
                  <a:pt x="902428" y="122759"/>
                </a:lnTo>
                <a:lnTo>
                  <a:pt x="869775" y="98536"/>
                </a:lnTo>
                <a:lnTo>
                  <a:pt x="821334" y="82194"/>
                </a:lnTo>
                <a:lnTo>
                  <a:pt x="762000" y="76200"/>
                </a:lnTo>
                <a:lnTo>
                  <a:pt x="152400" y="76200"/>
                </a:lnTo>
                <a:lnTo>
                  <a:pt x="93065" y="70205"/>
                </a:lnTo>
                <a:lnTo>
                  <a:pt x="44624" y="53863"/>
                </a:lnTo>
                <a:lnTo>
                  <a:pt x="11971" y="29640"/>
                </a:lnTo>
                <a:lnTo>
                  <a:pt x="0" y="0"/>
                </a:lnTo>
              </a:path>
            </a:pathLst>
          </a:custGeom>
          <a:ln w="22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FE4A82-6DD7-2917-10EE-3A0009326A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Thông</a:t>
            </a:r>
            <a:r>
              <a:rPr spc="-85" dirty="0"/>
              <a:t> </a:t>
            </a:r>
            <a:r>
              <a:rPr dirty="0"/>
              <a:t>tin</a:t>
            </a:r>
            <a:r>
              <a:rPr spc="-80" dirty="0"/>
              <a:t> </a:t>
            </a:r>
            <a:r>
              <a:rPr dirty="0"/>
              <a:t>thừa</a:t>
            </a:r>
            <a:r>
              <a:rPr spc="-85" dirty="0"/>
              <a:t> </a:t>
            </a:r>
            <a:r>
              <a:rPr dirty="0"/>
              <a:t>trong</a:t>
            </a:r>
            <a:r>
              <a:rPr spc="-60" dirty="0"/>
              <a:t> </a:t>
            </a:r>
            <a:r>
              <a:rPr dirty="0"/>
              <a:t>các</a:t>
            </a:r>
            <a:r>
              <a:rPr spc="-75" dirty="0"/>
              <a:t> </a:t>
            </a:r>
            <a:r>
              <a:rPr dirty="0"/>
              <a:t>bộ</a:t>
            </a:r>
            <a:r>
              <a:rPr spc="-75" dirty="0"/>
              <a:t> </a:t>
            </a:r>
            <a:r>
              <a:rPr spc="-25" dirty="0"/>
              <a:t>(1)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5011" y="1273859"/>
          <a:ext cx="5519420" cy="145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6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MaPhong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1143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09/01/1965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R="64769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08/12/1955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Vuong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999887777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19/01/1968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67918" y="942847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67096" y="3255059"/>
          <a:ext cx="3780154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151882" y="2924302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3299" y="4398059"/>
          <a:ext cx="8027670" cy="109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09/10/1965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08/12/1965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87120" y="4067682"/>
            <a:ext cx="2639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NHANVIEN_PHONGBAN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25103" y="5498591"/>
            <a:ext cx="2117090" cy="737870"/>
            <a:chOff x="5125103" y="5498591"/>
            <a:chExt cx="2117090" cy="737870"/>
          </a:xfrm>
        </p:grpSpPr>
        <p:sp>
          <p:nvSpPr>
            <p:cNvPr id="10" name="object 10"/>
            <p:cNvSpPr/>
            <p:nvPr/>
          </p:nvSpPr>
          <p:spPr>
            <a:xfrm>
              <a:off x="6178422" y="5498591"/>
              <a:ext cx="371475" cy="367030"/>
            </a:xfrm>
            <a:custGeom>
              <a:avLst/>
              <a:gdLst/>
              <a:ahLst/>
              <a:cxnLst/>
              <a:rect l="l" t="t" r="r" b="b"/>
              <a:pathLst>
                <a:path w="371475" h="367029">
                  <a:moveTo>
                    <a:pt x="36194" y="321741"/>
                  </a:moveTo>
                  <a:lnTo>
                    <a:pt x="0" y="357428"/>
                  </a:lnTo>
                  <a:lnTo>
                    <a:pt x="8889" y="366471"/>
                  </a:lnTo>
                  <a:lnTo>
                    <a:pt x="45085" y="330784"/>
                  </a:lnTo>
                  <a:lnTo>
                    <a:pt x="36194" y="321741"/>
                  </a:lnTo>
                  <a:close/>
                </a:path>
                <a:path w="371475" h="367029">
                  <a:moveTo>
                    <a:pt x="99440" y="259295"/>
                  </a:moveTo>
                  <a:lnTo>
                    <a:pt x="63246" y="294982"/>
                  </a:lnTo>
                  <a:lnTo>
                    <a:pt x="72136" y="304025"/>
                  </a:lnTo>
                  <a:lnTo>
                    <a:pt x="108330" y="268338"/>
                  </a:lnTo>
                  <a:lnTo>
                    <a:pt x="99440" y="259295"/>
                  </a:lnTo>
                  <a:close/>
                </a:path>
                <a:path w="371475" h="367029">
                  <a:moveTo>
                    <a:pt x="162687" y="196850"/>
                  </a:moveTo>
                  <a:lnTo>
                    <a:pt x="126491" y="232537"/>
                  </a:lnTo>
                  <a:lnTo>
                    <a:pt x="135381" y="241566"/>
                  </a:lnTo>
                  <a:lnTo>
                    <a:pt x="171576" y="205879"/>
                  </a:lnTo>
                  <a:lnTo>
                    <a:pt x="162687" y="196850"/>
                  </a:lnTo>
                  <a:close/>
                </a:path>
                <a:path w="371475" h="367029">
                  <a:moveTo>
                    <a:pt x="225932" y="134391"/>
                  </a:moveTo>
                  <a:lnTo>
                    <a:pt x="189737" y="170078"/>
                  </a:lnTo>
                  <a:lnTo>
                    <a:pt x="198754" y="179120"/>
                  </a:lnTo>
                  <a:lnTo>
                    <a:pt x="234823" y="143433"/>
                  </a:lnTo>
                  <a:lnTo>
                    <a:pt x="225932" y="134391"/>
                  </a:lnTo>
                  <a:close/>
                </a:path>
                <a:path w="371475" h="367029">
                  <a:moveTo>
                    <a:pt x="289178" y="72009"/>
                  </a:moveTo>
                  <a:lnTo>
                    <a:pt x="253111" y="107632"/>
                  </a:lnTo>
                  <a:lnTo>
                    <a:pt x="262000" y="116674"/>
                  </a:lnTo>
                  <a:lnTo>
                    <a:pt x="298196" y="81026"/>
                  </a:lnTo>
                  <a:lnTo>
                    <a:pt x="289178" y="72009"/>
                  </a:lnTo>
                  <a:close/>
                </a:path>
                <a:path w="371475" h="367029">
                  <a:moveTo>
                    <a:pt x="371094" y="0"/>
                  </a:moveTo>
                  <a:lnTo>
                    <a:pt x="290194" y="26416"/>
                  </a:lnTo>
                  <a:lnTo>
                    <a:pt x="343661" y="80645"/>
                  </a:lnTo>
                  <a:lnTo>
                    <a:pt x="352647" y="54229"/>
                  </a:lnTo>
                  <a:lnTo>
                    <a:pt x="325247" y="54229"/>
                  </a:lnTo>
                  <a:lnTo>
                    <a:pt x="316356" y="45212"/>
                  </a:lnTo>
                  <a:lnTo>
                    <a:pt x="321437" y="40132"/>
                  </a:lnTo>
                  <a:lnTo>
                    <a:pt x="357442" y="40132"/>
                  </a:lnTo>
                  <a:lnTo>
                    <a:pt x="371094" y="0"/>
                  </a:lnTo>
                  <a:close/>
                </a:path>
                <a:path w="371475" h="367029">
                  <a:moveTo>
                    <a:pt x="321437" y="40132"/>
                  </a:moveTo>
                  <a:lnTo>
                    <a:pt x="316356" y="45212"/>
                  </a:lnTo>
                  <a:lnTo>
                    <a:pt x="325247" y="54229"/>
                  </a:lnTo>
                  <a:lnTo>
                    <a:pt x="330453" y="49149"/>
                  </a:lnTo>
                  <a:lnTo>
                    <a:pt x="321437" y="40132"/>
                  </a:lnTo>
                  <a:close/>
                </a:path>
                <a:path w="371475" h="367029">
                  <a:moveTo>
                    <a:pt x="357442" y="40132"/>
                  </a:moveTo>
                  <a:lnTo>
                    <a:pt x="321437" y="40132"/>
                  </a:lnTo>
                  <a:lnTo>
                    <a:pt x="330453" y="49149"/>
                  </a:lnTo>
                  <a:lnTo>
                    <a:pt x="325247" y="54229"/>
                  </a:lnTo>
                  <a:lnTo>
                    <a:pt x="352647" y="54229"/>
                  </a:lnTo>
                  <a:lnTo>
                    <a:pt x="357442" y="401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9783" y="5862827"/>
              <a:ext cx="2108200" cy="368935"/>
            </a:xfrm>
            <a:custGeom>
              <a:avLst/>
              <a:gdLst/>
              <a:ahLst/>
              <a:cxnLst/>
              <a:rect l="l" t="t" r="r" b="b"/>
              <a:pathLst>
                <a:path w="2108200" h="368935">
                  <a:moveTo>
                    <a:pt x="0" y="61468"/>
                  </a:moveTo>
                  <a:lnTo>
                    <a:pt x="4835" y="37542"/>
                  </a:lnTo>
                  <a:lnTo>
                    <a:pt x="18018" y="18003"/>
                  </a:lnTo>
                  <a:lnTo>
                    <a:pt x="37558" y="4830"/>
                  </a:lnTo>
                  <a:lnTo>
                    <a:pt x="61467" y="0"/>
                  </a:lnTo>
                  <a:lnTo>
                    <a:pt x="2046223" y="0"/>
                  </a:lnTo>
                  <a:lnTo>
                    <a:pt x="2070133" y="4830"/>
                  </a:lnTo>
                  <a:lnTo>
                    <a:pt x="2089673" y="18003"/>
                  </a:lnTo>
                  <a:lnTo>
                    <a:pt x="2102856" y="37542"/>
                  </a:lnTo>
                  <a:lnTo>
                    <a:pt x="2107691" y="61468"/>
                  </a:lnTo>
                  <a:lnTo>
                    <a:pt x="2107691" y="307340"/>
                  </a:lnTo>
                  <a:lnTo>
                    <a:pt x="2102856" y="331265"/>
                  </a:lnTo>
                  <a:lnTo>
                    <a:pt x="2089673" y="350804"/>
                  </a:lnTo>
                  <a:lnTo>
                    <a:pt x="2070133" y="363977"/>
                  </a:lnTo>
                  <a:lnTo>
                    <a:pt x="2046223" y="368808"/>
                  </a:lnTo>
                  <a:lnTo>
                    <a:pt x="61467" y="368808"/>
                  </a:lnTo>
                  <a:lnTo>
                    <a:pt x="37558" y="363977"/>
                  </a:lnTo>
                  <a:lnTo>
                    <a:pt x="18018" y="350804"/>
                  </a:lnTo>
                  <a:lnTo>
                    <a:pt x="4835" y="331265"/>
                  </a:lnTo>
                  <a:lnTo>
                    <a:pt x="0" y="307340"/>
                  </a:lnTo>
                  <a:lnTo>
                    <a:pt x="0" y="6146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07634" y="5892495"/>
            <a:ext cx="195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Dữ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liệu bị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trùng </a:t>
            </a:r>
            <a:r>
              <a:rPr sz="1800" spc="-25" dirty="0">
                <a:latin typeface="Arial"/>
                <a:cs typeface="Arial"/>
              </a:rPr>
              <a:t>lặp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1EB8E75-B801-F195-17E9-81E2868D67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Thông</a:t>
            </a:r>
            <a:r>
              <a:rPr spc="-85" dirty="0"/>
              <a:t> </a:t>
            </a:r>
            <a:r>
              <a:rPr dirty="0"/>
              <a:t>tin</a:t>
            </a:r>
            <a:r>
              <a:rPr spc="-80" dirty="0"/>
              <a:t> </a:t>
            </a:r>
            <a:r>
              <a:rPr dirty="0"/>
              <a:t>thừa</a:t>
            </a:r>
            <a:r>
              <a:rPr spc="-85" dirty="0"/>
              <a:t> </a:t>
            </a:r>
            <a:r>
              <a:rPr dirty="0"/>
              <a:t>trong</a:t>
            </a:r>
            <a:r>
              <a:rPr spc="-60" dirty="0"/>
              <a:t> </a:t>
            </a:r>
            <a:r>
              <a:rPr dirty="0"/>
              <a:t>các</a:t>
            </a:r>
            <a:r>
              <a:rPr spc="-75" dirty="0"/>
              <a:t> </a:t>
            </a:r>
            <a:r>
              <a:rPr dirty="0"/>
              <a:t>bộ</a:t>
            </a:r>
            <a:r>
              <a:rPr spc="-7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3723"/>
            <a:ext cx="3397250" cy="83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Dị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thêm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bộ</a:t>
            </a:r>
            <a:endParaRPr sz="24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1355"/>
              </a:spcBef>
            </a:pPr>
            <a:r>
              <a:rPr sz="1800" spc="-10" dirty="0">
                <a:latin typeface="Arial"/>
                <a:cs typeface="Arial"/>
              </a:rPr>
              <a:t>NHANVIEN_PHONGBAN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815" y="3746119"/>
            <a:ext cx="3210560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Dị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xóa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bộ</a:t>
            </a:r>
            <a:endParaRPr sz="2400">
              <a:latin typeface="Arial"/>
              <a:cs typeface="Arial"/>
            </a:endParaRPr>
          </a:p>
          <a:p>
            <a:pPr marL="191770" algn="ctr">
              <a:lnSpc>
                <a:spcPct val="100000"/>
              </a:lnSpc>
              <a:spcBef>
                <a:spcPts val="1450"/>
              </a:spcBef>
            </a:pPr>
            <a:r>
              <a:rPr sz="1800" spc="-10" dirty="0">
                <a:latin typeface="Arial"/>
                <a:cs typeface="Arial"/>
              </a:rPr>
              <a:t>NHANVIEN_PHONGBAN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3299" y="1962707"/>
          <a:ext cx="8027670" cy="145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08/12/1965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09/10/1965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999887777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Hanh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chinh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987654321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3299" y="4626659"/>
          <a:ext cx="8027670" cy="109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08/12/1965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09/10/1965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AA2E7-E5FA-FA10-8D2D-48D715C448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Thông</a:t>
            </a:r>
            <a:r>
              <a:rPr spc="-85" dirty="0"/>
              <a:t> </a:t>
            </a:r>
            <a:r>
              <a:rPr dirty="0"/>
              <a:t>tin</a:t>
            </a:r>
            <a:r>
              <a:rPr spc="-80" dirty="0"/>
              <a:t> </a:t>
            </a:r>
            <a:r>
              <a:rPr dirty="0"/>
              <a:t>thừa</a:t>
            </a:r>
            <a:r>
              <a:rPr spc="-85" dirty="0"/>
              <a:t> </a:t>
            </a:r>
            <a:r>
              <a:rPr dirty="0"/>
              <a:t>trong</a:t>
            </a:r>
            <a:r>
              <a:rPr spc="-60" dirty="0"/>
              <a:t> </a:t>
            </a:r>
            <a:r>
              <a:rPr dirty="0"/>
              <a:t>các</a:t>
            </a:r>
            <a:r>
              <a:rPr spc="-75" dirty="0"/>
              <a:t> </a:t>
            </a:r>
            <a:r>
              <a:rPr dirty="0"/>
              <a:t>bộ</a:t>
            </a:r>
            <a:r>
              <a:rPr spc="-75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3723"/>
            <a:ext cx="3245485" cy="83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Dị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bộ</a:t>
            </a:r>
            <a:endParaRPr sz="2400">
              <a:latin typeface="Arial"/>
              <a:cs typeface="Arial"/>
            </a:endParaRPr>
          </a:p>
          <a:p>
            <a:pPr marL="156845" algn="ctr">
              <a:lnSpc>
                <a:spcPct val="100000"/>
              </a:lnSpc>
              <a:spcBef>
                <a:spcPts val="1330"/>
              </a:spcBef>
            </a:pPr>
            <a:r>
              <a:rPr sz="1800" spc="-10" dirty="0">
                <a:latin typeface="Arial"/>
                <a:cs typeface="Arial"/>
              </a:rPr>
              <a:t>NHANVIEN_PHONGBAN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815" y="3226876"/>
            <a:ext cx="8093709" cy="12763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Tránh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xảy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dị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352425" marR="5080" indent="-34036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phạm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nguyên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tắc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tăng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vấn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dị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ghi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chú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cẩn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thận.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11263" y="2758758"/>
            <a:ext cx="113855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spc="-10" dirty="0">
                <a:latin typeface="Arial"/>
                <a:cs typeface="Arial"/>
              </a:rPr>
              <a:t>333445555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11263" y="2393633"/>
            <a:ext cx="113855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spc="-10" dirty="0">
                <a:latin typeface="Arial"/>
                <a:cs typeface="Arial"/>
              </a:rPr>
              <a:t>333445555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0711" y="2330195"/>
            <a:ext cx="1325880" cy="730250"/>
          </a:xfrm>
          <a:custGeom>
            <a:avLst/>
            <a:gdLst/>
            <a:ahLst/>
            <a:cxnLst/>
            <a:rect l="l" t="t" r="r" b="b"/>
            <a:pathLst>
              <a:path w="1325879" h="730250">
                <a:moveTo>
                  <a:pt x="1325867" y="0"/>
                </a:moveTo>
                <a:lnTo>
                  <a:pt x="0" y="0"/>
                </a:lnTo>
                <a:lnTo>
                  <a:pt x="0" y="365760"/>
                </a:lnTo>
                <a:lnTo>
                  <a:pt x="0" y="729996"/>
                </a:lnTo>
                <a:lnTo>
                  <a:pt x="1325867" y="729996"/>
                </a:lnTo>
                <a:lnTo>
                  <a:pt x="1325867" y="365760"/>
                </a:lnTo>
                <a:lnTo>
                  <a:pt x="13258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03299" y="1959660"/>
          <a:ext cx="8027670" cy="1092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08/12/1965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09/10/1965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CA320-1680-C6C1-2AF3-CF0D44909B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Giá</a:t>
            </a:r>
            <a:r>
              <a:rPr spc="-75" dirty="0"/>
              <a:t> </a:t>
            </a:r>
            <a:r>
              <a:rPr dirty="0"/>
              <a:t>trị</a:t>
            </a:r>
            <a:r>
              <a:rPr spc="-65" dirty="0"/>
              <a:t> </a:t>
            </a:r>
            <a:r>
              <a:rPr dirty="0"/>
              <a:t>null</a:t>
            </a:r>
            <a:r>
              <a:rPr spc="-60" dirty="0"/>
              <a:t> </a:t>
            </a:r>
            <a:r>
              <a:rPr dirty="0"/>
              <a:t>trong</a:t>
            </a:r>
            <a:r>
              <a:rPr spc="-50" dirty="0"/>
              <a:t> </a:t>
            </a:r>
            <a:r>
              <a:rPr dirty="0"/>
              <a:t>các</a:t>
            </a:r>
            <a:r>
              <a:rPr spc="-65" dirty="0"/>
              <a:t> </a:t>
            </a:r>
            <a:r>
              <a:rPr spc="-25" dirty="0"/>
              <a:t>bộ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/>
              <a:t>Nếu</a:t>
            </a:r>
            <a:r>
              <a:rPr sz="2800" spc="-40" dirty="0"/>
              <a:t> </a:t>
            </a:r>
            <a:r>
              <a:rPr sz="2800" dirty="0"/>
              <a:t>nhiều</a:t>
            </a:r>
            <a:r>
              <a:rPr sz="2800" spc="-55" dirty="0"/>
              <a:t> </a:t>
            </a:r>
            <a:r>
              <a:rPr sz="2800" dirty="0"/>
              <a:t>thuộc</a:t>
            </a:r>
            <a:r>
              <a:rPr sz="2800" spc="-45" dirty="0"/>
              <a:t> </a:t>
            </a:r>
            <a:r>
              <a:rPr sz="2800" dirty="0"/>
              <a:t>tính</a:t>
            </a:r>
            <a:r>
              <a:rPr sz="2800" spc="-55" dirty="0"/>
              <a:t> </a:t>
            </a:r>
            <a:r>
              <a:rPr sz="2800" dirty="0"/>
              <a:t>trong</a:t>
            </a:r>
            <a:r>
              <a:rPr sz="2800" spc="-50" dirty="0"/>
              <a:t> </a:t>
            </a:r>
            <a:r>
              <a:rPr sz="2800" dirty="0"/>
              <a:t>lược</a:t>
            </a:r>
            <a:r>
              <a:rPr sz="2800" spc="-45" dirty="0"/>
              <a:t> </a:t>
            </a:r>
            <a:r>
              <a:rPr sz="2800" dirty="0"/>
              <a:t>đồ</a:t>
            </a:r>
            <a:r>
              <a:rPr sz="2800" spc="-45" dirty="0"/>
              <a:t> </a:t>
            </a:r>
            <a:r>
              <a:rPr sz="2800" dirty="0"/>
              <a:t>nhận</a:t>
            </a:r>
            <a:r>
              <a:rPr sz="2800" spc="-45" dirty="0"/>
              <a:t> </a:t>
            </a:r>
            <a:r>
              <a:rPr sz="2800" dirty="0"/>
              <a:t>giá</a:t>
            </a:r>
            <a:r>
              <a:rPr sz="2800" spc="-60" dirty="0"/>
              <a:t> </a:t>
            </a:r>
            <a:r>
              <a:rPr sz="2800" dirty="0"/>
              <a:t>trị</a:t>
            </a:r>
            <a:r>
              <a:rPr sz="2800" spc="-55" dirty="0"/>
              <a:t> </a:t>
            </a:r>
            <a:r>
              <a:rPr sz="2800" spc="-20" dirty="0"/>
              <a:t>null </a:t>
            </a:r>
            <a:r>
              <a:rPr sz="2800" spc="-25" dirty="0"/>
              <a:t>sẽ</a:t>
            </a:r>
            <a:endParaRPr sz="2800"/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Lãng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phí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trữ.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Khó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khăn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kết.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Khó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khăn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hàm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hợp.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/>
              <a:t>Tránh</a:t>
            </a:r>
            <a:r>
              <a:rPr sz="2800" spc="-40" dirty="0"/>
              <a:t> </a:t>
            </a:r>
            <a:r>
              <a:rPr sz="2800" dirty="0"/>
              <a:t>lưu</a:t>
            </a:r>
            <a:r>
              <a:rPr sz="2800" spc="-45" dirty="0"/>
              <a:t> </a:t>
            </a:r>
            <a:r>
              <a:rPr sz="2800" dirty="0"/>
              <a:t>trữ</a:t>
            </a:r>
            <a:r>
              <a:rPr sz="2800" spc="-55" dirty="0"/>
              <a:t> </a:t>
            </a:r>
            <a:r>
              <a:rPr sz="2800" dirty="0"/>
              <a:t>các</a:t>
            </a:r>
            <a:r>
              <a:rPr sz="2800" spc="-55" dirty="0"/>
              <a:t> </a:t>
            </a:r>
            <a:r>
              <a:rPr sz="2800" dirty="0"/>
              <a:t>thuộc</a:t>
            </a:r>
            <a:r>
              <a:rPr sz="2800" spc="-60" dirty="0"/>
              <a:t> </a:t>
            </a:r>
            <a:r>
              <a:rPr sz="2800" dirty="0"/>
              <a:t>tính</a:t>
            </a:r>
            <a:r>
              <a:rPr sz="2800" spc="-55" dirty="0"/>
              <a:t> </a:t>
            </a:r>
            <a:r>
              <a:rPr sz="2800" dirty="0"/>
              <a:t>nhận</a:t>
            </a:r>
            <a:r>
              <a:rPr sz="2800" spc="-35" dirty="0"/>
              <a:t> </a:t>
            </a:r>
            <a:r>
              <a:rPr sz="2800" dirty="0"/>
              <a:t>nhiều</a:t>
            </a:r>
            <a:r>
              <a:rPr sz="2800" spc="-55" dirty="0"/>
              <a:t> </a:t>
            </a:r>
            <a:r>
              <a:rPr sz="2800" dirty="0"/>
              <a:t>giá</a:t>
            </a:r>
            <a:r>
              <a:rPr sz="2800" spc="-55" dirty="0"/>
              <a:t> </a:t>
            </a:r>
            <a:r>
              <a:rPr sz="2800" dirty="0"/>
              <a:t>trị</a:t>
            </a:r>
            <a:r>
              <a:rPr sz="2800" spc="-55" dirty="0"/>
              <a:t> </a:t>
            </a:r>
            <a:r>
              <a:rPr sz="2800" spc="-10" dirty="0"/>
              <a:t>null.</a:t>
            </a:r>
            <a:endParaRPr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B07DD-3F4C-47C8-7280-60B5563C8C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Phát</a:t>
            </a:r>
            <a:r>
              <a:rPr spc="-60" dirty="0"/>
              <a:t> </a:t>
            </a:r>
            <a:r>
              <a:rPr dirty="0"/>
              <a:t>sinh</a:t>
            </a:r>
            <a:r>
              <a:rPr spc="-65" dirty="0"/>
              <a:t> </a:t>
            </a:r>
            <a:r>
              <a:rPr dirty="0"/>
              <a:t>các</a:t>
            </a:r>
            <a:r>
              <a:rPr spc="-55" dirty="0"/>
              <a:t> </a:t>
            </a:r>
            <a:r>
              <a:rPr dirty="0"/>
              <a:t>bộ</a:t>
            </a:r>
            <a:r>
              <a:rPr spc="-65" dirty="0"/>
              <a:t> </a:t>
            </a:r>
            <a:r>
              <a:rPr dirty="0"/>
              <a:t>không</a:t>
            </a:r>
            <a:r>
              <a:rPr spc="-50" dirty="0"/>
              <a:t> </a:t>
            </a:r>
            <a:r>
              <a:rPr dirty="0"/>
              <a:t>có</a:t>
            </a:r>
            <a:r>
              <a:rPr spc="-55" dirty="0"/>
              <a:t> </a:t>
            </a:r>
            <a:r>
              <a:rPr dirty="0"/>
              <a:t>thực</a:t>
            </a:r>
            <a:r>
              <a:rPr spc="-50" dirty="0"/>
              <a:t> </a:t>
            </a:r>
            <a:r>
              <a:rPr spc="-25" dirty="0"/>
              <a:t>(1)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89099" y="1353108"/>
          <a:ext cx="6701790" cy="145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32.5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Tan</a:t>
                      </a:r>
                      <a:r>
                        <a:rPr sz="18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7.5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72869" y="1022096"/>
            <a:ext cx="197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2961" y="5441696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8161" y="4866894"/>
            <a:ext cx="1066800" cy="31877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2115"/>
              </a:lnSpc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Diadiem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962" y="4866894"/>
            <a:ext cx="1600200" cy="31877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295">
              <a:lnSpc>
                <a:spcPts val="2115"/>
              </a:lnSpc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4720" y="4529073"/>
            <a:ext cx="2284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NHANVIEN_DIADIEM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7313" y="5246370"/>
            <a:ext cx="2362200" cy="152400"/>
          </a:xfrm>
          <a:custGeom>
            <a:avLst/>
            <a:gdLst/>
            <a:ahLst/>
            <a:cxnLst/>
            <a:rect l="l" t="t" r="r" b="b"/>
            <a:pathLst>
              <a:path w="2362200" h="152400">
                <a:moveTo>
                  <a:pt x="2362200" y="0"/>
                </a:moveTo>
                <a:lnTo>
                  <a:pt x="2324217" y="44982"/>
                </a:lnTo>
                <a:lnTo>
                  <a:pt x="2281604" y="61484"/>
                </a:lnTo>
                <a:lnTo>
                  <a:pt x="2227567" y="72310"/>
                </a:lnTo>
                <a:lnTo>
                  <a:pt x="2165350" y="76199"/>
                </a:lnTo>
                <a:lnTo>
                  <a:pt x="1377950" y="76199"/>
                </a:lnTo>
                <a:lnTo>
                  <a:pt x="1315732" y="80089"/>
                </a:lnTo>
                <a:lnTo>
                  <a:pt x="1261695" y="90915"/>
                </a:lnTo>
                <a:lnTo>
                  <a:pt x="1219082" y="107417"/>
                </a:lnTo>
                <a:lnTo>
                  <a:pt x="1191136" y="128332"/>
                </a:lnTo>
                <a:lnTo>
                  <a:pt x="1181100" y="152399"/>
                </a:lnTo>
                <a:lnTo>
                  <a:pt x="1171063" y="128332"/>
                </a:lnTo>
                <a:lnTo>
                  <a:pt x="1143117" y="107417"/>
                </a:lnTo>
                <a:lnTo>
                  <a:pt x="1100504" y="90915"/>
                </a:lnTo>
                <a:lnTo>
                  <a:pt x="1046467" y="80089"/>
                </a:lnTo>
                <a:lnTo>
                  <a:pt x="984250" y="76199"/>
                </a:lnTo>
                <a:lnTo>
                  <a:pt x="196850" y="76199"/>
                </a:lnTo>
                <a:lnTo>
                  <a:pt x="134627" y="72310"/>
                </a:lnTo>
                <a:lnTo>
                  <a:pt x="80589" y="61484"/>
                </a:lnTo>
                <a:lnTo>
                  <a:pt x="37978" y="44982"/>
                </a:lnTo>
                <a:lnTo>
                  <a:pt x="10034" y="24067"/>
                </a:lnTo>
                <a:lnTo>
                  <a:pt x="0" y="0"/>
                </a:lnTo>
              </a:path>
            </a:pathLst>
          </a:custGeom>
          <a:ln w="22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172508" y="4846115"/>
          <a:ext cx="452247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800980" y="5538622"/>
            <a:ext cx="394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p.k.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56278" y="4516577"/>
            <a:ext cx="2105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NHANVIEN_DUAN1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14621" y="5275326"/>
            <a:ext cx="1531620" cy="140335"/>
          </a:xfrm>
          <a:custGeom>
            <a:avLst/>
            <a:gdLst/>
            <a:ahLst/>
            <a:cxnLst/>
            <a:rect l="l" t="t" r="r" b="b"/>
            <a:pathLst>
              <a:path w="1531620" h="140335">
                <a:moveTo>
                  <a:pt x="1531619" y="0"/>
                </a:moveTo>
                <a:lnTo>
                  <a:pt x="1521545" y="27295"/>
                </a:lnTo>
                <a:lnTo>
                  <a:pt x="1494075" y="49577"/>
                </a:lnTo>
                <a:lnTo>
                  <a:pt x="1453342" y="64597"/>
                </a:lnTo>
                <a:lnTo>
                  <a:pt x="1403477" y="70104"/>
                </a:lnTo>
                <a:lnTo>
                  <a:pt x="893952" y="70104"/>
                </a:lnTo>
                <a:lnTo>
                  <a:pt x="844087" y="75610"/>
                </a:lnTo>
                <a:lnTo>
                  <a:pt x="803354" y="90630"/>
                </a:lnTo>
                <a:lnTo>
                  <a:pt x="775884" y="112912"/>
                </a:lnTo>
                <a:lnTo>
                  <a:pt x="765810" y="140208"/>
                </a:lnTo>
                <a:lnTo>
                  <a:pt x="755735" y="112912"/>
                </a:lnTo>
                <a:lnTo>
                  <a:pt x="728265" y="90630"/>
                </a:lnTo>
                <a:lnTo>
                  <a:pt x="687532" y="75610"/>
                </a:lnTo>
                <a:lnTo>
                  <a:pt x="637666" y="70104"/>
                </a:lnTo>
                <a:lnTo>
                  <a:pt x="128142" y="70104"/>
                </a:lnTo>
                <a:lnTo>
                  <a:pt x="78277" y="64597"/>
                </a:lnTo>
                <a:lnTo>
                  <a:pt x="37544" y="49577"/>
                </a:lnTo>
                <a:lnTo>
                  <a:pt x="10074" y="27295"/>
                </a:lnTo>
                <a:lnTo>
                  <a:pt x="0" y="0"/>
                </a:lnTo>
              </a:path>
            </a:pathLst>
          </a:custGeom>
          <a:ln w="22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06752" y="3118484"/>
            <a:ext cx="2822575" cy="1073785"/>
          </a:xfrm>
          <a:custGeom>
            <a:avLst/>
            <a:gdLst/>
            <a:ahLst/>
            <a:cxnLst/>
            <a:rect l="l" t="t" r="r" b="b"/>
            <a:pathLst>
              <a:path w="2822575" h="1073785">
                <a:moveTo>
                  <a:pt x="85217" y="1073785"/>
                </a:moveTo>
                <a:lnTo>
                  <a:pt x="52070" y="1005078"/>
                </a:lnTo>
                <a:lnTo>
                  <a:pt x="0" y="1072515"/>
                </a:lnTo>
                <a:lnTo>
                  <a:pt x="85217" y="1073785"/>
                </a:lnTo>
                <a:close/>
              </a:path>
              <a:path w="2822575" h="1073785">
                <a:moveTo>
                  <a:pt x="136017" y="1014095"/>
                </a:moveTo>
                <a:lnTo>
                  <a:pt x="130556" y="1002665"/>
                </a:lnTo>
                <a:lnTo>
                  <a:pt x="84709" y="1024636"/>
                </a:lnTo>
                <a:lnTo>
                  <a:pt x="90297" y="1036066"/>
                </a:lnTo>
                <a:lnTo>
                  <a:pt x="136017" y="1014095"/>
                </a:lnTo>
                <a:close/>
              </a:path>
              <a:path w="2822575" h="1073785">
                <a:moveTo>
                  <a:pt x="216154" y="975487"/>
                </a:moveTo>
                <a:lnTo>
                  <a:pt x="210566" y="964057"/>
                </a:lnTo>
                <a:lnTo>
                  <a:pt x="164846" y="986155"/>
                </a:lnTo>
                <a:lnTo>
                  <a:pt x="170307" y="997585"/>
                </a:lnTo>
                <a:lnTo>
                  <a:pt x="216154" y="975487"/>
                </a:lnTo>
                <a:close/>
              </a:path>
              <a:path w="2822575" h="1073785">
                <a:moveTo>
                  <a:pt x="296291" y="937006"/>
                </a:moveTo>
                <a:lnTo>
                  <a:pt x="290703" y="925449"/>
                </a:lnTo>
                <a:lnTo>
                  <a:pt x="244983" y="947547"/>
                </a:lnTo>
                <a:lnTo>
                  <a:pt x="250444" y="958977"/>
                </a:lnTo>
                <a:lnTo>
                  <a:pt x="296291" y="937006"/>
                </a:lnTo>
                <a:close/>
              </a:path>
              <a:path w="2822575" h="1073785">
                <a:moveTo>
                  <a:pt x="376301" y="898398"/>
                </a:moveTo>
                <a:lnTo>
                  <a:pt x="370840" y="886968"/>
                </a:lnTo>
                <a:lnTo>
                  <a:pt x="324993" y="908939"/>
                </a:lnTo>
                <a:lnTo>
                  <a:pt x="330581" y="920369"/>
                </a:lnTo>
                <a:lnTo>
                  <a:pt x="376301" y="898398"/>
                </a:lnTo>
                <a:close/>
              </a:path>
              <a:path w="2822575" h="1073785">
                <a:moveTo>
                  <a:pt x="456438" y="859790"/>
                </a:moveTo>
                <a:lnTo>
                  <a:pt x="450977" y="848360"/>
                </a:lnTo>
                <a:lnTo>
                  <a:pt x="405130" y="870458"/>
                </a:lnTo>
                <a:lnTo>
                  <a:pt x="410718" y="881888"/>
                </a:lnTo>
                <a:lnTo>
                  <a:pt x="456438" y="859790"/>
                </a:lnTo>
                <a:close/>
              </a:path>
              <a:path w="2822575" h="1073785">
                <a:moveTo>
                  <a:pt x="536575" y="821309"/>
                </a:moveTo>
                <a:lnTo>
                  <a:pt x="530987" y="809752"/>
                </a:lnTo>
                <a:lnTo>
                  <a:pt x="485267" y="831850"/>
                </a:lnTo>
                <a:lnTo>
                  <a:pt x="490728" y="843280"/>
                </a:lnTo>
                <a:lnTo>
                  <a:pt x="536575" y="821309"/>
                </a:lnTo>
                <a:close/>
              </a:path>
              <a:path w="2822575" h="1073785">
                <a:moveTo>
                  <a:pt x="616585" y="782701"/>
                </a:moveTo>
                <a:lnTo>
                  <a:pt x="611124" y="771271"/>
                </a:lnTo>
                <a:lnTo>
                  <a:pt x="565404" y="793242"/>
                </a:lnTo>
                <a:lnTo>
                  <a:pt x="570865" y="804672"/>
                </a:lnTo>
                <a:lnTo>
                  <a:pt x="616585" y="782701"/>
                </a:lnTo>
                <a:close/>
              </a:path>
              <a:path w="2822575" h="1073785">
                <a:moveTo>
                  <a:pt x="696722" y="744093"/>
                </a:moveTo>
                <a:lnTo>
                  <a:pt x="691261" y="732663"/>
                </a:lnTo>
                <a:lnTo>
                  <a:pt x="645414" y="754761"/>
                </a:lnTo>
                <a:lnTo>
                  <a:pt x="651002" y="766191"/>
                </a:lnTo>
                <a:lnTo>
                  <a:pt x="696722" y="744093"/>
                </a:lnTo>
                <a:close/>
              </a:path>
              <a:path w="2822575" h="1073785">
                <a:moveTo>
                  <a:pt x="776859" y="705612"/>
                </a:moveTo>
                <a:lnTo>
                  <a:pt x="771271" y="694182"/>
                </a:lnTo>
                <a:lnTo>
                  <a:pt x="725551" y="716153"/>
                </a:lnTo>
                <a:lnTo>
                  <a:pt x="731012" y="727583"/>
                </a:lnTo>
                <a:lnTo>
                  <a:pt x="776859" y="705612"/>
                </a:lnTo>
                <a:close/>
              </a:path>
              <a:path w="2822575" h="1073785">
                <a:moveTo>
                  <a:pt x="856996" y="667004"/>
                </a:moveTo>
                <a:lnTo>
                  <a:pt x="851408" y="655574"/>
                </a:lnTo>
                <a:lnTo>
                  <a:pt x="805688" y="677545"/>
                </a:lnTo>
                <a:lnTo>
                  <a:pt x="811149" y="689102"/>
                </a:lnTo>
                <a:lnTo>
                  <a:pt x="856996" y="667004"/>
                </a:lnTo>
                <a:close/>
              </a:path>
              <a:path w="2822575" h="1073785">
                <a:moveTo>
                  <a:pt x="937006" y="628396"/>
                </a:moveTo>
                <a:lnTo>
                  <a:pt x="931545" y="616966"/>
                </a:lnTo>
                <a:lnTo>
                  <a:pt x="885698" y="639064"/>
                </a:lnTo>
                <a:lnTo>
                  <a:pt x="891286" y="650494"/>
                </a:lnTo>
                <a:lnTo>
                  <a:pt x="937006" y="628396"/>
                </a:lnTo>
                <a:close/>
              </a:path>
              <a:path w="2822575" h="1073785">
                <a:moveTo>
                  <a:pt x="1017143" y="589915"/>
                </a:moveTo>
                <a:lnTo>
                  <a:pt x="1011682" y="578485"/>
                </a:lnTo>
                <a:lnTo>
                  <a:pt x="965835" y="600456"/>
                </a:lnTo>
                <a:lnTo>
                  <a:pt x="971423" y="611886"/>
                </a:lnTo>
                <a:lnTo>
                  <a:pt x="1017143" y="589915"/>
                </a:lnTo>
                <a:close/>
              </a:path>
              <a:path w="2822575" h="1073785">
                <a:moveTo>
                  <a:pt x="1097280" y="551307"/>
                </a:moveTo>
                <a:lnTo>
                  <a:pt x="1091692" y="539877"/>
                </a:lnTo>
                <a:lnTo>
                  <a:pt x="1045972" y="561848"/>
                </a:lnTo>
                <a:lnTo>
                  <a:pt x="1051433" y="573405"/>
                </a:lnTo>
                <a:lnTo>
                  <a:pt x="1097280" y="551307"/>
                </a:lnTo>
                <a:close/>
              </a:path>
              <a:path w="2822575" h="1073785">
                <a:moveTo>
                  <a:pt x="1177290" y="512699"/>
                </a:moveTo>
                <a:lnTo>
                  <a:pt x="1171829" y="501269"/>
                </a:lnTo>
                <a:lnTo>
                  <a:pt x="1126109" y="523367"/>
                </a:lnTo>
                <a:lnTo>
                  <a:pt x="1131570" y="534797"/>
                </a:lnTo>
                <a:lnTo>
                  <a:pt x="1177290" y="512699"/>
                </a:lnTo>
                <a:close/>
              </a:path>
              <a:path w="2822575" h="1073785">
                <a:moveTo>
                  <a:pt x="1257427" y="474218"/>
                </a:moveTo>
                <a:lnTo>
                  <a:pt x="1251966" y="462788"/>
                </a:lnTo>
                <a:lnTo>
                  <a:pt x="1206119" y="484771"/>
                </a:lnTo>
                <a:lnTo>
                  <a:pt x="1211707" y="496189"/>
                </a:lnTo>
                <a:lnTo>
                  <a:pt x="1257427" y="474218"/>
                </a:lnTo>
                <a:close/>
              </a:path>
              <a:path w="2822575" h="1073785">
                <a:moveTo>
                  <a:pt x="1337564" y="435622"/>
                </a:moveTo>
                <a:lnTo>
                  <a:pt x="1331976" y="424180"/>
                </a:lnTo>
                <a:lnTo>
                  <a:pt x="1286256" y="446278"/>
                </a:lnTo>
                <a:lnTo>
                  <a:pt x="1291717" y="457708"/>
                </a:lnTo>
                <a:lnTo>
                  <a:pt x="1337564" y="435622"/>
                </a:lnTo>
                <a:close/>
              </a:path>
              <a:path w="2822575" h="1073785">
                <a:moveTo>
                  <a:pt x="1417701" y="397002"/>
                </a:moveTo>
                <a:lnTo>
                  <a:pt x="1412113" y="385572"/>
                </a:lnTo>
                <a:lnTo>
                  <a:pt x="1366393" y="407670"/>
                </a:lnTo>
                <a:lnTo>
                  <a:pt x="1371854" y="419100"/>
                </a:lnTo>
                <a:lnTo>
                  <a:pt x="1417701" y="397002"/>
                </a:lnTo>
                <a:close/>
              </a:path>
              <a:path w="2822575" h="1073785">
                <a:moveTo>
                  <a:pt x="1497711" y="358521"/>
                </a:moveTo>
                <a:lnTo>
                  <a:pt x="1492250" y="347091"/>
                </a:lnTo>
                <a:lnTo>
                  <a:pt x="1446403" y="369062"/>
                </a:lnTo>
                <a:lnTo>
                  <a:pt x="1451991" y="380492"/>
                </a:lnTo>
                <a:lnTo>
                  <a:pt x="1497711" y="358521"/>
                </a:lnTo>
                <a:close/>
              </a:path>
              <a:path w="2822575" h="1073785">
                <a:moveTo>
                  <a:pt x="1577848" y="319913"/>
                </a:moveTo>
                <a:lnTo>
                  <a:pt x="1572387" y="308483"/>
                </a:lnTo>
                <a:lnTo>
                  <a:pt x="1526540" y="330581"/>
                </a:lnTo>
                <a:lnTo>
                  <a:pt x="1532128" y="342011"/>
                </a:lnTo>
                <a:lnTo>
                  <a:pt x="1577848" y="319913"/>
                </a:lnTo>
                <a:close/>
              </a:path>
              <a:path w="2822575" h="1073785">
                <a:moveTo>
                  <a:pt x="1657985" y="281432"/>
                </a:moveTo>
                <a:lnTo>
                  <a:pt x="1652397" y="269875"/>
                </a:lnTo>
                <a:lnTo>
                  <a:pt x="1606677" y="291973"/>
                </a:lnTo>
                <a:lnTo>
                  <a:pt x="1612138" y="303403"/>
                </a:lnTo>
                <a:lnTo>
                  <a:pt x="1657985" y="281432"/>
                </a:lnTo>
                <a:close/>
              </a:path>
              <a:path w="2822575" h="1073785">
                <a:moveTo>
                  <a:pt x="1737995" y="242824"/>
                </a:moveTo>
                <a:lnTo>
                  <a:pt x="1732534" y="231394"/>
                </a:lnTo>
                <a:lnTo>
                  <a:pt x="1686814" y="253365"/>
                </a:lnTo>
                <a:lnTo>
                  <a:pt x="1692275" y="264795"/>
                </a:lnTo>
                <a:lnTo>
                  <a:pt x="1737995" y="242824"/>
                </a:lnTo>
                <a:close/>
              </a:path>
              <a:path w="2822575" h="1073785">
                <a:moveTo>
                  <a:pt x="1818132" y="204216"/>
                </a:moveTo>
                <a:lnTo>
                  <a:pt x="1812671" y="192786"/>
                </a:lnTo>
                <a:lnTo>
                  <a:pt x="1766824" y="214884"/>
                </a:lnTo>
                <a:lnTo>
                  <a:pt x="1772412" y="226314"/>
                </a:lnTo>
                <a:lnTo>
                  <a:pt x="1818132" y="204216"/>
                </a:lnTo>
                <a:close/>
              </a:path>
              <a:path w="2822575" h="1073785">
                <a:moveTo>
                  <a:pt x="1898269" y="165735"/>
                </a:moveTo>
                <a:lnTo>
                  <a:pt x="1892681" y="154305"/>
                </a:lnTo>
                <a:lnTo>
                  <a:pt x="1846961" y="176276"/>
                </a:lnTo>
                <a:lnTo>
                  <a:pt x="1852422" y="187706"/>
                </a:lnTo>
                <a:lnTo>
                  <a:pt x="1898269" y="165735"/>
                </a:lnTo>
                <a:close/>
              </a:path>
              <a:path w="2822575" h="1073785">
                <a:moveTo>
                  <a:pt x="1978406" y="127127"/>
                </a:moveTo>
                <a:lnTo>
                  <a:pt x="1972818" y="115697"/>
                </a:lnTo>
                <a:lnTo>
                  <a:pt x="1927098" y="137668"/>
                </a:lnTo>
                <a:lnTo>
                  <a:pt x="1932559" y="149098"/>
                </a:lnTo>
                <a:lnTo>
                  <a:pt x="1978406" y="127127"/>
                </a:lnTo>
                <a:close/>
              </a:path>
              <a:path w="2822575" h="1073785">
                <a:moveTo>
                  <a:pt x="2058416" y="88519"/>
                </a:moveTo>
                <a:lnTo>
                  <a:pt x="2052955" y="77089"/>
                </a:lnTo>
                <a:lnTo>
                  <a:pt x="2007108" y="99187"/>
                </a:lnTo>
                <a:lnTo>
                  <a:pt x="2012696" y="110617"/>
                </a:lnTo>
                <a:lnTo>
                  <a:pt x="2058416" y="88519"/>
                </a:lnTo>
                <a:close/>
              </a:path>
              <a:path w="2822575" h="1073785">
                <a:moveTo>
                  <a:pt x="2138553" y="50038"/>
                </a:moveTo>
                <a:lnTo>
                  <a:pt x="2133092" y="38608"/>
                </a:lnTo>
                <a:lnTo>
                  <a:pt x="2087245" y="60579"/>
                </a:lnTo>
                <a:lnTo>
                  <a:pt x="2092833" y="72009"/>
                </a:lnTo>
                <a:lnTo>
                  <a:pt x="2138553" y="50038"/>
                </a:lnTo>
                <a:close/>
              </a:path>
              <a:path w="2822575" h="1073785">
                <a:moveTo>
                  <a:pt x="2243582" y="46609"/>
                </a:moveTo>
                <a:lnTo>
                  <a:pt x="2218309" y="2540"/>
                </a:lnTo>
                <a:lnTo>
                  <a:pt x="2215210" y="4343"/>
                </a:lnTo>
                <a:lnTo>
                  <a:pt x="2213102" y="0"/>
                </a:lnTo>
                <a:lnTo>
                  <a:pt x="2167382" y="21971"/>
                </a:lnTo>
                <a:lnTo>
                  <a:pt x="2172843" y="33528"/>
                </a:lnTo>
                <a:lnTo>
                  <a:pt x="2210955" y="15163"/>
                </a:lnTo>
                <a:lnTo>
                  <a:pt x="2232533" y="52959"/>
                </a:lnTo>
                <a:lnTo>
                  <a:pt x="2243582" y="46609"/>
                </a:lnTo>
                <a:close/>
              </a:path>
              <a:path w="2822575" h="1073785">
                <a:moveTo>
                  <a:pt x="2287651" y="123825"/>
                </a:moveTo>
                <a:lnTo>
                  <a:pt x="2262505" y="79756"/>
                </a:lnTo>
                <a:lnTo>
                  <a:pt x="2251456" y="86106"/>
                </a:lnTo>
                <a:lnTo>
                  <a:pt x="2276602" y="130175"/>
                </a:lnTo>
                <a:lnTo>
                  <a:pt x="2287651" y="123825"/>
                </a:lnTo>
                <a:close/>
              </a:path>
              <a:path w="2822575" h="1073785">
                <a:moveTo>
                  <a:pt x="2331720" y="201041"/>
                </a:moveTo>
                <a:lnTo>
                  <a:pt x="2306574" y="156972"/>
                </a:lnTo>
                <a:lnTo>
                  <a:pt x="2295525" y="163195"/>
                </a:lnTo>
                <a:lnTo>
                  <a:pt x="2320798" y="207391"/>
                </a:lnTo>
                <a:lnTo>
                  <a:pt x="2331720" y="201041"/>
                </a:lnTo>
                <a:close/>
              </a:path>
              <a:path w="2822575" h="1073785">
                <a:moveTo>
                  <a:pt x="2375916" y="278257"/>
                </a:moveTo>
                <a:lnTo>
                  <a:pt x="2350643" y="234061"/>
                </a:lnTo>
                <a:lnTo>
                  <a:pt x="2339594" y="240411"/>
                </a:lnTo>
                <a:lnTo>
                  <a:pt x="2364867" y="284480"/>
                </a:lnTo>
                <a:lnTo>
                  <a:pt x="2375916" y="278257"/>
                </a:lnTo>
                <a:close/>
              </a:path>
              <a:path w="2822575" h="1073785">
                <a:moveTo>
                  <a:pt x="2419985" y="355473"/>
                </a:moveTo>
                <a:lnTo>
                  <a:pt x="2394839" y="311277"/>
                </a:lnTo>
                <a:lnTo>
                  <a:pt x="2383790" y="317627"/>
                </a:lnTo>
                <a:lnTo>
                  <a:pt x="2408936" y="361696"/>
                </a:lnTo>
                <a:lnTo>
                  <a:pt x="2419985" y="355473"/>
                </a:lnTo>
                <a:close/>
              </a:path>
              <a:path w="2822575" h="1073785">
                <a:moveTo>
                  <a:pt x="2464054" y="432562"/>
                </a:moveTo>
                <a:lnTo>
                  <a:pt x="2438908" y="388493"/>
                </a:lnTo>
                <a:lnTo>
                  <a:pt x="2427859" y="394843"/>
                </a:lnTo>
                <a:lnTo>
                  <a:pt x="2453132" y="438912"/>
                </a:lnTo>
                <a:lnTo>
                  <a:pt x="2464054" y="432562"/>
                </a:lnTo>
                <a:close/>
              </a:path>
              <a:path w="2822575" h="1073785">
                <a:moveTo>
                  <a:pt x="2508250" y="509778"/>
                </a:moveTo>
                <a:lnTo>
                  <a:pt x="2482977" y="465721"/>
                </a:lnTo>
                <a:lnTo>
                  <a:pt x="2471928" y="471932"/>
                </a:lnTo>
                <a:lnTo>
                  <a:pt x="2497201" y="516128"/>
                </a:lnTo>
                <a:lnTo>
                  <a:pt x="2508250" y="509778"/>
                </a:lnTo>
                <a:close/>
              </a:path>
              <a:path w="2822575" h="1073785">
                <a:moveTo>
                  <a:pt x="2552319" y="586994"/>
                </a:moveTo>
                <a:lnTo>
                  <a:pt x="2527046" y="542925"/>
                </a:lnTo>
                <a:lnTo>
                  <a:pt x="2516124" y="549148"/>
                </a:lnTo>
                <a:lnTo>
                  <a:pt x="2541270" y="593217"/>
                </a:lnTo>
                <a:lnTo>
                  <a:pt x="2552319" y="586994"/>
                </a:lnTo>
                <a:close/>
              </a:path>
              <a:path w="2822575" h="1073785">
                <a:moveTo>
                  <a:pt x="2596388" y="664210"/>
                </a:moveTo>
                <a:lnTo>
                  <a:pt x="2571242" y="620014"/>
                </a:lnTo>
                <a:lnTo>
                  <a:pt x="2560193" y="626364"/>
                </a:lnTo>
                <a:lnTo>
                  <a:pt x="2585339" y="670433"/>
                </a:lnTo>
                <a:lnTo>
                  <a:pt x="2596388" y="664210"/>
                </a:lnTo>
                <a:close/>
              </a:path>
              <a:path w="2822575" h="1073785">
                <a:moveTo>
                  <a:pt x="2640584" y="741299"/>
                </a:moveTo>
                <a:lnTo>
                  <a:pt x="2615311" y="697230"/>
                </a:lnTo>
                <a:lnTo>
                  <a:pt x="2604262" y="703580"/>
                </a:lnTo>
                <a:lnTo>
                  <a:pt x="2629535" y="747649"/>
                </a:lnTo>
                <a:lnTo>
                  <a:pt x="2640584" y="741299"/>
                </a:lnTo>
                <a:close/>
              </a:path>
              <a:path w="2822575" h="1073785">
                <a:moveTo>
                  <a:pt x="2684653" y="818515"/>
                </a:moveTo>
                <a:lnTo>
                  <a:pt x="2659380" y="774446"/>
                </a:lnTo>
                <a:lnTo>
                  <a:pt x="2648458" y="780669"/>
                </a:lnTo>
                <a:lnTo>
                  <a:pt x="2673604" y="824865"/>
                </a:lnTo>
                <a:lnTo>
                  <a:pt x="2684653" y="818515"/>
                </a:lnTo>
                <a:close/>
              </a:path>
              <a:path w="2822575" h="1073785">
                <a:moveTo>
                  <a:pt x="2728722" y="895731"/>
                </a:moveTo>
                <a:lnTo>
                  <a:pt x="2703576" y="851662"/>
                </a:lnTo>
                <a:lnTo>
                  <a:pt x="2692527" y="857885"/>
                </a:lnTo>
                <a:lnTo>
                  <a:pt x="2717673" y="902081"/>
                </a:lnTo>
                <a:lnTo>
                  <a:pt x="2728722" y="895731"/>
                </a:lnTo>
                <a:close/>
              </a:path>
              <a:path w="2822575" h="1073785">
                <a:moveTo>
                  <a:pt x="2772791" y="972947"/>
                </a:moveTo>
                <a:lnTo>
                  <a:pt x="2747645" y="928751"/>
                </a:lnTo>
                <a:lnTo>
                  <a:pt x="2736596" y="935101"/>
                </a:lnTo>
                <a:lnTo>
                  <a:pt x="2761869" y="979170"/>
                </a:lnTo>
                <a:lnTo>
                  <a:pt x="2772791" y="972947"/>
                </a:lnTo>
                <a:close/>
              </a:path>
              <a:path w="2822575" h="1073785">
                <a:moveTo>
                  <a:pt x="2822448" y="1072515"/>
                </a:moveTo>
                <a:lnTo>
                  <a:pt x="2819577" y="1020572"/>
                </a:lnTo>
                <a:lnTo>
                  <a:pt x="2818765" y="1005967"/>
                </a:lnTo>
                <a:lnTo>
                  <a:pt x="2817749" y="987425"/>
                </a:lnTo>
                <a:lnTo>
                  <a:pt x="2751582" y="1025271"/>
                </a:lnTo>
                <a:lnTo>
                  <a:pt x="2822448" y="10725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5325653-5E53-E4D0-42C9-C813CF08B5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Phát</a:t>
            </a:r>
            <a:r>
              <a:rPr spc="-60" dirty="0"/>
              <a:t> </a:t>
            </a:r>
            <a:r>
              <a:rPr dirty="0"/>
              <a:t>sinh</a:t>
            </a:r>
            <a:r>
              <a:rPr spc="-65" dirty="0"/>
              <a:t> </a:t>
            </a:r>
            <a:r>
              <a:rPr dirty="0"/>
              <a:t>các</a:t>
            </a:r>
            <a:r>
              <a:rPr spc="-55" dirty="0"/>
              <a:t> </a:t>
            </a:r>
            <a:r>
              <a:rPr dirty="0"/>
              <a:t>bộ</a:t>
            </a:r>
            <a:r>
              <a:rPr spc="-65" dirty="0"/>
              <a:t> </a:t>
            </a:r>
            <a:r>
              <a:rPr dirty="0"/>
              <a:t>không</a:t>
            </a:r>
            <a:r>
              <a:rPr spc="-50" dirty="0"/>
              <a:t> </a:t>
            </a:r>
            <a:r>
              <a:rPr dirty="0"/>
              <a:t>có</a:t>
            </a:r>
            <a:r>
              <a:rPr spc="-55" dirty="0"/>
              <a:t> </a:t>
            </a:r>
            <a:r>
              <a:rPr dirty="0"/>
              <a:t>thực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2299" y="1613711"/>
          <a:ext cx="2910205" cy="1274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 marL="455295">
                        <a:lnSpc>
                          <a:spcPts val="2105"/>
                        </a:lnSpc>
                      </a:pP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2105"/>
                        </a:lnSpc>
                      </a:pP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 marL="88900">
                        <a:lnSpc>
                          <a:spcPts val="2110"/>
                        </a:lnSpc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110"/>
                        </a:lnSpc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Tan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88900">
                        <a:lnSpc>
                          <a:spcPts val="2115"/>
                        </a:lnSpc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11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 marL="88900">
                        <a:lnSpc>
                          <a:spcPts val="210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1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05815" y="1281810"/>
            <a:ext cx="2287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NHANVIEN_DIADIEM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46499" y="1426259"/>
          <a:ext cx="5729605" cy="145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32.5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859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Tan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7.5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430651" y="1095247"/>
            <a:ext cx="2105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NHANVIEN_DUAN1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80895" y="3899711"/>
          <a:ext cx="6904355" cy="2188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32.5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Tan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7.5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7.5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Hung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San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pham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Nghia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283460" y="3041903"/>
            <a:ext cx="3741420" cy="705485"/>
          </a:xfrm>
          <a:custGeom>
            <a:avLst/>
            <a:gdLst/>
            <a:ahLst/>
            <a:cxnLst/>
            <a:rect l="l" t="t" r="r" b="b"/>
            <a:pathLst>
              <a:path w="3741420" h="705485">
                <a:moveTo>
                  <a:pt x="51689" y="20320"/>
                </a:moveTo>
                <a:lnTo>
                  <a:pt x="5080" y="254"/>
                </a:lnTo>
                <a:lnTo>
                  <a:pt x="0" y="11938"/>
                </a:lnTo>
                <a:lnTo>
                  <a:pt x="46736" y="32004"/>
                </a:lnTo>
                <a:lnTo>
                  <a:pt x="51689" y="20320"/>
                </a:lnTo>
                <a:close/>
              </a:path>
              <a:path w="3741420" h="705485">
                <a:moveTo>
                  <a:pt x="133477" y="55245"/>
                </a:moveTo>
                <a:lnTo>
                  <a:pt x="86741" y="35306"/>
                </a:lnTo>
                <a:lnTo>
                  <a:pt x="81788" y="46990"/>
                </a:lnTo>
                <a:lnTo>
                  <a:pt x="128397" y="66929"/>
                </a:lnTo>
                <a:lnTo>
                  <a:pt x="133477" y="55245"/>
                </a:lnTo>
                <a:close/>
              </a:path>
              <a:path w="3741420" h="705485">
                <a:moveTo>
                  <a:pt x="215138" y="90297"/>
                </a:moveTo>
                <a:lnTo>
                  <a:pt x="168402" y="70358"/>
                </a:lnTo>
                <a:lnTo>
                  <a:pt x="163449" y="81915"/>
                </a:lnTo>
                <a:lnTo>
                  <a:pt x="210185" y="101981"/>
                </a:lnTo>
                <a:lnTo>
                  <a:pt x="215138" y="90297"/>
                </a:lnTo>
                <a:close/>
              </a:path>
              <a:path w="3741420" h="705485">
                <a:moveTo>
                  <a:pt x="296926" y="125349"/>
                </a:moveTo>
                <a:lnTo>
                  <a:pt x="250190" y="105283"/>
                </a:lnTo>
                <a:lnTo>
                  <a:pt x="245237" y="116967"/>
                </a:lnTo>
                <a:lnTo>
                  <a:pt x="291846" y="137033"/>
                </a:lnTo>
                <a:lnTo>
                  <a:pt x="296926" y="125349"/>
                </a:lnTo>
                <a:close/>
              </a:path>
              <a:path w="3741420" h="705485">
                <a:moveTo>
                  <a:pt x="378587" y="160401"/>
                </a:moveTo>
                <a:lnTo>
                  <a:pt x="331851" y="140335"/>
                </a:lnTo>
                <a:lnTo>
                  <a:pt x="326898" y="152019"/>
                </a:lnTo>
                <a:lnTo>
                  <a:pt x="373634" y="171958"/>
                </a:lnTo>
                <a:lnTo>
                  <a:pt x="378587" y="160401"/>
                </a:lnTo>
                <a:close/>
              </a:path>
              <a:path w="3741420" h="705485">
                <a:moveTo>
                  <a:pt x="460248" y="195326"/>
                </a:moveTo>
                <a:lnTo>
                  <a:pt x="413639" y="175387"/>
                </a:lnTo>
                <a:lnTo>
                  <a:pt x="408559" y="187071"/>
                </a:lnTo>
                <a:lnTo>
                  <a:pt x="455295" y="207010"/>
                </a:lnTo>
                <a:lnTo>
                  <a:pt x="460248" y="195326"/>
                </a:lnTo>
                <a:close/>
              </a:path>
              <a:path w="3741420" h="705485">
                <a:moveTo>
                  <a:pt x="542036" y="230378"/>
                </a:moveTo>
                <a:lnTo>
                  <a:pt x="495300" y="210312"/>
                </a:lnTo>
                <a:lnTo>
                  <a:pt x="490347" y="221996"/>
                </a:lnTo>
                <a:lnTo>
                  <a:pt x="536956" y="242062"/>
                </a:lnTo>
                <a:lnTo>
                  <a:pt x="542036" y="230378"/>
                </a:lnTo>
                <a:close/>
              </a:path>
              <a:path w="3741420" h="705485">
                <a:moveTo>
                  <a:pt x="623697" y="265430"/>
                </a:moveTo>
                <a:lnTo>
                  <a:pt x="576961" y="245364"/>
                </a:lnTo>
                <a:lnTo>
                  <a:pt x="572008" y="257048"/>
                </a:lnTo>
                <a:lnTo>
                  <a:pt x="618744" y="277114"/>
                </a:lnTo>
                <a:lnTo>
                  <a:pt x="623697" y="265430"/>
                </a:lnTo>
                <a:close/>
              </a:path>
              <a:path w="3741420" h="705485">
                <a:moveTo>
                  <a:pt x="705485" y="300482"/>
                </a:moveTo>
                <a:lnTo>
                  <a:pt x="658749" y="280416"/>
                </a:lnTo>
                <a:lnTo>
                  <a:pt x="653796" y="292100"/>
                </a:lnTo>
                <a:lnTo>
                  <a:pt x="700405" y="312039"/>
                </a:lnTo>
                <a:lnTo>
                  <a:pt x="705485" y="300482"/>
                </a:lnTo>
                <a:close/>
              </a:path>
              <a:path w="3741420" h="705485">
                <a:moveTo>
                  <a:pt x="787146" y="335407"/>
                </a:moveTo>
                <a:lnTo>
                  <a:pt x="740410" y="315468"/>
                </a:lnTo>
                <a:lnTo>
                  <a:pt x="735457" y="327152"/>
                </a:lnTo>
                <a:lnTo>
                  <a:pt x="782193" y="347091"/>
                </a:lnTo>
                <a:lnTo>
                  <a:pt x="787146" y="335407"/>
                </a:lnTo>
                <a:close/>
              </a:path>
              <a:path w="3741420" h="705485">
                <a:moveTo>
                  <a:pt x="868807" y="370459"/>
                </a:moveTo>
                <a:lnTo>
                  <a:pt x="822198" y="350393"/>
                </a:lnTo>
                <a:lnTo>
                  <a:pt x="817118" y="362077"/>
                </a:lnTo>
                <a:lnTo>
                  <a:pt x="863854" y="382143"/>
                </a:lnTo>
                <a:lnTo>
                  <a:pt x="868807" y="370459"/>
                </a:lnTo>
                <a:close/>
              </a:path>
              <a:path w="3741420" h="705485">
                <a:moveTo>
                  <a:pt x="950595" y="405511"/>
                </a:moveTo>
                <a:lnTo>
                  <a:pt x="903859" y="385445"/>
                </a:lnTo>
                <a:lnTo>
                  <a:pt x="898906" y="397129"/>
                </a:lnTo>
                <a:lnTo>
                  <a:pt x="945515" y="417195"/>
                </a:lnTo>
                <a:lnTo>
                  <a:pt x="950595" y="405511"/>
                </a:lnTo>
                <a:close/>
              </a:path>
              <a:path w="3741420" h="705485">
                <a:moveTo>
                  <a:pt x="1032243" y="440563"/>
                </a:moveTo>
                <a:lnTo>
                  <a:pt x="985647" y="420497"/>
                </a:lnTo>
                <a:lnTo>
                  <a:pt x="980567" y="432181"/>
                </a:lnTo>
                <a:lnTo>
                  <a:pt x="1027303" y="452120"/>
                </a:lnTo>
                <a:lnTo>
                  <a:pt x="1032243" y="440563"/>
                </a:lnTo>
                <a:close/>
              </a:path>
              <a:path w="3741420" h="705485">
                <a:moveTo>
                  <a:pt x="1114044" y="475488"/>
                </a:moveTo>
                <a:lnTo>
                  <a:pt x="1067308" y="455549"/>
                </a:lnTo>
                <a:lnTo>
                  <a:pt x="1062355" y="467233"/>
                </a:lnTo>
                <a:lnTo>
                  <a:pt x="1108964" y="487172"/>
                </a:lnTo>
                <a:lnTo>
                  <a:pt x="1114044" y="475488"/>
                </a:lnTo>
                <a:close/>
              </a:path>
              <a:path w="3741420" h="705485">
                <a:moveTo>
                  <a:pt x="1195705" y="510552"/>
                </a:moveTo>
                <a:lnTo>
                  <a:pt x="1148969" y="490474"/>
                </a:lnTo>
                <a:lnTo>
                  <a:pt x="1144016" y="502158"/>
                </a:lnTo>
                <a:lnTo>
                  <a:pt x="1190752" y="522224"/>
                </a:lnTo>
                <a:lnTo>
                  <a:pt x="1195705" y="510552"/>
                </a:lnTo>
                <a:close/>
              </a:path>
              <a:path w="3741420" h="705485">
                <a:moveTo>
                  <a:pt x="1277366" y="545604"/>
                </a:moveTo>
                <a:lnTo>
                  <a:pt x="1230757" y="525526"/>
                </a:lnTo>
                <a:lnTo>
                  <a:pt x="1225677" y="537210"/>
                </a:lnTo>
                <a:lnTo>
                  <a:pt x="1272413" y="557276"/>
                </a:lnTo>
                <a:lnTo>
                  <a:pt x="1277366" y="545604"/>
                </a:lnTo>
                <a:close/>
              </a:path>
              <a:path w="3741420" h="705485">
                <a:moveTo>
                  <a:pt x="1359154" y="580517"/>
                </a:moveTo>
                <a:lnTo>
                  <a:pt x="1312418" y="560590"/>
                </a:lnTo>
                <a:lnTo>
                  <a:pt x="1307465" y="572262"/>
                </a:lnTo>
                <a:lnTo>
                  <a:pt x="1354074" y="592201"/>
                </a:lnTo>
                <a:lnTo>
                  <a:pt x="1359154" y="580517"/>
                </a:lnTo>
                <a:close/>
              </a:path>
              <a:path w="3741420" h="705485">
                <a:moveTo>
                  <a:pt x="1440815" y="615569"/>
                </a:moveTo>
                <a:lnTo>
                  <a:pt x="1394206" y="595630"/>
                </a:lnTo>
                <a:lnTo>
                  <a:pt x="1389126" y="607314"/>
                </a:lnTo>
                <a:lnTo>
                  <a:pt x="1435862" y="627253"/>
                </a:lnTo>
                <a:lnTo>
                  <a:pt x="1440815" y="615569"/>
                </a:lnTo>
                <a:close/>
              </a:path>
              <a:path w="3741420" h="705485">
                <a:moveTo>
                  <a:pt x="1522603" y="650621"/>
                </a:moveTo>
                <a:lnTo>
                  <a:pt x="1475867" y="630555"/>
                </a:lnTo>
                <a:lnTo>
                  <a:pt x="1470914" y="642239"/>
                </a:lnTo>
                <a:lnTo>
                  <a:pt x="1517523" y="662305"/>
                </a:lnTo>
                <a:lnTo>
                  <a:pt x="1522603" y="650621"/>
                </a:lnTo>
                <a:close/>
              </a:path>
              <a:path w="3741420" h="705485">
                <a:moveTo>
                  <a:pt x="1709547" y="663321"/>
                </a:moveTo>
                <a:lnTo>
                  <a:pt x="1705610" y="651256"/>
                </a:lnTo>
                <a:lnTo>
                  <a:pt x="1670329" y="662609"/>
                </a:lnTo>
                <a:lnTo>
                  <a:pt x="1660652" y="632333"/>
                </a:lnTo>
                <a:lnTo>
                  <a:pt x="1601355" y="690270"/>
                </a:lnTo>
                <a:lnTo>
                  <a:pt x="1547749" y="626872"/>
                </a:lnTo>
                <a:lnTo>
                  <a:pt x="1517650" y="696849"/>
                </a:lnTo>
                <a:lnTo>
                  <a:pt x="1600517" y="692035"/>
                </a:lnTo>
                <a:lnTo>
                  <a:pt x="1683893" y="704977"/>
                </a:lnTo>
                <a:lnTo>
                  <a:pt x="1675434" y="678561"/>
                </a:lnTo>
                <a:lnTo>
                  <a:pt x="1674190" y="674674"/>
                </a:lnTo>
                <a:lnTo>
                  <a:pt x="1709547" y="663321"/>
                </a:lnTo>
                <a:close/>
              </a:path>
              <a:path w="3741420" h="705485">
                <a:moveTo>
                  <a:pt x="1794256" y="636270"/>
                </a:moveTo>
                <a:lnTo>
                  <a:pt x="1790319" y="624078"/>
                </a:lnTo>
                <a:lnTo>
                  <a:pt x="1741932" y="639572"/>
                </a:lnTo>
                <a:lnTo>
                  <a:pt x="1745869" y="651764"/>
                </a:lnTo>
                <a:lnTo>
                  <a:pt x="1794256" y="636270"/>
                </a:lnTo>
                <a:close/>
              </a:path>
              <a:path w="3741420" h="705485">
                <a:moveTo>
                  <a:pt x="1878838" y="609092"/>
                </a:moveTo>
                <a:lnTo>
                  <a:pt x="1875028" y="597027"/>
                </a:lnTo>
                <a:lnTo>
                  <a:pt x="1826641" y="612521"/>
                </a:lnTo>
                <a:lnTo>
                  <a:pt x="1830451" y="624586"/>
                </a:lnTo>
                <a:lnTo>
                  <a:pt x="1878838" y="609092"/>
                </a:lnTo>
                <a:close/>
              </a:path>
              <a:path w="3741420" h="705485">
                <a:moveTo>
                  <a:pt x="1963547" y="581914"/>
                </a:moveTo>
                <a:lnTo>
                  <a:pt x="1959610" y="569849"/>
                </a:lnTo>
                <a:lnTo>
                  <a:pt x="1911223" y="585343"/>
                </a:lnTo>
                <a:lnTo>
                  <a:pt x="1915160" y="597408"/>
                </a:lnTo>
                <a:lnTo>
                  <a:pt x="1963547" y="581914"/>
                </a:lnTo>
                <a:close/>
              </a:path>
              <a:path w="3741420" h="705485">
                <a:moveTo>
                  <a:pt x="2048129" y="554863"/>
                </a:moveTo>
                <a:lnTo>
                  <a:pt x="2044319" y="542671"/>
                </a:lnTo>
                <a:lnTo>
                  <a:pt x="1995932" y="558304"/>
                </a:lnTo>
                <a:lnTo>
                  <a:pt x="1999742" y="570357"/>
                </a:lnTo>
                <a:lnTo>
                  <a:pt x="2048129" y="554863"/>
                </a:lnTo>
                <a:close/>
              </a:path>
              <a:path w="3741420" h="705485">
                <a:moveTo>
                  <a:pt x="2132838" y="527685"/>
                </a:moveTo>
                <a:lnTo>
                  <a:pt x="2128901" y="515620"/>
                </a:lnTo>
                <a:lnTo>
                  <a:pt x="2080514" y="531114"/>
                </a:lnTo>
                <a:lnTo>
                  <a:pt x="2084451" y="543191"/>
                </a:lnTo>
                <a:lnTo>
                  <a:pt x="2132838" y="527685"/>
                </a:lnTo>
                <a:close/>
              </a:path>
              <a:path w="3741420" h="705485">
                <a:moveTo>
                  <a:pt x="2217547" y="500507"/>
                </a:moveTo>
                <a:lnTo>
                  <a:pt x="2213610" y="488454"/>
                </a:lnTo>
                <a:lnTo>
                  <a:pt x="2165223" y="503936"/>
                </a:lnTo>
                <a:lnTo>
                  <a:pt x="2169160" y="516001"/>
                </a:lnTo>
                <a:lnTo>
                  <a:pt x="2217547" y="500507"/>
                </a:lnTo>
                <a:close/>
              </a:path>
              <a:path w="3741420" h="705485">
                <a:moveTo>
                  <a:pt x="2302129" y="473456"/>
                </a:moveTo>
                <a:lnTo>
                  <a:pt x="2298319" y="461264"/>
                </a:lnTo>
                <a:lnTo>
                  <a:pt x="2249932" y="476885"/>
                </a:lnTo>
                <a:lnTo>
                  <a:pt x="2253742" y="488950"/>
                </a:lnTo>
                <a:lnTo>
                  <a:pt x="2302129" y="473456"/>
                </a:lnTo>
                <a:close/>
              </a:path>
              <a:path w="3741420" h="705485">
                <a:moveTo>
                  <a:pt x="2386838" y="446278"/>
                </a:moveTo>
                <a:lnTo>
                  <a:pt x="2382901" y="434213"/>
                </a:lnTo>
                <a:lnTo>
                  <a:pt x="2334514" y="449707"/>
                </a:lnTo>
                <a:lnTo>
                  <a:pt x="2338451" y="461772"/>
                </a:lnTo>
                <a:lnTo>
                  <a:pt x="2386838" y="446278"/>
                </a:lnTo>
                <a:close/>
              </a:path>
              <a:path w="3741420" h="705485">
                <a:moveTo>
                  <a:pt x="2471420" y="419100"/>
                </a:moveTo>
                <a:lnTo>
                  <a:pt x="2467610" y="407035"/>
                </a:lnTo>
                <a:lnTo>
                  <a:pt x="2419223" y="422529"/>
                </a:lnTo>
                <a:lnTo>
                  <a:pt x="2423033" y="434594"/>
                </a:lnTo>
                <a:lnTo>
                  <a:pt x="2471420" y="419100"/>
                </a:lnTo>
                <a:close/>
              </a:path>
              <a:path w="3741420" h="705485">
                <a:moveTo>
                  <a:pt x="2556129" y="392049"/>
                </a:moveTo>
                <a:lnTo>
                  <a:pt x="2552192" y="379984"/>
                </a:lnTo>
                <a:lnTo>
                  <a:pt x="2503805" y="395478"/>
                </a:lnTo>
                <a:lnTo>
                  <a:pt x="2507742" y="407543"/>
                </a:lnTo>
                <a:lnTo>
                  <a:pt x="2556129" y="392049"/>
                </a:lnTo>
                <a:close/>
              </a:path>
              <a:path w="3741420" h="705485">
                <a:moveTo>
                  <a:pt x="2640838" y="364871"/>
                </a:moveTo>
                <a:lnTo>
                  <a:pt x="2636901" y="352806"/>
                </a:lnTo>
                <a:lnTo>
                  <a:pt x="2588514" y="368300"/>
                </a:lnTo>
                <a:lnTo>
                  <a:pt x="2592451" y="380365"/>
                </a:lnTo>
                <a:lnTo>
                  <a:pt x="2640838" y="364871"/>
                </a:lnTo>
                <a:close/>
              </a:path>
              <a:path w="3741420" h="705485">
                <a:moveTo>
                  <a:pt x="2725420" y="337693"/>
                </a:moveTo>
                <a:lnTo>
                  <a:pt x="2721610" y="325628"/>
                </a:lnTo>
                <a:lnTo>
                  <a:pt x="2673223" y="341122"/>
                </a:lnTo>
                <a:lnTo>
                  <a:pt x="2677033" y="353314"/>
                </a:lnTo>
                <a:lnTo>
                  <a:pt x="2725420" y="337693"/>
                </a:lnTo>
                <a:close/>
              </a:path>
              <a:path w="3741420" h="705485">
                <a:moveTo>
                  <a:pt x="2810129" y="310642"/>
                </a:moveTo>
                <a:lnTo>
                  <a:pt x="2806192" y="298577"/>
                </a:lnTo>
                <a:lnTo>
                  <a:pt x="2757805" y="314071"/>
                </a:lnTo>
                <a:lnTo>
                  <a:pt x="2761742" y="326136"/>
                </a:lnTo>
                <a:lnTo>
                  <a:pt x="2810129" y="310642"/>
                </a:lnTo>
                <a:close/>
              </a:path>
              <a:path w="3741420" h="705485">
                <a:moveTo>
                  <a:pt x="2894711" y="283464"/>
                </a:moveTo>
                <a:lnTo>
                  <a:pt x="2890901" y="271399"/>
                </a:lnTo>
                <a:lnTo>
                  <a:pt x="2842514" y="286893"/>
                </a:lnTo>
                <a:lnTo>
                  <a:pt x="2846324" y="298958"/>
                </a:lnTo>
                <a:lnTo>
                  <a:pt x="2894711" y="283464"/>
                </a:lnTo>
                <a:close/>
              </a:path>
              <a:path w="3741420" h="705485">
                <a:moveTo>
                  <a:pt x="2979420" y="256286"/>
                </a:moveTo>
                <a:lnTo>
                  <a:pt x="2975483" y="244221"/>
                </a:lnTo>
                <a:lnTo>
                  <a:pt x="2927096" y="259715"/>
                </a:lnTo>
                <a:lnTo>
                  <a:pt x="2931033" y="271907"/>
                </a:lnTo>
                <a:lnTo>
                  <a:pt x="2979420" y="256286"/>
                </a:lnTo>
                <a:close/>
              </a:path>
              <a:path w="3741420" h="705485">
                <a:moveTo>
                  <a:pt x="3064002" y="229235"/>
                </a:moveTo>
                <a:lnTo>
                  <a:pt x="3060192" y="217170"/>
                </a:lnTo>
                <a:lnTo>
                  <a:pt x="3011805" y="232664"/>
                </a:lnTo>
                <a:lnTo>
                  <a:pt x="3015742" y="244729"/>
                </a:lnTo>
                <a:lnTo>
                  <a:pt x="3064002" y="229235"/>
                </a:lnTo>
                <a:close/>
              </a:path>
              <a:path w="3741420" h="705485">
                <a:moveTo>
                  <a:pt x="3148711" y="202057"/>
                </a:moveTo>
                <a:lnTo>
                  <a:pt x="3144901" y="189992"/>
                </a:lnTo>
                <a:lnTo>
                  <a:pt x="3096514" y="205486"/>
                </a:lnTo>
                <a:lnTo>
                  <a:pt x="3100324" y="217551"/>
                </a:lnTo>
                <a:lnTo>
                  <a:pt x="3148711" y="202057"/>
                </a:lnTo>
                <a:close/>
              </a:path>
              <a:path w="3741420" h="705485">
                <a:moveTo>
                  <a:pt x="3233420" y="175006"/>
                </a:moveTo>
                <a:lnTo>
                  <a:pt x="3229483" y="162814"/>
                </a:lnTo>
                <a:lnTo>
                  <a:pt x="3181096" y="178308"/>
                </a:lnTo>
                <a:lnTo>
                  <a:pt x="3185033" y="190500"/>
                </a:lnTo>
                <a:lnTo>
                  <a:pt x="3233420" y="175006"/>
                </a:lnTo>
                <a:close/>
              </a:path>
              <a:path w="3741420" h="705485">
                <a:moveTo>
                  <a:pt x="3318002" y="147828"/>
                </a:moveTo>
                <a:lnTo>
                  <a:pt x="3314192" y="135763"/>
                </a:lnTo>
                <a:lnTo>
                  <a:pt x="3265805" y="151257"/>
                </a:lnTo>
                <a:lnTo>
                  <a:pt x="3269615" y="163322"/>
                </a:lnTo>
                <a:lnTo>
                  <a:pt x="3318002" y="147828"/>
                </a:lnTo>
                <a:close/>
              </a:path>
              <a:path w="3741420" h="705485">
                <a:moveTo>
                  <a:pt x="3402711" y="120650"/>
                </a:moveTo>
                <a:lnTo>
                  <a:pt x="3398774" y="108585"/>
                </a:lnTo>
                <a:lnTo>
                  <a:pt x="3350387" y="124079"/>
                </a:lnTo>
                <a:lnTo>
                  <a:pt x="3354324" y="136144"/>
                </a:lnTo>
                <a:lnTo>
                  <a:pt x="3402711" y="120650"/>
                </a:lnTo>
                <a:close/>
              </a:path>
              <a:path w="3741420" h="705485">
                <a:moveTo>
                  <a:pt x="3487293" y="93599"/>
                </a:moveTo>
                <a:lnTo>
                  <a:pt x="3483483" y="81407"/>
                </a:lnTo>
                <a:lnTo>
                  <a:pt x="3435096" y="96901"/>
                </a:lnTo>
                <a:lnTo>
                  <a:pt x="3439033" y="109093"/>
                </a:lnTo>
                <a:lnTo>
                  <a:pt x="3487293" y="93599"/>
                </a:lnTo>
                <a:close/>
              </a:path>
              <a:path w="3741420" h="705485">
                <a:moveTo>
                  <a:pt x="3572002" y="66421"/>
                </a:moveTo>
                <a:lnTo>
                  <a:pt x="3568192" y="54356"/>
                </a:lnTo>
                <a:lnTo>
                  <a:pt x="3519805" y="69850"/>
                </a:lnTo>
                <a:lnTo>
                  <a:pt x="3523615" y="81915"/>
                </a:lnTo>
                <a:lnTo>
                  <a:pt x="3572002" y="66421"/>
                </a:lnTo>
                <a:close/>
              </a:path>
              <a:path w="3741420" h="705485">
                <a:moveTo>
                  <a:pt x="3656711" y="39243"/>
                </a:moveTo>
                <a:lnTo>
                  <a:pt x="3652774" y="27178"/>
                </a:lnTo>
                <a:lnTo>
                  <a:pt x="3604387" y="42672"/>
                </a:lnTo>
                <a:lnTo>
                  <a:pt x="3608324" y="54737"/>
                </a:lnTo>
                <a:lnTo>
                  <a:pt x="3656711" y="39243"/>
                </a:lnTo>
                <a:close/>
              </a:path>
              <a:path w="3741420" h="705485">
                <a:moveTo>
                  <a:pt x="3741293" y="12192"/>
                </a:moveTo>
                <a:lnTo>
                  <a:pt x="3737483" y="0"/>
                </a:lnTo>
                <a:lnTo>
                  <a:pt x="3689096" y="15494"/>
                </a:lnTo>
                <a:lnTo>
                  <a:pt x="3692906" y="27686"/>
                </a:lnTo>
                <a:lnTo>
                  <a:pt x="3741293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75405" y="3197733"/>
            <a:ext cx="1268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Kết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nhiên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9C1EAE1-B3F7-30B3-5DE6-8DB29DCF6A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Phát</a:t>
            </a:r>
            <a:r>
              <a:rPr spc="-60" dirty="0"/>
              <a:t> </a:t>
            </a:r>
            <a:r>
              <a:rPr dirty="0"/>
              <a:t>sinh</a:t>
            </a:r>
            <a:r>
              <a:rPr spc="-65" dirty="0"/>
              <a:t> </a:t>
            </a:r>
            <a:r>
              <a:rPr dirty="0"/>
              <a:t>các</a:t>
            </a:r>
            <a:r>
              <a:rPr spc="-55" dirty="0"/>
              <a:t> </a:t>
            </a:r>
            <a:r>
              <a:rPr dirty="0"/>
              <a:t>bộ</a:t>
            </a:r>
            <a:r>
              <a:rPr spc="-65" dirty="0"/>
              <a:t> </a:t>
            </a:r>
            <a:r>
              <a:rPr dirty="0"/>
              <a:t>không</a:t>
            </a:r>
            <a:r>
              <a:rPr spc="-50" dirty="0"/>
              <a:t> </a:t>
            </a:r>
            <a:r>
              <a:rPr dirty="0"/>
              <a:t>có</a:t>
            </a:r>
            <a:r>
              <a:rPr spc="-55" dirty="0"/>
              <a:t> </a:t>
            </a:r>
            <a:r>
              <a:rPr dirty="0"/>
              <a:t>thực</a:t>
            </a:r>
            <a:r>
              <a:rPr spc="-50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2199"/>
            <a:ext cx="815657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Xây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dựng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sao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việc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thực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phép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bằng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giữa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chúng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chỉ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áp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trên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khóa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chính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hoặc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khóa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ngoại.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85C1C-96D6-1636-CEE1-7BFD277339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90" dirty="0"/>
              <a:t> </a:t>
            </a:r>
            <a:r>
              <a:rPr dirty="0"/>
              <a:t>dung</a:t>
            </a:r>
            <a:r>
              <a:rPr spc="-70" dirty="0"/>
              <a:t> </a:t>
            </a:r>
            <a:r>
              <a:rPr dirty="0"/>
              <a:t>trình</a:t>
            </a:r>
            <a:r>
              <a:rPr spc="-75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7783830" cy="23831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Nguyên</a:t>
            </a:r>
            <a:r>
              <a:rPr sz="3200" spc="-4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tắc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thiết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kế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các</a:t>
            </a:r>
            <a:r>
              <a:rPr sz="3200" spc="-1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lược</a:t>
            </a:r>
            <a:r>
              <a:rPr sz="3200" spc="-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đồ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quan</a:t>
            </a:r>
            <a:r>
              <a:rPr sz="3200" spc="-25" dirty="0">
                <a:solidFill>
                  <a:srgbClr val="A6A6A6"/>
                </a:solidFill>
                <a:latin typeface="Arial"/>
                <a:cs typeface="Arial"/>
              </a:rPr>
              <a:t> hệ.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Phụ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thuộc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hàm.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Các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dạng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A6A6A6"/>
                </a:solidFill>
                <a:latin typeface="Arial"/>
                <a:cs typeface="Arial"/>
              </a:rPr>
              <a:t>chuẩn.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Một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số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thuật</a:t>
            </a:r>
            <a:r>
              <a:rPr sz="3200" spc="-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toán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chuẩn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hóa.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A07C5-06FD-E74F-319C-9620F33345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Phụ</a:t>
            </a:r>
            <a:r>
              <a:rPr spc="-70" dirty="0"/>
              <a:t> </a:t>
            </a:r>
            <a:r>
              <a:rPr dirty="0"/>
              <a:t>thuộc</a:t>
            </a:r>
            <a:r>
              <a:rPr spc="-35" dirty="0"/>
              <a:t> </a:t>
            </a:r>
            <a:r>
              <a:rPr dirty="0"/>
              <a:t>hàm</a:t>
            </a:r>
            <a:r>
              <a:rPr spc="-6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315" y="1017067"/>
            <a:ext cx="6449060" cy="23844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159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415925" algn="l"/>
              </a:tabLst>
            </a:pPr>
            <a:r>
              <a:rPr sz="2400" dirty="0">
                <a:latin typeface="Arial"/>
                <a:cs typeface="Arial"/>
              </a:rPr>
              <a:t>Xét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gồm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tính</a:t>
            </a:r>
            <a:endParaRPr sz="2400">
              <a:latin typeface="Arial"/>
              <a:cs typeface="Arial"/>
            </a:endParaRPr>
          </a:p>
          <a:p>
            <a:pPr marL="8153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15340" algn="l"/>
              </a:tabLst>
            </a:pPr>
            <a:r>
              <a:rPr sz="2000" dirty="0">
                <a:latin typeface="Arial"/>
                <a:cs typeface="Arial"/>
              </a:rPr>
              <a:t>R(U),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U={A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2000" dirty="0">
                <a:latin typeface="Arial"/>
                <a:cs typeface="Arial"/>
              </a:rPr>
              <a:t>,…,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</a:t>
            </a:r>
            <a:r>
              <a:rPr sz="1950" spc="-37" baseline="-21367" dirty="0">
                <a:latin typeface="Arial"/>
                <a:cs typeface="Arial"/>
              </a:rPr>
              <a:t>n</a:t>
            </a:r>
            <a:r>
              <a:rPr sz="2000" spc="-25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415925" indent="-33972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415925" algn="l"/>
              </a:tabLst>
            </a:pPr>
            <a:r>
              <a:rPr sz="2400" dirty="0">
                <a:latin typeface="Arial"/>
                <a:cs typeface="Arial"/>
              </a:rPr>
              <a:t>PTH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U</a:t>
            </a:r>
            <a:endParaRPr sz="2400">
              <a:latin typeface="Arial"/>
              <a:cs typeface="Arial"/>
            </a:endParaRPr>
          </a:p>
          <a:p>
            <a:pPr marL="8153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15340" algn="l"/>
              </a:tabLst>
            </a:pPr>
            <a:r>
              <a:rPr sz="2000" dirty="0">
                <a:latin typeface="Arial"/>
                <a:cs typeface="Arial"/>
              </a:rPr>
              <a:t>Ký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hiệu: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Y.</a:t>
            </a:r>
            <a:endParaRPr sz="2000">
              <a:latin typeface="Arial"/>
              <a:cs typeface="Arial"/>
            </a:endParaRPr>
          </a:p>
          <a:p>
            <a:pPr marL="53340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Symbol"/>
                <a:cs typeface="Symbol"/>
              </a:rPr>
              <a:t>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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R, </a:t>
            </a:r>
            <a:r>
              <a:rPr sz="2000" dirty="0">
                <a:latin typeface="Symbol"/>
                <a:cs typeface="Symbol"/>
              </a:rPr>
              <a:t>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1950" spc="29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[X]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2000" dirty="0">
                <a:latin typeface="Arial"/>
                <a:cs typeface="Arial"/>
              </a:rPr>
              <a:t>[X]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thì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[Y]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0" dirty="0">
                <a:latin typeface="Arial"/>
                <a:cs typeface="Arial"/>
              </a:rPr>
              <a:t> t</a:t>
            </a:r>
            <a:r>
              <a:rPr sz="1950" spc="-15" baseline="-21367" dirty="0">
                <a:latin typeface="Arial"/>
                <a:cs typeface="Arial"/>
              </a:rPr>
              <a:t>2</a:t>
            </a:r>
            <a:r>
              <a:rPr sz="2000" spc="-10" dirty="0">
                <a:latin typeface="Arial"/>
                <a:cs typeface="Arial"/>
              </a:rPr>
              <a:t>[Y].</a:t>
            </a:r>
            <a:endParaRPr sz="2000">
              <a:latin typeface="Arial"/>
              <a:cs typeface="Arial"/>
            </a:endParaRPr>
          </a:p>
          <a:p>
            <a:pPr marL="815340" lvl="1" indent="-281940">
              <a:lnSpc>
                <a:spcPct val="100000"/>
              </a:lnSpc>
              <a:spcBef>
                <a:spcPts val="500"/>
              </a:spcBef>
              <a:buChar char="•"/>
              <a:tabLst>
                <a:tab pos="815340" algn="l"/>
              </a:tabLst>
            </a:pPr>
            <a:r>
              <a:rPr sz="2000" dirty="0">
                <a:latin typeface="Arial"/>
                <a:cs typeface="Arial"/>
              </a:rPr>
              <a:t>X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vế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trái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vế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phải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PTH.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74899" y="3867708"/>
          <a:ext cx="1843405" cy="145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r(R)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423028" y="4310633"/>
            <a:ext cx="399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thỏa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nhưng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thỏa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7480E-17F0-B27B-4225-1D2BC6E3ED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Phụ</a:t>
            </a:r>
            <a:r>
              <a:rPr spc="-70" dirty="0"/>
              <a:t> </a:t>
            </a:r>
            <a:r>
              <a:rPr dirty="0"/>
              <a:t>thuộc</a:t>
            </a:r>
            <a:r>
              <a:rPr spc="-35" dirty="0"/>
              <a:t> </a:t>
            </a:r>
            <a:r>
              <a:rPr dirty="0"/>
              <a:t>hàm</a:t>
            </a:r>
            <a:r>
              <a:rPr spc="-6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2252853"/>
            <a:ext cx="8514080" cy="364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00"/>
              </a:spcBef>
              <a:tabLst>
                <a:tab pos="2910840" algn="l"/>
                <a:tab pos="5707380" algn="l"/>
              </a:tabLst>
            </a:pPr>
            <a:r>
              <a:rPr sz="1800" dirty="0">
                <a:latin typeface="Arial"/>
                <a:cs typeface="Arial"/>
              </a:rPr>
              <a:t>MaNV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TenNV</a:t>
            </a:r>
            <a:r>
              <a:rPr sz="1800" dirty="0">
                <a:latin typeface="Arial"/>
                <a:cs typeface="Arial"/>
              </a:rPr>
              <a:t>	MaNV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MaPB</a:t>
            </a:r>
            <a:r>
              <a:rPr sz="1800" dirty="0">
                <a:latin typeface="Arial"/>
                <a:cs typeface="Arial"/>
              </a:rPr>
              <a:t>	MaPB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{TenPB,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TrPhong}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800">
              <a:latin typeface="Arial"/>
              <a:cs typeface="Arial"/>
            </a:endParaRPr>
          </a:p>
          <a:p>
            <a:pPr marL="352425" marR="148590" indent="-340360">
              <a:lnSpc>
                <a:spcPct val="100000"/>
              </a:lnSpc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thỏa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ràng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trạng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lệ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Nhận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xét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PTH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xuất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phát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ràng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thế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giới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thực.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Symbol"/>
                <a:cs typeface="Symbol"/>
              </a:rPr>
              <a:t>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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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[X]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nhất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thì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 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R.</a:t>
            </a:r>
            <a:endParaRPr sz="20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Nếu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thì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xác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hàm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cả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PTH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đánh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thiết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CSDL.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5981" y="1509522"/>
            <a:ext cx="106997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"/>
                <a:cs typeface="Arial"/>
              </a:rPr>
              <a:t>TrPhong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6029" y="1509522"/>
            <a:ext cx="114046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"/>
                <a:cs typeface="Arial"/>
              </a:rPr>
              <a:t>TenPB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19521" y="1509522"/>
            <a:ext cx="101663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310"/>
              </a:spcBef>
            </a:pPr>
            <a:r>
              <a:rPr sz="1800" spc="-20" dirty="0"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6334" y="1509522"/>
            <a:ext cx="112331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"/>
                <a:cs typeface="Arial"/>
              </a:rPr>
              <a:t>Diachi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3888" y="1509522"/>
            <a:ext cx="12827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"/>
                <a:cs typeface="Arial"/>
              </a:rPr>
              <a:t>NgSinh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2985" y="1509522"/>
            <a:ext cx="1121410" cy="364490"/>
          </a:xfrm>
          <a:prstGeom prst="rect">
            <a:avLst/>
          </a:prstGeom>
          <a:ln w="15648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310"/>
              </a:spcBef>
            </a:pPr>
            <a:r>
              <a:rPr sz="1800" spc="-20" dirty="0">
                <a:latin typeface="Arial"/>
                <a:cs typeface="Arial"/>
              </a:rPr>
              <a:t>MaNV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362" y="1509522"/>
            <a:ext cx="118300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"/>
                <a:cs typeface="Arial"/>
              </a:rPr>
              <a:t>TenNV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7120" y="1171447"/>
            <a:ext cx="2639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NHANVIEN_PHONGBAN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15949" y="1898699"/>
            <a:ext cx="1252855" cy="319405"/>
            <a:chOff x="1115949" y="1898699"/>
            <a:chExt cx="1252855" cy="319405"/>
          </a:xfrm>
        </p:grpSpPr>
        <p:sp>
          <p:nvSpPr>
            <p:cNvPr id="13" name="object 13"/>
            <p:cNvSpPr/>
            <p:nvPr/>
          </p:nvSpPr>
          <p:spPr>
            <a:xfrm>
              <a:off x="1153668" y="2209800"/>
              <a:ext cx="1195070" cy="1905"/>
            </a:xfrm>
            <a:custGeom>
              <a:avLst/>
              <a:gdLst/>
              <a:ahLst/>
              <a:cxnLst/>
              <a:rect l="l" t="t" r="r" b="b"/>
              <a:pathLst>
                <a:path w="1195070" h="1905">
                  <a:moveTo>
                    <a:pt x="0" y="0"/>
                  </a:moveTo>
                  <a:lnTo>
                    <a:pt x="1194815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15949" y="19050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44386" y="63500"/>
                  </a:moveTo>
                  <a:lnTo>
                    <a:pt x="31686" y="63500"/>
                  </a:lnTo>
                  <a:lnTo>
                    <a:pt x="32892" y="304800"/>
                  </a:lnTo>
                  <a:lnTo>
                    <a:pt x="45592" y="304800"/>
                  </a:lnTo>
                  <a:lnTo>
                    <a:pt x="44450" y="76326"/>
                  </a:lnTo>
                  <a:lnTo>
                    <a:pt x="44386" y="63500"/>
                  </a:lnTo>
                  <a:close/>
                </a:path>
                <a:path w="76200" h="304800">
                  <a:moveTo>
                    <a:pt x="37718" y="0"/>
                  </a:moveTo>
                  <a:lnTo>
                    <a:pt x="188" y="75946"/>
                  </a:lnTo>
                  <a:lnTo>
                    <a:pt x="78" y="76168"/>
                  </a:lnTo>
                  <a:lnTo>
                    <a:pt x="0" y="76326"/>
                  </a:lnTo>
                  <a:lnTo>
                    <a:pt x="31749" y="76168"/>
                  </a:lnTo>
                  <a:lnTo>
                    <a:pt x="31686" y="63500"/>
                  </a:lnTo>
                  <a:lnTo>
                    <a:pt x="69893" y="63500"/>
                  </a:lnTo>
                  <a:lnTo>
                    <a:pt x="37718" y="0"/>
                  </a:lnTo>
                  <a:close/>
                </a:path>
                <a:path w="76200" h="304800">
                  <a:moveTo>
                    <a:pt x="69893" y="63500"/>
                  </a:moveTo>
                  <a:lnTo>
                    <a:pt x="44386" y="63500"/>
                  </a:lnTo>
                  <a:lnTo>
                    <a:pt x="44449" y="76168"/>
                  </a:lnTo>
                  <a:lnTo>
                    <a:pt x="31749" y="76168"/>
                  </a:lnTo>
                  <a:lnTo>
                    <a:pt x="76200" y="75946"/>
                  </a:lnTo>
                  <a:lnTo>
                    <a:pt x="69893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60676" y="1905000"/>
              <a:ext cx="1905" cy="304800"/>
            </a:xfrm>
            <a:custGeom>
              <a:avLst/>
              <a:gdLst/>
              <a:ahLst/>
              <a:cxnLst/>
              <a:rect l="l" t="t" r="r" b="b"/>
              <a:pathLst>
                <a:path w="1905" h="304800">
                  <a:moveTo>
                    <a:pt x="0" y="0"/>
                  </a:moveTo>
                  <a:lnTo>
                    <a:pt x="1524" y="3048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861099" y="1898699"/>
            <a:ext cx="2166620" cy="319405"/>
            <a:chOff x="5861099" y="1898699"/>
            <a:chExt cx="2166620" cy="319405"/>
          </a:xfrm>
        </p:grpSpPr>
        <p:sp>
          <p:nvSpPr>
            <p:cNvPr id="17" name="object 17"/>
            <p:cNvSpPr/>
            <p:nvPr/>
          </p:nvSpPr>
          <p:spPr>
            <a:xfrm>
              <a:off x="5867400" y="2209800"/>
              <a:ext cx="2121535" cy="1905"/>
            </a:xfrm>
            <a:custGeom>
              <a:avLst/>
              <a:gdLst/>
              <a:ahLst/>
              <a:cxnLst/>
              <a:rect l="l" t="t" r="r" b="b"/>
              <a:pathLst>
                <a:path w="2121534" h="1905">
                  <a:moveTo>
                    <a:pt x="0" y="0"/>
                  </a:moveTo>
                  <a:lnTo>
                    <a:pt x="2121407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48880" y="19050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44323" y="63500"/>
                  </a:moveTo>
                  <a:lnTo>
                    <a:pt x="31623" y="63500"/>
                  </a:lnTo>
                  <a:lnTo>
                    <a:pt x="32893" y="304800"/>
                  </a:lnTo>
                  <a:lnTo>
                    <a:pt x="45593" y="304800"/>
                  </a:lnTo>
                  <a:lnTo>
                    <a:pt x="44390" y="76326"/>
                  </a:lnTo>
                  <a:lnTo>
                    <a:pt x="44323" y="63500"/>
                  </a:lnTo>
                  <a:close/>
                </a:path>
                <a:path w="76200" h="304800">
                  <a:moveTo>
                    <a:pt x="37719" y="0"/>
                  </a:moveTo>
                  <a:lnTo>
                    <a:pt x="188" y="75946"/>
                  </a:lnTo>
                  <a:lnTo>
                    <a:pt x="78" y="76168"/>
                  </a:lnTo>
                  <a:lnTo>
                    <a:pt x="0" y="76326"/>
                  </a:lnTo>
                  <a:lnTo>
                    <a:pt x="31689" y="76168"/>
                  </a:lnTo>
                  <a:lnTo>
                    <a:pt x="31623" y="63500"/>
                  </a:lnTo>
                  <a:lnTo>
                    <a:pt x="69893" y="63500"/>
                  </a:lnTo>
                  <a:lnTo>
                    <a:pt x="37719" y="0"/>
                  </a:lnTo>
                  <a:close/>
                </a:path>
                <a:path w="76200" h="304800">
                  <a:moveTo>
                    <a:pt x="69893" y="63500"/>
                  </a:moveTo>
                  <a:lnTo>
                    <a:pt x="44323" y="63500"/>
                  </a:lnTo>
                  <a:lnTo>
                    <a:pt x="44389" y="76168"/>
                  </a:lnTo>
                  <a:lnTo>
                    <a:pt x="31689" y="76168"/>
                  </a:lnTo>
                  <a:lnTo>
                    <a:pt x="76200" y="75946"/>
                  </a:lnTo>
                  <a:lnTo>
                    <a:pt x="69893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67400" y="1905000"/>
              <a:ext cx="1905" cy="304800"/>
            </a:xfrm>
            <a:custGeom>
              <a:avLst/>
              <a:gdLst/>
              <a:ahLst/>
              <a:cxnLst/>
              <a:rect l="l" t="t" r="r" b="b"/>
              <a:pathLst>
                <a:path w="1904" h="304800">
                  <a:moveTo>
                    <a:pt x="0" y="0"/>
                  </a:moveTo>
                  <a:lnTo>
                    <a:pt x="1524" y="3048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51089" y="19050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44322" y="63500"/>
                  </a:moveTo>
                  <a:lnTo>
                    <a:pt x="31622" y="63500"/>
                  </a:lnTo>
                  <a:lnTo>
                    <a:pt x="32892" y="304800"/>
                  </a:lnTo>
                  <a:lnTo>
                    <a:pt x="45592" y="304800"/>
                  </a:lnTo>
                  <a:lnTo>
                    <a:pt x="44390" y="76326"/>
                  </a:lnTo>
                  <a:lnTo>
                    <a:pt x="44322" y="63500"/>
                  </a:lnTo>
                  <a:close/>
                </a:path>
                <a:path w="76200" h="304800">
                  <a:moveTo>
                    <a:pt x="37718" y="0"/>
                  </a:moveTo>
                  <a:lnTo>
                    <a:pt x="188" y="75946"/>
                  </a:lnTo>
                  <a:lnTo>
                    <a:pt x="78" y="76168"/>
                  </a:lnTo>
                  <a:lnTo>
                    <a:pt x="0" y="76326"/>
                  </a:lnTo>
                  <a:lnTo>
                    <a:pt x="31689" y="76168"/>
                  </a:lnTo>
                  <a:lnTo>
                    <a:pt x="31622" y="63500"/>
                  </a:lnTo>
                  <a:lnTo>
                    <a:pt x="69893" y="63500"/>
                  </a:lnTo>
                  <a:lnTo>
                    <a:pt x="37718" y="0"/>
                  </a:lnTo>
                  <a:close/>
                </a:path>
                <a:path w="76200" h="304800">
                  <a:moveTo>
                    <a:pt x="69893" y="63500"/>
                  </a:moveTo>
                  <a:lnTo>
                    <a:pt x="44322" y="63500"/>
                  </a:lnTo>
                  <a:lnTo>
                    <a:pt x="44389" y="76168"/>
                  </a:lnTo>
                  <a:lnTo>
                    <a:pt x="31689" y="76168"/>
                  </a:lnTo>
                  <a:lnTo>
                    <a:pt x="76200" y="75946"/>
                  </a:lnTo>
                  <a:lnTo>
                    <a:pt x="69893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432099" y="1898699"/>
            <a:ext cx="3309620" cy="319405"/>
            <a:chOff x="2432099" y="1898699"/>
            <a:chExt cx="3309620" cy="319405"/>
          </a:xfrm>
        </p:grpSpPr>
        <p:sp>
          <p:nvSpPr>
            <p:cNvPr id="22" name="object 22"/>
            <p:cNvSpPr/>
            <p:nvPr/>
          </p:nvSpPr>
          <p:spPr>
            <a:xfrm>
              <a:off x="2438400" y="2209800"/>
              <a:ext cx="3264535" cy="1905"/>
            </a:xfrm>
            <a:custGeom>
              <a:avLst/>
              <a:gdLst/>
              <a:ahLst/>
              <a:cxnLst/>
              <a:rect l="l" t="t" r="r" b="b"/>
              <a:pathLst>
                <a:path w="3264535" h="1905">
                  <a:moveTo>
                    <a:pt x="0" y="0"/>
                  </a:moveTo>
                  <a:lnTo>
                    <a:pt x="3264408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65089" y="19050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44323" y="63500"/>
                  </a:moveTo>
                  <a:lnTo>
                    <a:pt x="31623" y="63500"/>
                  </a:lnTo>
                  <a:lnTo>
                    <a:pt x="32893" y="304800"/>
                  </a:lnTo>
                  <a:lnTo>
                    <a:pt x="45593" y="304800"/>
                  </a:lnTo>
                  <a:lnTo>
                    <a:pt x="44390" y="76326"/>
                  </a:lnTo>
                  <a:lnTo>
                    <a:pt x="44323" y="63500"/>
                  </a:lnTo>
                  <a:close/>
                </a:path>
                <a:path w="76200" h="304800">
                  <a:moveTo>
                    <a:pt x="37719" y="0"/>
                  </a:moveTo>
                  <a:lnTo>
                    <a:pt x="188" y="75946"/>
                  </a:lnTo>
                  <a:lnTo>
                    <a:pt x="78" y="76168"/>
                  </a:lnTo>
                  <a:lnTo>
                    <a:pt x="0" y="76326"/>
                  </a:lnTo>
                  <a:lnTo>
                    <a:pt x="31689" y="76168"/>
                  </a:lnTo>
                  <a:lnTo>
                    <a:pt x="31623" y="63500"/>
                  </a:lnTo>
                  <a:lnTo>
                    <a:pt x="69893" y="63500"/>
                  </a:lnTo>
                  <a:lnTo>
                    <a:pt x="37719" y="0"/>
                  </a:lnTo>
                  <a:close/>
                </a:path>
                <a:path w="76200" h="304800">
                  <a:moveTo>
                    <a:pt x="69893" y="63500"/>
                  </a:moveTo>
                  <a:lnTo>
                    <a:pt x="44323" y="63500"/>
                  </a:lnTo>
                  <a:lnTo>
                    <a:pt x="44389" y="76168"/>
                  </a:lnTo>
                  <a:lnTo>
                    <a:pt x="31689" y="76168"/>
                  </a:lnTo>
                  <a:lnTo>
                    <a:pt x="76200" y="75946"/>
                  </a:lnTo>
                  <a:lnTo>
                    <a:pt x="69893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38400" y="1905000"/>
              <a:ext cx="1905" cy="304800"/>
            </a:xfrm>
            <a:custGeom>
              <a:avLst/>
              <a:gdLst/>
              <a:ahLst/>
              <a:cxnLst/>
              <a:rect l="l" t="t" r="r" b="b"/>
              <a:pathLst>
                <a:path w="1905" h="304800">
                  <a:moveTo>
                    <a:pt x="0" y="0"/>
                  </a:moveTo>
                  <a:lnTo>
                    <a:pt x="1524" y="3048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6A78063-3AD6-3C73-24AC-C019742852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Bao</a:t>
            </a:r>
            <a:r>
              <a:rPr spc="-70" dirty="0"/>
              <a:t> </a:t>
            </a:r>
            <a:r>
              <a:rPr dirty="0"/>
              <a:t>đóng</a:t>
            </a:r>
            <a:r>
              <a:rPr spc="-40" dirty="0"/>
              <a:t> </a:t>
            </a:r>
            <a:r>
              <a:rPr dirty="0"/>
              <a:t>của</a:t>
            </a:r>
            <a:r>
              <a:rPr spc="-60" dirty="0"/>
              <a:t> </a:t>
            </a:r>
            <a:r>
              <a:rPr dirty="0"/>
              <a:t>tập</a:t>
            </a:r>
            <a:r>
              <a:rPr spc="-55" dirty="0"/>
              <a:t> </a:t>
            </a:r>
            <a:r>
              <a:rPr spc="-25" dirty="0"/>
              <a:t>PTH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00941"/>
            <a:ext cx="8670290" cy="444055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F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{MaNV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TenNV,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MaPB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{TenPB,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TrPhong},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MaNV</a:t>
            </a:r>
            <a:endParaRPr sz="2400">
              <a:latin typeface="Arial"/>
              <a:cs typeface="Arial"/>
            </a:endParaRPr>
          </a:p>
          <a:p>
            <a:pPr marL="77724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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MaPB}.</a:t>
            </a:r>
            <a:endParaRPr sz="2400">
              <a:latin typeface="Arial"/>
              <a:cs typeface="Arial"/>
            </a:endParaRPr>
          </a:p>
          <a:p>
            <a:pPr marL="777240" marR="139700" indent="-28194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thỏa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{TenPB,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TrPhong}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cũng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đúng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{TenPB,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TrPhong}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diễn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8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Bao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đóng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ký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hiệu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775" baseline="25525" dirty="0">
                <a:latin typeface="Arial"/>
                <a:cs typeface="Arial"/>
              </a:rPr>
              <a:t>+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gồm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và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Tất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diễn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F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gọi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đầy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đủ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nếu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F</a:t>
            </a:r>
            <a:r>
              <a:rPr sz="2775" spc="-37" baseline="25525" dirty="0">
                <a:latin typeface="Arial"/>
                <a:cs typeface="Arial"/>
              </a:rPr>
              <a:t>+</a:t>
            </a:r>
            <a:r>
              <a:rPr sz="2800" spc="-2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B0717-5743-2EE1-FC13-057BB059A7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Luật</a:t>
            </a:r>
            <a:r>
              <a:rPr spc="-55" dirty="0"/>
              <a:t> </a:t>
            </a:r>
            <a:r>
              <a:rPr dirty="0"/>
              <a:t>suy</a:t>
            </a:r>
            <a:r>
              <a:rPr spc="-65" dirty="0"/>
              <a:t> </a:t>
            </a:r>
            <a:r>
              <a:rPr spc="-20" dirty="0"/>
              <a:t>diễn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3723"/>
            <a:ext cx="7952105" cy="466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Luật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diễn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dùng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diễn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tập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trước.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luật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diễn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Armstrong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Phản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xạ: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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Y.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Tăng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trưởng: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XZ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YZ,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XZ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Z.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Bắc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cầu: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Z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Z.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luật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khác: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Phân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rã: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YZ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Z.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Hợp: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Z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YZ.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Bắc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cầu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giả: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Z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WX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Z.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Nhận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xét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Hệ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luật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Armstrong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đủ.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59F43-CFB7-7A95-2D08-40856CAC55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Bao</a:t>
            </a:r>
            <a:r>
              <a:rPr spc="-75" dirty="0"/>
              <a:t> </a:t>
            </a:r>
            <a:r>
              <a:rPr dirty="0"/>
              <a:t>đóng</a:t>
            </a:r>
            <a:r>
              <a:rPr spc="-50" dirty="0"/>
              <a:t> </a:t>
            </a:r>
            <a:r>
              <a:rPr dirty="0"/>
              <a:t>của</a:t>
            </a:r>
            <a:r>
              <a:rPr spc="-65" dirty="0"/>
              <a:t> </a:t>
            </a:r>
            <a:r>
              <a:rPr dirty="0"/>
              <a:t>tập</a:t>
            </a:r>
            <a:r>
              <a:rPr spc="-65" dirty="0"/>
              <a:t> </a:t>
            </a:r>
            <a:r>
              <a:rPr dirty="0"/>
              <a:t>thuộc</a:t>
            </a:r>
            <a:r>
              <a:rPr spc="-45" dirty="0"/>
              <a:t> </a:t>
            </a:r>
            <a:r>
              <a:rPr spc="-20" dirty="0"/>
              <a:t>tính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92199"/>
            <a:ext cx="8584565" cy="4106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 marR="53975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Làm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thế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nào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biết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được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suy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diễn </a:t>
            </a:r>
            <a:r>
              <a:rPr sz="2800" dirty="0">
                <a:latin typeface="Arial"/>
                <a:cs typeface="Arial"/>
              </a:rPr>
              <a:t>từ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trước?</a:t>
            </a:r>
            <a:endParaRPr sz="2800">
              <a:latin typeface="Arial"/>
              <a:cs typeface="Arial"/>
            </a:endParaRPr>
          </a:p>
          <a:p>
            <a:pPr marL="377825" marR="30480" indent="-340360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Bao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đóng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đối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với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ký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</a:t>
            </a:r>
            <a:r>
              <a:rPr sz="2775" spc="-37" baseline="25525" dirty="0">
                <a:latin typeface="Arial"/>
                <a:cs typeface="Arial"/>
              </a:rPr>
              <a:t>+</a:t>
            </a:r>
            <a:r>
              <a:rPr sz="2800" spc="-25" dirty="0">
                <a:latin typeface="Arial"/>
                <a:cs typeface="Arial"/>
              </a:rPr>
              <a:t>, là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X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33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|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24305" dirty="0">
                <a:latin typeface="Arial"/>
                <a:cs typeface="Arial"/>
              </a:rPr>
              <a:t>+</a:t>
            </a:r>
            <a:r>
              <a:rPr sz="2400" spc="-25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X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322" baseline="2430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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37" baseline="24305" dirty="0">
                <a:latin typeface="Arial"/>
                <a:cs typeface="Arial"/>
              </a:rPr>
              <a:t>+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9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Nếu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284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06975-9659-1C33-9853-CF69FBF08B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Thuật</a:t>
            </a:r>
            <a:r>
              <a:rPr spc="-80" dirty="0"/>
              <a:t> </a:t>
            </a:r>
            <a:r>
              <a:rPr dirty="0"/>
              <a:t>toán</a:t>
            </a:r>
            <a:r>
              <a:rPr spc="-80" dirty="0"/>
              <a:t> </a:t>
            </a:r>
            <a:r>
              <a:rPr dirty="0"/>
              <a:t>tìm</a:t>
            </a:r>
            <a:r>
              <a:rPr spc="-65" dirty="0"/>
              <a:t> </a:t>
            </a:r>
            <a:r>
              <a:rPr spc="-25" dirty="0"/>
              <a:t>X</a:t>
            </a:r>
            <a:r>
              <a:rPr sz="3975" spc="-37" baseline="25157" dirty="0"/>
              <a:t>+</a:t>
            </a:r>
            <a:endParaRPr sz="3975" baseline="25157"/>
          </a:p>
        </p:txBody>
      </p:sp>
      <p:sp>
        <p:nvSpPr>
          <p:cNvPr id="3" name="object 3"/>
          <p:cNvSpPr txBox="1"/>
          <p:nvPr/>
        </p:nvSpPr>
        <p:spPr>
          <a:xfrm>
            <a:off x="280415" y="1003198"/>
            <a:ext cx="6171565" cy="378396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Nhập: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Symbol"/>
                <a:cs typeface="Symbol"/>
              </a:rPr>
              <a:t>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Arial"/>
                <a:cs typeface="Arial"/>
              </a:rPr>
              <a:t>U</a:t>
            </a:r>
            <a:endParaRPr sz="28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Xuất: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</a:t>
            </a:r>
            <a:r>
              <a:rPr sz="2775" spc="-37" baseline="25525" dirty="0">
                <a:latin typeface="Arial"/>
                <a:cs typeface="Arial"/>
              </a:rPr>
              <a:t>+</a:t>
            </a:r>
            <a:endParaRPr sz="2775" baseline="25525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Thuật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7.1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dirty="0">
                <a:latin typeface="Arial"/>
                <a:cs typeface="Arial"/>
              </a:rPr>
              <a:t>B1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322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X;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dirty="0">
                <a:latin typeface="Arial"/>
                <a:cs typeface="Arial"/>
              </a:rPr>
              <a:t>B2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tồn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tại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Z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337" baseline="2430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thì</a:t>
            </a:r>
            <a:endParaRPr sz="2400">
              <a:latin typeface="Arial"/>
              <a:cs typeface="Arial"/>
            </a:endParaRPr>
          </a:p>
          <a:p>
            <a:pPr marL="160147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Arial"/>
                <a:cs typeface="Arial"/>
              </a:rPr>
              <a:t>X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33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30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Arial"/>
                <a:cs typeface="Arial"/>
              </a:rPr>
              <a:t>Z;</a:t>
            </a:r>
            <a:endParaRPr sz="2400">
              <a:latin typeface="Arial"/>
              <a:cs typeface="Arial"/>
            </a:endParaRPr>
          </a:p>
          <a:p>
            <a:pPr marL="1290955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và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tục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B2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Ngược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B3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dirty="0">
                <a:latin typeface="Arial"/>
                <a:cs typeface="Arial"/>
              </a:rPr>
              <a:t>B3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xuất</a:t>
            </a:r>
            <a:r>
              <a:rPr sz="2400" spc="-25" dirty="0">
                <a:latin typeface="Arial"/>
                <a:cs typeface="Arial"/>
              </a:rPr>
              <a:t> X</a:t>
            </a:r>
            <a:r>
              <a:rPr sz="2400" spc="-37" baseline="24305" dirty="0">
                <a:latin typeface="Arial"/>
                <a:cs typeface="Arial"/>
              </a:rPr>
              <a:t>+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A9F3F-4B60-5155-68A6-16691A873B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35" dirty="0"/>
              <a:t> </a:t>
            </a:r>
            <a:r>
              <a:rPr dirty="0"/>
              <a:t>dụ</a:t>
            </a:r>
            <a:r>
              <a:rPr spc="-20" dirty="0"/>
              <a:t> </a:t>
            </a:r>
            <a:r>
              <a:rPr dirty="0"/>
              <a:t>tìm</a:t>
            </a:r>
            <a:r>
              <a:rPr spc="-35" dirty="0"/>
              <a:t> </a:t>
            </a:r>
            <a:r>
              <a:rPr spc="-25" dirty="0"/>
              <a:t>X</a:t>
            </a:r>
            <a:r>
              <a:rPr sz="3975" spc="-37" baseline="25157" dirty="0"/>
              <a:t>+</a:t>
            </a:r>
            <a:endParaRPr sz="3975" baseline="25157"/>
          </a:p>
        </p:txBody>
      </p:sp>
      <p:sp>
        <p:nvSpPr>
          <p:cNvPr id="3" name="object 3"/>
          <p:cNvSpPr txBox="1"/>
          <p:nvPr/>
        </p:nvSpPr>
        <p:spPr>
          <a:xfrm>
            <a:off x="280415" y="1000941"/>
            <a:ext cx="6795770" cy="51257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spc="-20" dirty="0">
                <a:latin typeface="Arial"/>
                <a:cs typeface="Arial"/>
              </a:rPr>
              <a:t>Cho: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{AB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D,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EG}.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X =</a:t>
            </a:r>
            <a:r>
              <a:rPr sz="2400" spc="-25" dirty="0">
                <a:latin typeface="Arial"/>
                <a:cs typeface="Arial"/>
              </a:rPr>
              <a:t> BD.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Tính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</a:t>
            </a:r>
            <a:r>
              <a:rPr sz="2775" spc="-37" baseline="25525" dirty="0">
                <a:latin typeface="Arial"/>
                <a:cs typeface="Arial"/>
              </a:rPr>
              <a:t>+</a:t>
            </a:r>
            <a:r>
              <a:rPr sz="2800" spc="-25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X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33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BD.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Lặp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1: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Tìm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PTH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vế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trái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1950" baseline="25641" dirty="0">
                <a:latin typeface="Arial"/>
                <a:cs typeface="Arial"/>
              </a:rPr>
              <a:t>+</a:t>
            </a:r>
            <a:r>
              <a:rPr sz="1950" spc="270" baseline="25641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BD</a:t>
            </a:r>
            <a:endParaRPr sz="2000">
              <a:latin typeface="Arial"/>
              <a:cs typeface="Arial"/>
            </a:endParaRPr>
          </a:p>
          <a:p>
            <a:pPr marL="1409700">
              <a:lnSpc>
                <a:spcPct val="100000"/>
              </a:lnSpc>
              <a:spcBef>
                <a:spcPts val="509"/>
              </a:spcBef>
            </a:pPr>
            <a:r>
              <a:rPr sz="1800" dirty="0">
                <a:latin typeface="Arial"/>
                <a:cs typeface="Arial"/>
              </a:rPr>
              <a:t>+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EG,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thêm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25462" dirty="0">
                <a:latin typeface="Arial"/>
                <a:cs typeface="Arial"/>
              </a:rPr>
              <a:t>+</a:t>
            </a:r>
            <a:r>
              <a:rPr sz="1800" spc="15" baseline="25462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25462" dirty="0">
                <a:latin typeface="Arial"/>
                <a:cs typeface="Arial"/>
              </a:rPr>
              <a:t>+</a:t>
            </a:r>
            <a:r>
              <a:rPr sz="1800" spc="254" baseline="25462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BDEG.</a:t>
            </a:r>
            <a:endParaRPr sz="1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8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Lặp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2: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Tìm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PTH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vế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trái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1950" baseline="25641" dirty="0">
                <a:latin typeface="Arial"/>
                <a:cs typeface="Arial"/>
              </a:rPr>
              <a:t>+</a:t>
            </a:r>
            <a:r>
              <a:rPr sz="1950" spc="270" baseline="25641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BDEG</a:t>
            </a:r>
            <a:endParaRPr sz="2000">
              <a:latin typeface="Arial"/>
              <a:cs typeface="Arial"/>
            </a:endParaRPr>
          </a:p>
          <a:p>
            <a:pPr marL="1409700">
              <a:lnSpc>
                <a:spcPct val="100000"/>
              </a:lnSpc>
              <a:spcBef>
                <a:spcPts val="515"/>
              </a:spcBef>
            </a:pPr>
            <a:r>
              <a:rPr sz="1800" dirty="0">
                <a:latin typeface="Arial"/>
                <a:cs typeface="Arial"/>
              </a:rPr>
              <a:t>+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PTH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nào.</a:t>
            </a:r>
            <a:endParaRPr sz="1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8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Vậy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33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10" dirty="0">
                <a:latin typeface="Arial"/>
                <a:cs typeface="Arial"/>
              </a:rPr>
              <a:t> BDEG.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E4342-D04B-1879-F502-B6EDC7EA38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Kiểm</a:t>
            </a:r>
            <a:r>
              <a:rPr spc="-45" dirty="0"/>
              <a:t> </a:t>
            </a:r>
            <a:r>
              <a:rPr dirty="0"/>
              <a:t>tra</a:t>
            </a:r>
            <a:r>
              <a:rPr spc="-45" dirty="0"/>
              <a:t> </a:t>
            </a:r>
            <a:r>
              <a:rPr dirty="0"/>
              <a:t>PTH</a:t>
            </a:r>
            <a:r>
              <a:rPr spc="-55" dirty="0"/>
              <a:t> </a:t>
            </a:r>
            <a:r>
              <a:rPr dirty="0"/>
              <a:t>suy</a:t>
            </a:r>
            <a:r>
              <a:rPr spc="-55" dirty="0"/>
              <a:t> </a:t>
            </a:r>
            <a:r>
              <a:rPr spc="-20" dirty="0"/>
              <a:t>diễn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523"/>
            <a:ext cx="7738745" cy="12757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Cho 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{AB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D,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E,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B}</a:t>
            </a:r>
            <a:endParaRPr sz="2400">
              <a:latin typeface="Arial"/>
              <a:cs typeface="Arial"/>
            </a:endParaRPr>
          </a:p>
          <a:p>
            <a:pPr marL="352425" marR="5080" indent="-34036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Hai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diễn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hay </a:t>
            </a:r>
            <a:r>
              <a:rPr sz="2400" spc="-10" dirty="0">
                <a:latin typeface="Arial"/>
                <a:cs typeface="Arial"/>
              </a:rPr>
              <a:t>không?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36699" y="2813099"/>
          <a:ext cx="2529205" cy="1094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3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ts val="785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20833" dirty="0">
                          <a:latin typeface="Arial"/>
                          <a:cs typeface="Arial"/>
                        </a:rPr>
                        <a:t>F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marL="241300" algn="ctr">
                        <a:lnSpc>
                          <a:spcPts val="715"/>
                        </a:lnSpc>
                      </a:pPr>
                      <a:r>
                        <a:rPr sz="1200" spc="-50" dirty="0">
                          <a:latin typeface="Arial"/>
                          <a:cs typeface="Arial"/>
                        </a:rPr>
                        <a:t>+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ABCDE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814059" y="3194304"/>
            <a:ext cx="2155190" cy="368935"/>
          </a:xfrm>
          <a:custGeom>
            <a:avLst/>
            <a:gdLst/>
            <a:ahLst/>
            <a:cxnLst/>
            <a:rect l="l" t="t" r="r" b="b"/>
            <a:pathLst>
              <a:path w="2155190" h="368935">
                <a:moveTo>
                  <a:pt x="0" y="61468"/>
                </a:moveTo>
                <a:lnTo>
                  <a:pt x="4835" y="37558"/>
                </a:lnTo>
                <a:lnTo>
                  <a:pt x="18018" y="18018"/>
                </a:lnTo>
                <a:lnTo>
                  <a:pt x="37558" y="4835"/>
                </a:lnTo>
                <a:lnTo>
                  <a:pt x="61467" y="0"/>
                </a:lnTo>
                <a:lnTo>
                  <a:pt x="2093467" y="0"/>
                </a:lnTo>
                <a:lnTo>
                  <a:pt x="2117377" y="4835"/>
                </a:lnTo>
                <a:lnTo>
                  <a:pt x="2136917" y="18018"/>
                </a:lnTo>
                <a:lnTo>
                  <a:pt x="2150100" y="37558"/>
                </a:lnTo>
                <a:lnTo>
                  <a:pt x="2154936" y="61468"/>
                </a:lnTo>
                <a:lnTo>
                  <a:pt x="2154936" y="307340"/>
                </a:lnTo>
                <a:lnTo>
                  <a:pt x="2150100" y="331249"/>
                </a:lnTo>
                <a:lnTo>
                  <a:pt x="2136917" y="350789"/>
                </a:lnTo>
                <a:lnTo>
                  <a:pt x="2117377" y="363972"/>
                </a:lnTo>
                <a:lnTo>
                  <a:pt x="2093467" y="368808"/>
                </a:lnTo>
                <a:lnTo>
                  <a:pt x="61467" y="368808"/>
                </a:lnTo>
                <a:lnTo>
                  <a:pt x="37558" y="363972"/>
                </a:lnTo>
                <a:lnTo>
                  <a:pt x="18018" y="350789"/>
                </a:lnTo>
                <a:lnTo>
                  <a:pt x="4835" y="331249"/>
                </a:lnTo>
                <a:lnTo>
                  <a:pt x="0" y="307340"/>
                </a:lnTo>
                <a:lnTo>
                  <a:pt x="0" y="61468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90640" y="3223005"/>
            <a:ext cx="2002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diễn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từ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400" y="3342004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50800" y="30353"/>
                </a:moveTo>
                <a:lnTo>
                  <a:pt x="0" y="30353"/>
                </a:lnTo>
                <a:lnTo>
                  <a:pt x="0" y="43053"/>
                </a:lnTo>
                <a:lnTo>
                  <a:pt x="50800" y="43053"/>
                </a:lnTo>
                <a:lnTo>
                  <a:pt x="50800" y="30353"/>
                </a:lnTo>
                <a:close/>
              </a:path>
              <a:path w="1524000" h="76200">
                <a:moveTo>
                  <a:pt x="139700" y="30480"/>
                </a:moveTo>
                <a:lnTo>
                  <a:pt x="88900" y="30480"/>
                </a:lnTo>
                <a:lnTo>
                  <a:pt x="88900" y="43180"/>
                </a:lnTo>
                <a:lnTo>
                  <a:pt x="139700" y="43180"/>
                </a:lnTo>
                <a:lnTo>
                  <a:pt x="139700" y="30480"/>
                </a:lnTo>
                <a:close/>
              </a:path>
              <a:path w="1524000" h="76200">
                <a:moveTo>
                  <a:pt x="228600" y="30607"/>
                </a:moveTo>
                <a:lnTo>
                  <a:pt x="177800" y="30607"/>
                </a:lnTo>
                <a:lnTo>
                  <a:pt x="177800" y="43307"/>
                </a:lnTo>
                <a:lnTo>
                  <a:pt x="228600" y="43307"/>
                </a:lnTo>
                <a:lnTo>
                  <a:pt x="228600" y="30607"/>
                </a:lnTo>
                <a:close/>
              </a:path>
              <a:path w="1524000" h="76200">
                <a:moveTo>
                  <a:pt x="317500" y="30607"/>
                </a:moveTo>
                <a:lnTo>
                  <a:pt x="266700" y="30607"/>
                </a:lnTo>
                <a:lnTo>
                  <a:pt x="266700" y="43307"/>
                </a:lnTo>
                <a:lnTo>
                  <a:pt x="317500" y="43307"/>
                </a:lnTo>
                <a:lnTo>
                  <a:pt x="317500" y="30607"/>
                </a:lnTo>
                <a:close/>
              </a:path>
              <a:path w="1524000" h="76200">
                <a:moveTo>
                  <a:pt x="406400" y="30734"/>
                </a:moveTo>
                <a:lnTo>
                  <a:pt x="355600" y="30734"/>
                </a:lnTo>
                <a:lnTo>
                  <a:pt x="355600" y="43434"/>
                </a:lnTo>
                <a:lnTo>
                  <a:pt x="406400" y="43434"/>
                </a:lnTo>
                <a:lnTo>
                  <a:pt x="406400" y="30734"/>
                </a:lnTo>
                <a:close/>
              </a:path>
              <a:path w="1524000" h="76200">
                <a:moveTo>
                  <a:pt x="495300" y="30861"/>
                </a:moveTo>
                <a:lnTo>
                  <a:pt x="444500" y="30861"/>
                </a:lnTo>
                <a:lnTo>
                  <a:pt x="444500" y="43561"/>
                </a:lnTo>
                <a:lnTo>
                  <a:pt x="495300" y="43561"/>
                </a:lnTo>
                <a:lnTo>
                  <a:pt x="495300" y="30861"/>
                </a:lnTo>
                <a:close/>
              </a:path>
              <a:path w="1524000" h="76200">
                <a:moveTo>
                  <a:pt x="584200" y="30987"/>
                </a:moveTo>
                <a:lnTo>
                  <a:pt x="533400" y="30987"/>
                </a:lnTo>
                <a:lnTo>
                  <a:pt x="533400" y="43687"/>
                </a:lnTo>
                <a:lnTo>
                  <a:pt x="584200" y="43687"/>
                </a:lnTo>
                <a:lnTo>
                  <a:pt x="584200" y="30987"/>
                </a:lnTo>
                <a:close/>
              </a:path>
              <a:path w="1524000" h="76200">
                <a:moveTo>
                  <a:pt x="673100" y="30987"/>
                </a:moveTo>
                <a:lnTo>
                  <a:pt x="622300" y="30987"/>
                </a:lnTo>
                <a:lnTo>
                  <a:pt x="622300" y="43687"/>
                </a:lnTo>
                <a:lnTo>
                  <a:pt x="673100" y="43687"/>
                </a:lnTo>
                <a:lnTo>
                  <a:pt x="673100" y="30987"/>
                </a:lnTo>
                <a:close/>
              </a:path>
              <a:path w="1524000" h="76200">
                <a:moveTo>
                  <a:pt x="762000" y="31115"/>
                </a:moveTo>
                <a:lnTo>
                  <a:pt x="711200" y="31115"/>
                </a:lnTo>
                <a:lnTo>
                  <a:pt x="711200" y="43815"/>
                </a:lnTo>
                <a:lnTo>
                  <a:pt x="762000" y="43815"/>
                </a:lnTo>
                <a:lnTo>
                  <a:pt x="762000" y="31115"/>
                </a:lnTo>
                <a:close/>
              </a:path>
              <a:path w="1524000" h="76200">
                <a:moveTo>
                  <a:pt x="850900" y="31242"/>
                </a:moveTo>
                <a:lnTo>
                  <a:pt x="800100" y="31242"/>
                </a:lnTo>
                <a:lnTo>
                  <a:pt x="800100" y="43942"/>
                </a:lnTo>
                <a:lnTo>
                  <a:pt x="850900" y="43942"/>
                </a:lnTo>
                <a:lnTo>
                  <a:pt x="850900" y="31242"/>
                </a:lnTo>
                <a:close/>
              </a:path>
              <a:path w="1524000" h="76200">
                <a:moveTo>
                  <a:pt x="939800" y="31242"/>
                </a:moveTo>
                <a:lnTo>
                  <a:pt x="889000" y="31242"/>
                </a:lnTo>
                <a:lnTo>
                  <a:pt x="889000" y="43942"/>
                </a:lnTo>
                <a:lnTo>
                  <a:pt x="939800" y="43942"/>
                </a:lnTo>
                <a:lnTo>
                  <a:pt x="939800" y="31242"/>
                </a:lnTo>
                <a:close/>
              </a:path>
              <a:path w="1524000" h="76200">
                <a:moveTo>
                  <a:pt x="1028700" y="31369"/>
                </a:moveTo>
                <a:lnTo>
                  <a:pt x="977900" y="31369"/>
                </a:lnTo>
                <a:lnTo>
                  <a:pt x="977900" y="44069"/>
                </a:lnTo>
                <a:lnTo>
                  <a:pt x="1028700" y="44069"/>
                </a:lnTo>
                <a:lnTo>
                  <a:pt x="1028700" y="31369"/>
                </a:lnTo>
                <a:close/>
              </a:path>
              <a:path w="1524000" h="76200">
                <a:moveTo>
                  <a:pt x="1117600" y="31496"/>
                </a:moveTo>
                <a:lnTo>
                  <a:pt x="1066800" y="31496"/>
                </a:lnTo>
                <a:lnTo>
                  <a:pt x="1066800" y="44196"/>
                </a:lnTo>
                <a:lnTo>
                  <a:pt x="1117600" y="44196"/>
                </a:lnTo>
                <a:lnTo>
                  <a:pt x="1117600" y="31496"/>
                </a:lnTo>
                <a:close/>
              </a:path>
              <a:path w="1524000" h="76200">
                <a:moveTo>
                  <a:pt x="1206500" y="31496"/>
                </a:moveTo>
                <a:lnTo>
                  <a:pt x="1155700" y="31496"/>
                </a:lnTo>
                <a:lnTo>
                  <a:pt x="1155700" y="44196"/>
                </a:lnTo>
                <a:lnTo>
                  <a:pt x="1206500" y="44196"/>
                </a:lnTo>
                <a:lnTo>
                  <a:pt x="1206500" y="31496"/>
                </a:lnTo>
                <a:close/>
              </a:path>
              <a:path w="1524000" h="76200">
                <a:moveTo>
                  <a:pt x="1295400" y="31623"/>
                </a:moveTo>
                <a:lnTo>
                  <a:pt x="1244600" y="31623"/>
                </a:lnTo>
                <a:lnTo>
                  <a:pt x="1244600" y="44323"/>
                </a:lnTo>
                <a:lnTo>
                  <a:pt x="1295400" y="44323"/>
                </a:lnTo>
                <a:lnTo>
                  <a:pt x="1295400" y="31623"/>
                </a:lnTo>
                <a:close/>
              </a:path>
              <a:path w="1524000" h="76200">
                <a:moveTo>
                  <a:pt x="1384300" y="31750"/>
                </a:moveTo>
                <a:lnTo>
                  <a:pt x="1333500" y="31750"/>
                </a:lnTo>
                <a:lnTo>
                  <a:pt x="1333500" y="44450"/>
                </a:lnTo>
                <a:lnTo>
                  <a:pt x="1384300" y="44450"/>
                </a:lnTo>
                <a:lnTo>
                  <a:pt x="1384300" y="31750"/>
                </a:lnTo>
                <a:close/>
              </a:path>
              <a:path w="1524000" h="76200">
                <a:moveTo>
                  <a:pt x="1447800" y="0"/>
                </a:moveTo>
                <a:lnTo>
                  <a:pt x="1447800" y="76200"/>
                </a:lnTo>
                <a:lnTo>
                  <a:pt x="1511512" y="44450"/>
                </a:lnTo>
                <a:lnTo>
                  <a:pt x="1460500" y="44450"/>
                </a:lnTo>
                <a:lnTo>
                  <a:pt x="1460500" y="31750"/>
                </a:lnTo>
                <a:lnTo>
                  <a:pt x="1511089" y="31750"/>
                </a:lnTo>
                <a:lnTo>
                  <a:pt x="1447800" y="0"/>
                </a:lnTo>
                <a:close/>
              </a:path>
              <a:path w="1524000" h="76200">
                <a:moveTo>
                  <a:pt x="1447800" y="31750"/>
                </a:moveTo>
                <a:lnTo>
                  <a:pt x="1422400" y="31750"/>
                </a:lnTo>
                <a:lnTo>
                  <a:pt x="1422400" y="44450"/>
                </a:lnTo>
                <a:lnTo>
                  <a:pt x="1447800" y="44450"/>
                </a:lnTo>
                <a:lnTo>
                  <a:pt x="1447800" y="31750"/>
                </a:lnTo>
                <a:close/>
              </a:path>
              <a:path w="1524000" h="76200">
                <a:moveTo>
                  <a:pt x="1511089" y="31750"/>
                </a:moveTo>
                <a:lnTo>
                  <a:pt x="1460500" y="31750"/>
                </a:lnTo>
                <a:lnTo>
                  <a:pt x="1460500" y="44450"/>
                </a:lnTo>
                <a:lnTo>
                  <a:pt x="1511512" y="44450"/>
                </a:lnTo>
                <a:lnTo>
                  <a:pt x="1524000" y="38227"/>
                </a:lnTo>
                <a:lnTo>
                  <a:pt x="151108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310F25-5EC9-5D91-9F52-5B797FB7AF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65" dirty="0"/>
              <a:t> </a:t>
            </a:r>
            <a:r>
              <a:rPr dirty="0"/>
              <a:t>tập</a:t>
            </a:r>
            <a:r>
              <a:rPr spc="-60" dirty="0"/>
              <a:t> </a:t>
            </a:r>
            <a:r>
              <a:rPr dirty="0"/>
              <a:t>PTH</a:t>
            </a:r>
            <a:r>
              <a:rPr spc="-65" dirty="0"/>
              <a:t> </a:t>
            </a:r>
            <a:r>
              <a:rPr dirty="0"/>
              <a:t>tương</a:t>
            </a:r>
            <a:r>
              <a:rPr spc="-55" dirty="0"/>
              <a:t> </a:t>
            </a:r>
            <a:r>
              <a:rPr spc="-10" dirty="0"/>
              <a:t>đương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03198"/>
            <a:ext cx="8499475" cy="334137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Tập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được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nói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phủ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nếu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 </a:t>
            </a:r>
            <a:r>
              <a:rPr sz="2800" dirty="0">
                <a:latin typeface="Symbol"/>
                <a:cs typeface="Symbol"/>
              </a:rPr>
              <a:t>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F</a:t>
            </a:r>
            <a:r>
              <a:rPr sz="2775" spc="-37" baseline="25525" dirty="0">
                <a:latin typeface="Arial"/>
                <a:cs typeface="Arial"/>
              </a:rPr>
              <a:t>+</a:t>
            </a:r>
            <a:r>
              <a:rPr sz="2800" spc="-2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Hai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tương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đương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nếu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2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phủ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và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phủ</a:t>
            </a:r>
            <a:r>
              <a:rPr sz="2400" spc="-25" dirty="0">
                <a:latin typeface="Arial"/>
                <a:cs typeface="Arial"/>
              </a:rPr>
              <a:t> F.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9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495300">
              <a:lnSpc>
                <a:spcPts val="1050"/>
              </a:lnSpc>
              <a:spcBef>
                <a:spcPts val="620"/>
              </a:spcBef>
              <a:tabLst>
                <a:tab pos="4372610" algn="l"/>
              </a:tabLst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G,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37" baseline="-20833" dirty="0">
                <a:latin typeface="Arial"/>
                <a:cs typeface="Arial"/>
              </a:rPr>
              <a:t>F</a:t>
            </a:r>
            <a:r>
              <a:rPr sz="2400" baseline="-20833" dirty="0">
                <a:latin typeface="Arial"/>
                <a:cs typeface="Arial"/>
              </a:rPr>
              <a:t>	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phủ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G.</a:t>
            </a:r>
            <a:endParaRPr sz="2400">
              <a:latin typeface="Arial"/>
              <a:cs typeface="Arial"/>
            </a:endParaRPr>
          </a:p>
          <a:p>
            <a:pPr marR="34925" algn="ctr">
              <a:lnSpc>
                <a:spcPts val="950"/>
              </a:lnSpc>
            </a:pPr>
            <a:r>
              <a:rPr sz="1600" spc="-50" dirty="0">
                <a:latin typeface="Arial"/>
                <a:cs typeface="Arial"/>
              </a:rPr>
              <a:t>+</a:t>
            </a:r>
            <a:endParaRPr sz="16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147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tương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đương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baseline="24305" dirty="0">
                <a:latin typeface="Arial"/>
                <a:cs typeface="Arial"/>
              </a:rPr>
              <a:t>+</a:t>
            </a:r>
            <a:r>
              <a:rPr sz="2400" spc="292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</a:t>
            </a:r>
            <a:r>
              <a:rPr sz="2400" spc="-37" baseline="24305" dirty="0">
                <a:latin typeface="Arial"/>
                <a:cs typeface="Arial"/>
              </a:rPr>
              <a:t>+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6A04A-3777-EF84-7704-EFFB430FEF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Tập</a:t>
            </a:r>
            <a:r>
              <a:rPr spc="-40" dirty="0"/>
              <a:t> </a:t>
            </a:r>
            <a:r>
              <a:rPr dirty="0"/>
              <a:t>PTH</a:t>
            </a:r>
            <a:r>
              <a:rPr spc="-50" dirty="0"/>
              <a:t> </a:t>
            </a:r>
            <a:r>
              <a:rPr dirty="0"/>
              <a:t>tối</a:t>
            </a:r>
            <a:r>
              <a:rPr spc="-40" dirty="0"/>
              <a:t> </a:t>
            </a:r>
            <a:r>
              <a:rPr dirty="0"/>
              <a:t>thiểu</a:t>
            </a:r>
            <a:r>
              <a:rPr spc="-3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8468360" cy="46539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Thừa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PTH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{A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r>
              <a:rPr sz="20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},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vì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diễn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C}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B, 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 (luật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bắc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cầu).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Thừa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tính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{A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D},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vì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CD được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diễn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50" dirty="0">
                <a:latin typeface="Symbol"/>
                <a:cs typeface="Symbol"/>
              </a:rPr>
              <a:t></a:t>
            </a:r>
            <a:endParaRPr sz="2000">
              <a:latin typeface="Symbol"/>
              <a:cs typeface="Symbol"/>
            </a:endParaRPr>
          </a:p>
          <a:p>
            <a:pPr marL="7518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D}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(luật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bắc </a:t>
            </a:r>
            <a:r>
              <a:rPr sz="1800" spc="-20" dirty="0">
                <a:latin typeface="Arial"/>
                <a:cs typeface="Arial"/>
              </a:rPr>
              <a:t>cầu)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(luật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hợp).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84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{A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D},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vì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AC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diễn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50" dirty="0">
                <a:latin typeface="Symbol"/>
                <a:cs typeface="Symbol"/>
              </a:rPr>
              <a:t></a:t>
            </a:r>
            <a:endParaRPr sz="2000">
              <a:latin typeface="Symbol"/>
              <a:cs typeface="Symbol"/>
            </a:endParaRPr>
          </a:p>
          <a:p>
            <a:pPr marL="7518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D}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15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B, 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BD (luật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hợp)</a:t>
            </a:r>
            <a:endParaRPr sz="1800">
              <a:latin typeface="Arial"/>
              <a:cs typeface="Arial"/>
            </a:endParaRPr>
          </a:p>
          <a:p>
            <a:pPr marL="927100" marR="3355975">
              <a:lnSpc>
                <a:spcPct val="122800"/>
              </a:lnSpc>
              <a:spcBef>
                <a:spcPts val="10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BCD (luật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tăng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trưởng) </a:t>
            </a:r>
            <a:r>
              <a:rPr sz="1800" dirty="0">
                <a:latin typeface="Arial"/>
                <a:cs typeface="Arial"/>
              </a:rPr>
              <a:t>AC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BCD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(luật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rã).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BADF3-280F-B6FD-E6E8-EFE81C9D3D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Tập</a:t>
            </a:r>
            <a:r>
              <a:rPr spc="-40" dirty="0"/>
              <a:t> </a:t>
            </a:r>
            <a:r>
              <a:rPr dirty="0"/>
              <a:t>PTH</a:t>
            </a:r>
            <a:r>
              <a:rPr spc="-50" dirty="0"/>
              <a:t> </a:t>
            </a:r>
            <a:r>
              <a:rPr dirty="0"/>
              <a:t>tối</a:t>
            </a:r>
            <a:r>
              <a:rPr spc="-40" dirty="0"/>
              <a:t> </a:t>
            </a:r>
            <a:r>
              <a:rPr dirty="0"/>
              <a:t>thiểu</a:t>
            </a:r>
            <a:r>
              <a:rPr spc="-3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488680" cy="45021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Tập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tối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thiểu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nếu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thỏa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điều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kiện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sau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Mọi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vế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phải.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Không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bằng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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mà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mới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tương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F.</a:t>
            </a:r>
            <a:endParaRPr sz="2400">
              <a:latin typeface="Arial"/>
              <a:cs typeface="Arial"/>
            </a:endParaRPr>
          </a:p>
          <a:p>
            <a:pPr marL="751840" marR="602615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Nếu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bỏ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bất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còn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lại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tương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đương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F.</a:t>
            </a:r>
            <a:endParaRPr sz="2400">
              <a:latin typeface="Arial"/>
              <a:cs typeface="Arial"/>
            </a:endParaRPr>
          </a:p>
          <a:p>
            <a:pPr marL="352425" marR="300990" indent="-340360">
              <a:lnSpc>
                <a:spcPct val="100000"/>
              </a:lnSpc>
              <a:spcBef>
                <a:spcPts val="68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Phủ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tối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thiểu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tối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thiểu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F </a:t>
            </a:r>
            <a:r>
              <a:rPr sz="2800" dirty="0">
                <a:latin typeface="Arial"/>
                <a:cs typeface="Arial"/>
              </a:rPr>
              <a:t>tương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đương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với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Mọi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ít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phủ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tối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thiểu.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EB7AF-7854-F4F2-E63A-7B87C76C97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Thuật</a:t>
            </a:r>
            <a:r>
              <a:rPr spc="-75" dirty="0"/>
              <a:t> </a:t>
            </a:r>
            <a:r>
              <a:rPr dirty="0"/>
              <a:t>toán</a:t>
            </a:r>
            <a:r>
              <a:rPr spc="-75" dirty="0"/>
              <a:t> </a:t>
            </a:r>
            <a:r>
              <a:rPr dirty="0"/>
              <a:t>tìm</a:t>
            </a:r>
            <a:r>
              <a:rPr spc="-60" dirty="0"/>
              <a:t> </a:t>
            </a:r>
            <a:r>
              <a:rPr dirty="0"/>
              <a:t>phủ</a:t>
            </a:r>
            <a:r>
              <a:rPr spc="-60" dirty="0"/>
              <a:t> </a:t>
            </a:r>
            <a:r>
              <a:rPr dirty="0"/>
              <a:t>tối</a:t>
            </a:r>
            <a:r>
              <a:rPr spc="-80" dirty="0"/>
              <a:t> </a:t>
            </a:r>
            <a:r>
              <a:rPr spc="-10" dirty="0"/>
              <a:t>thiểu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715" y="1017523"/>
            <a:ext cx="6261735" cy="46678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05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90525" algn="l"/>
              </a:tabLst>
            </a:pPr>
            <a:r>
              <a:rPr sz="2400" dirty="0">
                <a:latin typeface="Arial"/>
                <a:cs typeface="Arial"/>
              </a:rPr>
              <a:t>Nhập: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E.</a:t>
            </a:r>
            <a:endParaRPr sz="2400">
              <a:latin typeface="Arial"/>
              <a:cs typeface="Arial"/>
            </a:endParaRPr>
          </a:p>
          <a:p>
            <a:pPr marL="3905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90525" algn="l"/>
              </a:tabLst>
            </a:pPr>
            <a:r>
              <a:rPr sz="2400" dirty="0">
                <a:latin typeface="Arial"/>
                <a:cs typeface="Arial"/>
              </a:rPr>
              <a:t>Xuất: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phủ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thiểu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E.</a:t>
            </a:r>
            <a:endParaRPr sz="2400">
              <a:latin typeface="Arial"/>
              <a:cs typeface="Arial"/>
            </a:endParaRPr>
          </a:p>
          <a:p>
            <a:pPr marL="3905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90525" algn="l"/>
              </a:tabLst>
            </a:pPr>
            <a:r>
              <a:rPr sz="2400" dirty="0">
                <a:latin typeface="Arial"/>
                <a:cs typeface="Arial"/>
              </a:rPr>
              <a:t>Thuật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7.2</a:t>
            </a:r>
            <a:endParaRPr sz="240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789940" algn="l"/>
              </a:tabLst>
            </a:pPr>
            <a:r>
              <a:rPr sz="2000" i="1" dirty="0">
                <a:latin typeface="Arial"/>
                <a:cs typeface="Arial"/>
              </a:rPr>
              <a:t>B1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Symbol"/>
                <a:cs typeface="Symbol"/>
              </a:rPr>
              <a:t>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789940" algn="l"/>
              </a:tabLst>
            </a:pPr>
            <a:r>
              <a:rPr sz="2000" i="1" dirty="0">
                <a:latin typeface="Arial"/>
                <a:cs typeface="Arial"/>
              </a:rPr>
              <a:t>B2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mọi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E,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},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3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U</a:t>
            </a:r>
            <a:endParaRPr sz="2000">
              <a:latin typeface="Arial"/>
              <a:cs typeface="Arial"/>
            </a:endParaRPr>
          </a:p>
          <a:p>
            <a:pPr marL="1422400">
              <a:lnSpc>
                <a:spcPct val="100000"/>
              </a:lnSpc>
              <a:spcBef>
                <a:spcPts val="490"/>
              </a:spcBef>
              <a:tabLst>
                <a:tab pos="2224405" algn="l"/>
              </a:tabLst>
            </a:pPr>
            <a:r>
              <a:rPr sz="2000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F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{X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{A</a:t>
            </a:r>
            <a:r>
              <a:rPr sz="1950" spc="-15" baseline="-21367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}}.</a:t>
            </a:r>
            <a:endParaRPr sz="2000">
              <a:latin typeface="Arial"/>
              <a:cs typeface="Arial"/>
            </a:endParaRPr>
          </a:p>
          <a:p>
            <a:pPr marL="789940" marR="93980" lvl="1" indent="-281940">
              <a:lnSpc>
                <a:spcPct val="121000"/>
              </a:lnSpc>
              <a:spcBef>
                <a:spcPts val="5"/>
              </a:spcBef>
              <a:buFont typeface="Arial"/>
              <a:buChar char="•"/>
              <a:tabLst>
                <a:tab pos="1422400" algn="l"/>
              </a:tabLst>
            </a:pPr>
            <a:r>
              <a:rPr sz="2000" i="1" dirty="0">
                <a:latin typeface="Arial"/>
                <a:cs typeface="Arial"/>
              </a:rPr>
              <a:t>B3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mỗi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{A}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F,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{B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1950" baseline="-21367" dirty="0">
                <a:latin typeface="Arial"/>
                <a:cs typeface="Arial"/>
              </a:rPr>
              <a:t>l</a:t>
            </a:r>
            <a:r>
              <a:rPr sz="2000" dirty="0">
                <a:latin typeface="Arial"/>
                <a:cs typeface="Arial"/>
              </a:rPr>
              <a:t>},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3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U 	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mỗi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(X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{B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})</a:t>
            </a:r>
            <a:r>
              <a:rPr sz="1950" baseline="-21367" dirty="0">
                <a:latin typeface="Arial"/>
                <a:cs typeface="Arial"/>
              </a:rPr>
              <a:t>F</a:t>
            </a:r>
            <a:r>
              <a:rPr sz="1950" baseline="25641" dirty="0">
                <a:latin typeface="Arial"/>
                <a:cs typeface="Arial"/>
              </a:rPr>
              <a:t>+</a:t>
            </a:r>
            <a:r>
              <a:rPr sz="1950" spc="217" baseline="25641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thì</a:t>
            </a:r>
            <a:endParaRPr sz="2000">
              <a:latin typeface="Arial"/>
              <a:cs typeface="Arial"/>
            </a:endParaRPr>
          </a:p>
          <a:p>
            <a:pPr marL="1876425">
              <a:lnSpc>
                <a:spcPct val="100000"/>
              </a:lnSpc>
              <a:spcBef>
                <a:spcPts val="490"/>
              </a:spcBef>
            </a:pPr>
            <a:r>
              <a:rPr sz="2000" dirty="0">
                <a:latin typeface="Arial"/>
                <a:cs typeface="Arial"/>
              </a:rPr>
              <a:t>F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(F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{X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{A}})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{(X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{B})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{A}}.</a:t>
            </a:r>
            <a:endParaRPr sz="2000">
              <a:latin typeface="Arial"/>
              <a:cs typeface="Arial"/>
            </a:endParaRPr>
          </a:p>
          <a:p>
            <a:pPr marL="789940" marR="2693670" lvl="1" indent="-281940">
              <a:lnSpc>
                <a:spcPct val="121000"/>
              </a:lnSpc>
              <a:buFont typeface="Arial"/>
              <a:buChar char="•"/>
              <a:tabLst>
                <a:tab pos="1422400" algn="l"/>
              </a:tabLst>
            </a:pPr>
            <a:r>
              <a:rPr sz="2000" i="1" dirty="0">
                <a:latin typeface="Arial"/>
                <a:cs typeface="Arial"/>
              </a:rPr>
              <a:t>B4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mỗi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{A}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F 	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{A}}</a:t>
            </a:r>
            <a:endParaRPr sz="2000">
              <a:latin typeface="Arial"/>
              <a:cs typeface="Arial"/>
            </a:endParaRPr>
          </a:p>
          <a:p>
            <a:pPr marL="142240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Arial"/>
                <a:cs typeface="Arial"/>
              </a:rPr>
              <a:t>Nếu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1950" baseline="-21367" dirty="0">
                <a:latin typeface="Arial"/>
                <a:cs typeface="Arial"/>
              </a:rPr>
              <a:t>G</a:t>
            </a:r>
            <a:r>
              <a:rPr sz="1950" baseline="25641" dirty="0">
                <a:latin typeface="Arial"/>
                <a:cs typeface="Arial"/>
              </a:rPr>
              <a:t>+</a:t>
            </a:r>
            <a:r>
              <a:rPr sz="1950" spc="277" baseline="25641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thì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{X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{A}}.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45A0-4BAA-7883-7B03-CE588F942D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50" dirty="0"/>
              <a:t> </a:t>
            </a:r>
            <a:r>
              <a:rPr dirty="0"/>
              <a:t>dụ</a:t>
            </a:r>
            <a:r>
              <a:rPr spc="-30" dirty="0"/>
              <a:t> </a:t>
            </a:r>
            <a:r>
              <a:rPr dirty="0"/>
              <a:t>tìm</a:t>
            </a:r>
            <a:r>
              <a:rPr spc="-45" dirty="0"/>
              <a:t> </a:t>
            </a:r>
            <a:r>
              <a:rPr dirty="0"/>
              <a:t>phủ</a:t>
            </a:r>
            <a:r>
              <a:rPr spc="-30" dirty="0"/>
              <a:t> </a:t>
            </a:r>
            <a:r>
              <a:rPr dirty="0"/>
              <a:t>tối</a:t>
            </a:r>
            <a:r>
              <a:rPr spc="-35" dirty="0"/>
              <a:t> </a:t>
            </a:r>
            <a:r>
              <a:rPr spc="-10" dirty="0"/>
              <a:t>thiểu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92199"/>
            <a:ext cx="8434070" cy="3975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 marR="30480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Tìm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phủ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tối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thiểu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{A 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BC,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B,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C, </a:t>
            </a:r>
            <a:r>
              <a:rPr sz="2800" dirty="0">
                <a:latin typeface="Arial"/>
                <a:cs typeface="Arial"/>
              </a:rPr>
              <a:t>AB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C}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dirty="0">
                <a:latin typeface="Arial"/>
                <a:cs typeface="Arial"/>
              </a:rPr>
              <a:t>B1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Symbol"/>
                <a:cs typeface="Symbol"/>
              </a:rPr>
              <a:t>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dirty="0">
                <a:latin typeface="Arial"/>
                <a:cs typeface="Arial"/>
              </a:rPr>
              <a:t>B2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 {A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B,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C}.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dirty="0">
                <a:latin typeface="Arial"/>
                <a:cs typeface="Arial"/>
              </a:rPr>
              <a:t>B3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Xét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638300">
              <a:lnSpc>
                <a:spcPts val="1045"/>
              </a:lnSpc>
              <a:spcBef>
                <a:spcPts val="600"/>
              </a:spcBef>
              <a:tabLst>
                <a:tab pos="2371725" algn="l"/>
              </a:tabLst>
            </a:pPr>
            <a:r>
              <a:rPr sz="2400" spc="-20" dirty="0">
                <a:latin typeface="Arial"/>
                <a:cs typeface="Arial"/>
              </a:rPr>
              <a:t>(B)</a:t>
            </a:r>
            <a:r>
              <a:rPr sz="2400" spc="-30" baseline="-20833" dirty="0">
                <a:latin typeface="Arial"/>
                <a:cs typeface="Arial"/>
              </a:rPr>
              <a:t>F</a:t>
            </a:r>
            <a:r>
              <a:rPr sz="2400" baseline="-20833" dirty="0">
                <a:latin typeface="Arial"/>
                <a:cs typeface="Arial"/>
              </a:rPr>
              <a:t>	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25" dirty="0">
                <a:latin typeface="Arial"/>
                <a:cs typeface="Arial"/>
              </a:rPr>
              <a:t>BC</a:t>
            </a:r>
            <a:endParaRPr sz="2400">
              <a:latin typeface="Arial"/>
              <a:cs typeface="Arial"/>
            </a:endParaRPr>
          </a:p>
          <a:p>
            <a:pPr marL="2169160">
              <a:lnSpc>
                <a:spcPts val="950"/>
              </a:lnSpc>
            </a:pPr>
            <a:r>
              <a:rPr sz="1600" spc="-50" dirty="0">
                <a:latin typeface="Arial"/>
                <a:cs typeface="Arial"/>
              </a:rPr>
              <a:t>+</a:t>
            </a:r>
            <a:endParaRPr sz="1600">
              <a:latin typeface="Arial"/>
              <a:cs typeface="Arial"/>
            </a:endParaRPr>
          </a:p>
          <a:p>
            <a:pPr marL="1638300">
              <a:lnSpc>
                <a:spcPct val="100000"/>
              </a:lnSpc>
              <a:spcBef>
                <a:spcPts val="1485"/>
              </a:spcBef>
            </a:pPr>
            <a:r>
              <a:rPr sz="2400" dirty="0">
                <a:latin typeface="Arial"/>
                <a:cs typeface="Arial"/>
              </a:rPr>
              <a:t>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 {A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B,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C, B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C}.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dirty="0">
                <a:latin typeface="Arial"/>
                <a:cs typeface="Arial"/>
              </a:rPr>
              <a:t>B4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thừa.</a:t>
            </a:r>
            <a:endParaRPr sz="2400">
              <a:latin typeface="Arial"/>
              <a:cs typeface="Arial"/>
            </a:endParaRPr>
          </a:p>
          <a:p>
            <a:pPr marL="16383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 {A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B,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C}.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BAD71-3BB8-9165-C2B7-22779EA6AE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Siêu</a:t>
            </a:r>
            <a:r>
              <a:rPr spc="-55" dirty="0"/>
              <a:t> </a:t>
            </a:r>
            <a:r>
              <a:rPr dirty="0"/>
              <a:t>khóa</a:t>
            </a:r>
            <a:r>
              <a:rPr spc="-40" dirty="0"/>
              <a:t> </a:t>
            </a:r>
            <a:r>
              <a:rPr dirty="0"/>
              <a:t>và</a:t>
            </a:r>
            <a:r>
              <a:rPr spc="-45" dirty="0"/>
              <a:t> </a:t>
            </a:r>
            <a:r>
              <a:rPr spc="-20" dirty="0"/>
              <a:t>khóa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00941"/>
            <a:ext cx="8352790" cy="35636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Cho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R(U)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siêu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spc="27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spc="300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spc="300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</a:t>
            </a:r>
            <a:r>
              <a:rPr sz="2400" spc="-15" baseline="-20833" dirty="0">
                <a:latin typeface="Arial"/>
                <a:cs typeface="Arial"/>
              </a:rPr>
              <a:t>1</a:t>
            </a:r>
            <a:r>
              <a:rPr sz="2400" spc="-10" dirty="0">
                <a:latin typeface="Arial"/>
                <a:cs typeface="Arial"/>
              </a:rPr>
              <a:t>[S]</a:t>
            </a:r>
            <a:endParaRPr sz="2400">
              <a:latin typeface="Arial"/>
              <a:cs typeface="Arial"/>
            </a:endParaRPr>
          </a:p>
          <a:p>
            <a:pPr marL="77724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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t</a:t>
            </a:r>
            <a:r>
              <a:rPr sz="2400" spc="-15" baseline="-20833" dirty="0">
                <a:latin typeface="Arial"/>
                <a:cs typeface="Arial"/>
              </a:rPr>
              <a:t>2</a:t>
            </a:r>
            <a:r>
              <a:rPr sz="2400" spc="-10" dirty="0">
                <a:latin typeface="Arial"/>
                <a:cs typeface="Arial"/>
              </a:rPr>
              <a:t>[S].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K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siêu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nhỏ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nhất.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09"/>
              </a:spcBef>
              <a:tabLst>
                <a:tab pos="11811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K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khóa.</a:t>
            </a:r>
            <a:endParaRPr sz="20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2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hàm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20" dirty="0">
                <a:latin typeface="Arial"/>
                <a:cs typeface="Arial"/>
              </a:rPr>
              <a:t> khóa.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434EE-AEB0-541B-1B87-F3A33B5314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Xác</a:t>
            </a:r>
            <a:r>
              <a:rPr spc="-65" dirty="0"/>
              <a:t> </a:t>
            </a:r>
            <a:r>
              <a:rPr dirty="0"/>
              <a:t>định</a:t>
            </a:r>
            <a:r>
              <a:rPr spc="-50" dirty="0"/>
              <a:t> </a:t>
            </a:r>
            <a:r>
              <a:rPr dirty="0"/>
              <a:t>khóa</a:t>
            </a:r>
            <a:r>
              <a:rPr spc="-70" dirty="0"/>
              <a:t> </a:t>
            </a:r>
            <a:r>
              <a:rPr dirty="0"/>
              <a:t>của</a:t>
            </a:r>
            <a:r>
              <a:rPr spc="-70" dirty="0"/>
              <a:t> </a:t>
            </a:r>
            <a:r>
              <a:rPr dirty="0"/>
              <a:t>lược</a:t>
            </a:r>
            <a:r>
              <a:rPr spc="-55" dirty="0"/>
              <a:t> </a:t>
            </a:r>
            <a:r>
              <a:rPr spc="-25" dirty="0"/>
              <a:t>đồ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03198"/>
            <a:ext cx="7490459" cy="51117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Nhập: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R(U).</a:t>
            </a:r>
            <a:endParaRPr sz="28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Xuất: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khóa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Thuật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7.3.1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B1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952500" marR="4298950">
              <a:lnSpc>
                <a:spcPct val="121100"/>
              </a:lnSpc>
            </a:pPr>
            <a:r>
              <a:rPr sz="2000" dirty="0">
                <a:latin typeface="Arial"/>
                <a:cs typeface="Arial"/>
              </a:rPr>
              <a:t>K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 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A</a:t>
            </a:r>
            <a:r>
              <a:rPr sz="1950" spc="-30" baseline="-21367" dirty="0">
                <a:latin typeface="Arial"/>
                <a:cs typeface="Arial"/>
              </a:rPr>
              <a:t>n</a:t>
            </a:r>
            <a:r>
              <a:rPr sz="2000" spc="-20" dirty="0">
                <a:latin typeface="Arial"/>
                <a:cs typeface="Arial"/>
              </a:rPr>
              <a:t>}; 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1;</a:t>
            </a:r>
            <a:endParaRPr sz="20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B2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Arial"/>
                <a:cs typeface="Arial"/>
              </a:rPr>
              <a:t>Nếu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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(K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})</a:t>
            </a:r>
            <a:r>
              <a:rPr sz="1950" baseline="-21367" dirty="0">
                <a:latin typeface="Arial"/>
                <a:cs typeface="Arial"/>
              </a:rPr>
              <a:t>F</a:t>
            </a:r>
            <a:r>
              <a:rPr sz="1950" baseline="25641" dirty="0">
                <a:latin typeface="Arial"/>
                <a:cs typeface="Arial"/>
              </a:rPr>
              <a:t>+</a:t>
            </a:r>
            <a:r>
              <a:rPr sz="1950" spc="225" baseline="25641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thì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 -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{A</a:t>
            </a:r>
            <a:r>
              <a:rPr sz="1950" spc="-15" baseline="-21367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}.</a:t>
            </a:r>
            <a:endParaRPr sz="20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Arial"/>
                <a:cs typeface="Arial"/>
              </a:rPr>
              <a:t>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Arial"/>
                <a:cs typeface="Arial"/>
              </a:rPr>
              <a:t>Nếu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thì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B3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lại,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tiếp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tục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B2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B3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Arial"/>
                <a:cs typeface="Arial"/>
              </a:rPr>
              <a:t>Xuất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K.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5B9D9-EE27-83D7-EB9E-25431A7646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60" dirty="0"/>
              <a:t> </a:t>
            </a:r>
            <a:r>
              <a:rPr dirty="0"/>
              <a:t>dụ</a:t>
            </a:r>
            <a:r>
              <a:rPr spc="-45" dirty="0"/>
              <a:t> </a:t>
            </a:r>
            <a:r>
              <a:rPr dirty="0"/>
              <a:t>tìm</a:t>
            </a:r>
            <a:r>
              <a:rPr spc="-60" dirty="0"/>
              <a:t> </a:t>
            </a:r>
            <a:r>
              <a:rPr dirty="0"/>
              <a:t>khóa</a:t>
            </a:r>
            <a:r>
              <a:rPr spc="-40" dirty="0"/>
              <a:t> </a:t>
            </a:r>
            <a:r>
              <a:rPr dirty="0"/>
              <a:t>của</a:t>
            </a:r>
            <a:r>
              <a:rPr spc="-55" dirty="0"/>
              <a:t> </a:t>
            </a:r>
            <a:r>
              <a:rPr dirty="0"/>
              <a:t>lược</a:t>
            </a:r>
            <a:r>
              <a:rPr spc="-50" dirty="0"/>
              <a:t> </a:t>
            </a:r>
            <a:r>
              <a:rPr spc="-25" dirty="0"/>
              <a:t>đồ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715" y="1021443"/>
            <a:ext cx="5844540" cy="477710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90525" indent="-33972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90525" algn="l"/>
              </a:tabLst>
            </a:pPr>
            <a:r>
              <a:rPr sz="2000" dirty="0">
                <a:latin typeface="Arial"/>
                <a:cs typeface="Arial"/>
              </a:rPr>
              <a:t>Cho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R(U),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G}.</a:t>
            </a:r>
            <a:endParaRPr sz="200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515"/>
              </a:spcBef>
              <a:buChar char="•"/>
              <a:tabLst>
                <a:tab pos="789940" algn="l"/>
              </a:tabLst>
            </a:pPr>
            <a:r>
              <a:rPr sz="1800" dirty="0">
                <a:latin typeface="Arial"/>
                <a:cs typeface="Arial"/>
              </a:rPr>
              <a:t>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{B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BE,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DF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G}.</a:t>
            </a:r>
            <a:endParaRPr sz="1800">
              <a:latin typeface="Arial"/>
              <a:cs typeface="Arial"/>
            </a:endParaRPr>
          </a:p>
          <a:p>
            <a:pPr marL="390525" indent="-33972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90525" algn="l"/>
              </a:tabLst>
            </a:pPr>
            <a:r>
              <a:rPr sz="2000" dirty="0">
                <a:latin typeface="Arial"/>
                <a:cs typeface="Arial"/>
              </a:rPr>
              <a:t>Tìm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89940" algn="l"/>
              </a:tabLst>
            </a:pPr>
            <a:r>
              <a:rPr sz="1800" spc="-25" dirty="0">
                <a:latin typeface="Arial"/>
                <a:cs typeface="Arial"/>
              </a:rPr>
              <a:t>B1:</a:t>
            </a:r>
            <a:endParaRPr sz="18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405"/>
              </a:spcBef>
            </a:pPr>
            <a:r>
              <a:rPr sz="1600" dirty="0">
                <a:latin typeface="Arial"/>
                <a:cs typeface="Arial"/>
              </a:rPr>
              <a:t>K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ABCDEFG.</a:t>
            </a:r>
            <a:endParaRPr sz="160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89940" algn="l"/>
              </a:tabLst>
            </a:pPr>
            <a:r>
              <a:rPr sz="1800" spc="-25" dirty="0">
                <a:latin typeface="Arial"/>
                <a:cs typeface="Arial"/>
              </a:rPr>
              <a:t>B2:</a:t>
            </a:r>
            <a:endParaRPr sz="1800">
              <a:latin typeface="Arial"/>
              <a:cs typeface="Arial"/>
            </a:endParaRPr>
          </a:p>
          <a:p>
            <a:pPr marL="1193800" lvl="2" indent="-228600">
              <a:lnSpc>
                <a:spcPts val="710"/>
              </a:lnSpc>
              <a:spcBef>
                <a:spcPts val="405"/>
              </a:spcBef>
              <a:buChar char="-"/>
              <a:tabLst>
                <a:tab pos="1193800" algn="l"/>
                <a:tab pos="3016885" algn="l"/>
              </a:tabLst>
            </a:pPr>
            <a:r>
              <a:rPr sz="1600" dirty="0">
                <a:latin typeface="Arial"/>
                <a:cs typeface="Arial"/>
              </a:rPr>
              <a:t>Lặp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1: </a:t>
            </a:r>
            <a:r>
              <a:rPr sz="1600" spc="-10" dirty="0">
                <a:latin typeface="Arial"/>
                <a:cs typeface="Arial"/>
              </a:rPr>
              <a:t>(BCDEFG)</a:t>
            </a:r>
            <a:r>
              <a:rPr sz="1575" spc="-15" baseline="-21164" dirty="0">
                <a:latin typeface="Arial"/>
                <a:cs typeface="Arial"/>
              </a:rPr>
              <a:t>F</a:t>
            </a:r>
            <a:r>
              <a:rPr sz="1575" baseline="-21164" dirty="0">
                <a:latin typeface="Arial"/>
                <a:cs typeface="Arial"/>
              </a:rPr>
              <a:t>	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BCDEFGA </a:t>
            </a:r>
            <a:r>
              <a:rPr sz="1600" dirty="0">
                <a:latin typeface="Symbol"/>
                <a:cs typeface="Symbol"/>
              </a:rPr>
              <a:t>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K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 </a:t>
            </a:r>
            <a:r>
              <a:rPr sz="1600" spc="-10" dirty="0">
                <a:latin typeface="Arial"/>
                <a:cs typeface="Arial"/>
              </a:rPr>
              <a:t>BCDEFG.</a:t>
            </a:r>
            <a:endParaRPr sz="1600">
              <a:latin typeface="Arial"/>
              <a:cs typeface="Arial"/>
            </a:endParaRPr>
          </a:p>
          <a:p>
            <a:pPr marR="3175" algn="ctr">
              <a:lnSpc>
                <a:spcPts val="620"/>
              </a:lnSpc>
            </a:pPr>
            <a:r>
              <a:rPr sz="1050" spc="-50" dirty="0">
                <a:latin typeface="Arial"/>
                <a:cs typeface="Arial"/>
              </a:rPr>
              <a:t>+</a:t>
            </a:r>
            <a:endParaRPr sz="1050">
              <a:latin typeface="Arial"/>
              <a:cs typeface="Arial"/>
            </a:endParaRPr>
          </a:p>
          <a:p>
            <a:pPr marL="1193800" lvl="2" indent="-228600">
              <a:lnSpc>
                <a:spcPts val="705"/>
              </a:lnSpc>
              <a:spcBef>
                <a:spcPts val="1000"/>
              </a:spcBef>
              <a:buChar char="-"/>
              <a:tabLst>
                <a:tab pos="1193800" algn="l"/>
                <a:tab pos="2880995" algn="l"/>
              </a:tabLst>
            </a:pPr>
            <a:r>
              <a:rPr sz="1600" dirty="0">
                <a:latin typeface="Arial"/>
                <a:cs typeface="Arial"/>
              </a:rPr>
              <a:t>Lặp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2: </a:t>
            </a:r>
            <a:r>
              <a:rPr sz="1600" spc="-10" dirty="0">
                <a:latin typeface="Arial"/>
                <a:cs typeface="Arial"/>
              </a:rPr>
              <a:t>(CDEFG)</a:t>
            </a:r>
            <a:r>
              <a:rPr sz="1575" spc="-15" baseline="-21164" dirty="0">
                <a:latin typeface="Arial"/>
                <a:cs typeface="Arial"/>
              </a:rPr>
              <a:t>F</a:t>
            </a:r>
            <a:r>
              <a:rPr sz="1575" baseline="-21164" dirty="0">
                <a:latin typeface="Arial"/>
                <a:cs typeface="Arial"/>
              </a:rPr>
              <a:t>	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CDEFGBA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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K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 </a:t>
            </a:r>
            <a:r>
              <a:rPr sz="1600" spc="-10" dirty="0">
                <a:latin typeface="Arial"/>
                <a:cs typeface="Arial"/>
              </a:rPr>
              <a:t>CDEFG.</a:t>
            </a:r>
            <a:endParaRPr sz="1600">
              <a:latin typeface="Arial"/>
              <a:cs typeface="Arial"/>
            </a:endParaRPr>
          </a:p>
          <a:p>
            <a:pPr marR="274320" algn="ctr">
              <a:lnSpc>
                <a:spcPts val="620"/>
              </a:lnSpc>
            </a:pPr>
            <a:r>
              <a:rPr sz="1050" spc="-50" dirty="0">
                <a:latin typeface="Arial"/>
                <a:cs typeface="Arial"/>
              </a:rPr>
              <a:t>+</a:t>
            </a:r>
            <a:endParaRPr sz="1050">
              <a:latin typeface="Arial"/>
              <a:cs typeface="Arial"/>
            </a:endParaRPr>
          </a:p>
          <a:p>
            <a:pPr marL="1193800" lvl="2" indent="-228600">
              <a:lnSpc>
                <a:spcPts val="710"/>
              </a:lnSpc>
              <a:spcBef>
                <a:spcPts val="990"/>
              </a:spcBef>
              <a:buChar char="-"/>
              <a:tabLst>
                <a:tab pos="1193800" algn="l"/>
                <a:tab pos="2734945" algn="l"/>
              </a:tabLst>
            </a:pPr>
            <a:r>
              <a:rPr sz="1600" dirty="0">
                <a:latin typeface="Arial"/>
                <a:cs typeface="Arial"/>
              </a:rPr>
              <a:t>Lặp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3: </a:t>
            </a:r>
            <a:r>
              <a:rPr sz="1600" spc="-10" dirty="0">
                <a:latin typeface="Arial"/>
                <a:cs typeface="Arial"/>
              </a:rPr>
              <a:t>(DEFG)</a:t>
            </a:r>
            <a:r>
              <a:rPr sz="1575" spc="-15" baseline="-21164" dirty="0">
                <a:latin typeface="Arial"/>
                <a:cs typeface="Arial"/>
              </a:rPr>
              <a:t>F</a:t>
            </a:r>
            <a:r>
              <a:rPr sz="1575" baseline="-21164" dirty="0">
                <a:latin typeface="Arial"/>
                <a:cs typeface="Arial"/>
              </a:rPr>
              <a:t>	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DEFGCBA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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K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 </a:t>
            </a:r>
            <a:r>
              <a:rPr sz="1600" spc="-10" dirty="0">
                <a:latin typeface="Arial"/>
                <a:cs typeface="Arial"/>
              </a:rPr>
              <a:t>DEFG.</a:t>
            </a:r>
            <a:endParaRPr sz="1600">
              <a:latin typeface="Arial"/>
              <a:cs typeface="Arial"/>
            </a:endParaRPr>
          </a:p>
          <a:p>
            <a:pPr marR="567055" algn="ctr">
              <a:lnSpc>
                <a:spcPts val="620"/>
              </a:lnSpc>
            </a:pPr>
            <a:r>
              <a:rPr sz="1050" spc="-50" dirty="0">
                <a:latin typeface="Arial"/>
                <a:cs typeface="Arial"/>
              </a:rPr>
              <a:t>+</a:t>
            </a:r>
            <a:endParaRPr sz="1050">
              <a:latin typeface="Arial"/>
              <a:cs typeface="Arial"/>
            </a:endParaRPr>
          </a:p>
          <a:p>
            <a:pPr marL="1193800" lvl="2" indent="-228600">
              <a:lnSpc>
                <a:spcPts val="1425"/>
              </a:lnSpc>
              <a:spcBef>
                <a:spcPts val="985"/>
              </a:spcBef>
              <a:buChar char="-"/>
              <a:tabLst>
                <a:tab pos="1193800" algn="l"/>
              </a:tabLst>
            </a:pPr>
            <a:r>
              <a:rPr sz="1600" dirty="0">
                <a:latin typeface="Arial"/>
                <a:cs typeface="Arial"/>
              </a:rPr>
              <a:t>Lặp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4: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(EFG)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575" baseline="26455" dirty="0">
                <a:latin typeface="Arial"/>
                <a:cs typeface="Arial"/>
              </a:rPr>
              <a:t>+</a:t>
            </a:r>
            <a:r>
              <a:rPr sz="1575" spc="254" baseline="264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0" dirty="0">
                <a:latin typeface="Arial"/>
                <a:cs typeface="Arial"/>
              </a:rPr>
              <a:t> EFG.</a:t>
            </a:r>
            <a:endParaRPr sz="1600">
              <a:latin typeface="Arial"/>
              <a:cs typeface="Arial"/>
            </a:endParaRPr>
          </a:p>
          <a:p>
            <a:pPr marR="1020444" algn="ctr">
              <a:lnSpc>
                <a:spcPts val="765"/>
              </a:lnSpc>
            </a:pPr>
            <a:r>
              <a:rPr sz="1050" spc="-50" dirty="0">
                <a:latin typeface="Arial"/>
                <a:cs typeface="Arial"/>
              </a:rPr>
              <a:t>F</a:t>
            </a:r>
            <a:endParaRPr sz="1050">
              <a:latin typeface="Arial"/>
              <a:cs typeface="Arial"/>
            </a:endParaRPr>
          </a:p>
          <a:p>
            <a:pPr marL="1193800" lvl="2" indent="-228600">
              <a:lnSpc>
                <a:spcPts val="710"/>
              </a:lnSpc>
              <a:spcBef>
                <a:spcPts val="135"/>
              </a:spcBef>
              <a:buChar char="-"/>
              <a:tabLst>
                <a:tab pos="1193800" algn="l"/>
                <a:tab pos="2600960" algn="l"/>
              </a:tabLst>
            </a:pPr>
            <a:r>
              <a:rPr sz="1600" dirty="0">
                <a:latin typeface="Arial"/>
                <a:cs typeface="Arial"/>
              </a:rPr>
              <a:t>Lặp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5: </a:t>
            </a:r>
            <a:r>
              <a:rPr sz="1600" spc="-10" dirty="0">
                <a:latin typeface="Arial"/>
                <a:cs typeface="Arial"/>
              </a:rPr>
              <a:t>(DFG)</a:t>
            </a:r>
            <a:r>
              <a:rPr sz="1575" spc="-15" baseline="-21164" dirty="0">
                <a:latin typeface="Arial"/>
                <a:cs typeface="Arial"/>
              </a:rPr>
              <a:t>F</a:t>
            </a:r>
            <a:r>
              <a:rPr sz="1575" baseline="-21164" dirty="0">
                <a:latin typeface="Arial"/>
                <a:cs typeface="Arial"/>
              </a:rPr>
              <a:t>	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DFGCBEA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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K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DFG.</a:t>
            </a:r>
            <a:endParaRPr sz="1600">
              <a:latin typeface="Arial"/>
              <a:cs typeface="Arial"/>
            </a:endParaRPr>
          </a:p>
          <a:p>
            <a:pPr marR="838200" algn="ctr">
              <a:lnSpc>
                <a:spcPts val="620"/>
              </a:lnSpc>
            </a:pPr>
            <a:r>
              <a:rPr sz="1050" spc="-50" dirty="0">
                <a:latin typeface="Arial"/>
                <a:cs typeface="Arial"/>
              </a:rPr>
              <a:t>+</a:t>
            </a:r>
            <a:endParaRPr sz="1050">
              <a:latin typeface="Arial"/>
              <a:cs typeface="Arial"/>
            </a:endParaRPr>
          </a:p>
          <a:p>
            <a:pPr marL="1193800" lvl="2" indent="-228600">
              <a:lnSpc>
                <a:spcPts val="1430"/>
              </a:lnSpc>
              <a:spcBef>
                <a:spcPts val="985"/>
              </a:spcBef>
              <a:buChar char="-"/>
              <a:tabLst>
                <a:tab pos="1193800" algn="l"/>
              </a:tabLst>
            </a:pPr>
            <a:r>
              <a:rPr sz="1600" dirty="0">
                <a:latin typeface="Arial"/>
                <a:cs typeface="Arial"/>
              </a:rPr>
              <a:t>Lặp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6: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(DG)</a:t>
            </a:r>
            <a:r>
              <a:rPr sz="1600" spc="175" dirty="0">
                <a:latin typeface="Arial"/>
                <a:cs typeface="Arial"/>
              </a:rPr>
              <a:t> </a:t>
            </a:r>
            <a:r>
              <a:rPr sz="1575" baseline="26455" dirty="0">
                <a:latin typeface="Arial"/>
                <a:cs typeface="Arial"/>
              </a:rPr>
              <a:t>+</a:t>
            </a:r>
            <a:r>
              <a:rPr sz="1575" spc="262" baseline="264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DGCBEA.</a:t>
            </a:r>
            <a:endParaRPr sz="1600">
              <a:latin typeface="Arial"/>
              <a:cs typeface="Arial"/>
            </a:endParaRPr>
          </a:p>
          <a:p>
            <a:pPr marL="2253615">
              <a:lnSpc>
                <a:spcPts val="770"/>
              </a:lnSpc>
            </a:pPr>
            <a:r>
              <a:rPr sz="1050" spc="-50" dirty="0">
                <a:latin typeface="Arial"/>
                <a:cs typeface="Arial"/>
              </a:rPr>
              <a:t>F</a:t>
            </a:r>
            <a:endParaRPr sz="1050">
              <a:latin typeface="Arial"/>
              <a:cs typeface="Arial"/>
            </a:endParaRPr>
          </a:p>
          <a:p>
            <a:pPr marL="1193800" lvl="2" indent="-228600">
              <a:lnSpc>
                <a:spcPts val="710"/>
              </a:lnSpc>
              <a:spcBef>
                <a:spcPts val="125"/>
              </a:spcBef>
              <a:buChar char="-"/>
              <a:tabLst>
                <a:tab pos="1193800" algn="l"/>
                <a:tab pos="2442210" algn="l"/>
              </a:tabLst>
            </a:pPr>
            <a:r>
              <a:rPr sz="1600" dirty="0">
                <a:latin typeface="Arial"/>
                <a:cs typeface="Arial"/>
              </a:rPr>
              <a:t>Lặp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7: </a:t>
            </a:r>
            <a:r>
              <a:rPr sz="1600" spc="-20" dirty="0">
                <a:latin typeface="Arial"/>
                <a:cs typeface="Arial"/>
              </a:rPr>
              <a:t>(DF)</a:t>
            </a:r>
            <a:r>
              <a:rPr sz="1575" spc="-30" baseline="-21164" dirty="0">
                <a:latin typeface="Arial"/>
                <a:cs typeface="Arial"/>
              </a:rPr>
              <a:t>F</a:t>
            </a:r>
            <a:r>
              <a:rPr sz="1575" baseline="-21164" dirty="0">
                <a:latin typeface="Arial"/>
                <a:cs typeface="Arial"/>
              </a:rPr>
              <a:t>	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DFCBEAG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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K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DF.</a:t>
            </a:r>
            <a:endParaRPr sz="1600">
              <a:latin typeface="Arial"/>
              <a:cs typeface="Arial"/>
            </a:endParaRPr>
          </a:p>
          <a:p>
            <a:pPr marL="2301875">
              <a:lnSpc>
                <a:spcPts val="620"/>
              </a:lnSpc>
            </a:pPr>
            <a:r>
              <a:rPr sz="1050" spc="-50" dirty="0">
                <a:latin typeface="Arial"/>
                <a:cs typeface="Arial"/>
              </a:rPr>
              <a:t>+</a:t>
            </a:r>
            <a:endParaRPr sz="105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1085"/>
              </a:spcBef>
              <a:buChar char="•"/>
              <a:tabLst>
                <a:tab pos="789940" algn="l"/>
              </a:tabLst>
            </a:pPr>
            <a:r>
              <a:rPr sz="1800" spc="-25" dirty="0">
                <a:latin typeface="Arial"/>
                <a:cs typeface="Arial"/>
              </a:rPr>
              <a:t>B3:</a:t>
            </a:r>
            <a:endParaRPr sz="18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405"/>
              </a:spcBef>
            </a:pPr>
            <a:r>
              <a:rPr sz="1600" dirty="0">
                <a:latin typeface="Arial"/>
                <a:cs typeface="Arial"/>
              </a:rPr>
              <a:t>Khóa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là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 </a:t>
            </a:r>
            <a:r>
              <a:rPr sz="1600" spc="-25" dirty="0">
                <a:latin typeface="Arial"/>
                <a:cs typeface="Arial"/>
              </a:rPr>
              <a:t>DF.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64AE6-5A4F-23D9-D639-E1B54AA8A3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Xác</a:t>
            </a:r>
            <a:r>
              <a:rPr spc="-60" dirty="0"/>
              <a:t> </a:t>
            </a:r>
            <a:r>
              <a:rPr dirty="0"/>
              <a:t>định</a:t>
            </a:r>
            <a:r>
              <a:rPr spc="-45" dirty="0"/>
              <a:t> </a:t>
            </a:r>
            <a:r>
              <a:rPr dirty="0"/>
              <a:t>tất</a:t>
            </a:r>
            <a:r>
              <a:rPr spc="-55" dirty="0"/>
              <a:t> </a:t>
            </a:r>
            <a:r>
              <a:rPr dirty="0"/>
              <a:t>cả</a:t>
            </a:r>
            <a:r>
              <a:rPr spc="-65" dirty="0"/>
              <a:t> </a:t>
            </a:r>
            <a:r>
              <a:rPr dirty="0"/>
              <a:t>khóa</a:t>
            </a:r>
            <a:r>
              <a:rPr spc="-50" dirty="0"/>
              <a:t> </a:t>
            </a:r>
            <a:r>
              <a:rPr dirty="0"/>
              <a:t>của</a:t>
            </a:r>
            <a:r>
              <a:rPr spc="-55" dirty="0"/>
              <a:t> </a:t>
            </a:r>
            <a:r>
              <a:rPr dirty="0"/>
              <a:t>lược</a:t>
            </a:r>
            <a:r>
              <a:rPr spc="-55" dirty="0"/>
              <a:t> </a:t>
            </a:r>
            <a:r>
              <a:rPr spc="-25" dirty="0"/>
              <a:t>đồ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17523"/>
            <a:ext cx="6477635" cy="49453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77825" algn="l"/>
              </a:tabLst>
            </a:pPr>
            <a:r>
              <a:rPr sz="2400" dirty="0">
                <a:latin typeface="Arial"/>
                <a:cs typeface="Arial"/>
              </a:rPr>
              <a:t>Nhập: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R(U).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77825" algn="l"/>
              </a:tabLst>
            </a:pPr>
            <a:r>
              <a:rPr sz="2400" dirty="0">
                <a:latin typeface="Arial"/>
                <a:cs typeface="Arial"/>
              </a:rPr>
              <a:t>Xuất: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77825" algn="l"/>
              </a:tabLst>
            </a:pPr>
            <a:r>
              <a:rPr sz="2400" dirty="0">
                <a:latin typeface="Arial"/>
                <a:cs typeface="Arial"/>
              </a:rPr>
              <a:t>Thuật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7.3.2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777240" algn="l"/>
              </a:tabLst>
            </a:pPr>
            <a:r>
              <a:rPr sz="2000" i="1" spc="-25" dirty="0">
                <a:latin typeface="Arial"/>
                <a:cs typeface="Arial"/>
              </a:rPr>
              <a:t>B1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52500" marR="1343660">
              <a:lnSpc>
                <a:spcPts val="2660"/>
              </a:lnSpc>
              <a:spcBef>
                <a:spcPts val="170"/>
              </a:spcBef>
            </a:pPr>
            <a:r>
              <a:rPr sz="1800" dirty="0">
                <a:latin typeface="Arial"/>
                <a:cs typeface="Arial"/>
              </a:rPr>
              <a:t>Xây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dựng 2</a:t>
            </a:r>
            <a:r>
              <a:rPr sz="1800" baseline="25462" dirty="0">
                <a:latin typeface="Arial"/>
                <a:cs typeface="Arial"/>
              </a:rPr>
              <a:t>n</a:t>
            </a:r>
            <a:r>
              <a:rPr sz="1800" spc="225" baseline="25462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tập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{A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 </a:t>
            </a:r>
            <a:r>
              <a:rPr sz="1800" spc="-20" dirty="0">
                <a:latin typeface="Arial"/>
                <a:cs typeface="Arial"/>
              </a:rPr>
              <a:t>A</a:t>
            </a:r>
            <a:r>
              <a:rPr sz="1800" spc="-30" baseline="-20833" dirty="0">
                <a:latin typeface="Arial"/>
                <a:cs typeface="Arial"/>
              </a:rPr>
              <a:t>n</a:t>
            </a:r>
            <a:r>
              <a:rPr sz="1800" spc="-20" dirty="0">
                <a:latin typeface="Arial"/>
                <a:cs typeface="Arial"/>
              </a:rPr>
              <a:t>}; </a:t>
            </a:r>
            <a:r>
              <a:rPr sz="1800" dirty="0">
                <a:latin typeface="Arial"/>
                <a:cs typeface="Arial"/>
              </a:rPr>
              <a:t>S 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{};</a:t>
            </a:r>
            <a:endParaRPr sz="1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777240" algn="l"/>
              </a:tabLst>
            </a:pPr>
            <a:r>
              <a:rPr sz="2000" i="1" spc="-25" dirty="0">
                <a:latin typeface="Arial"/>
                <a:cs typeface="Arial"/>
              </a:rPr>
              <a:t>B2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15"/>
              </a:spcBef>
            </a:pPr>
            <a:r>
              <a:rPr sz="1800" dirty="0">
                <a:latin typeface="Arial"/>
                <a:cs typeface="Arial"/>
              </a:rPr>
              <a:t>Với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mỗi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tập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 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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U</a:t>
            </a:r>
            <a:endParaRPr sz="1800">
              <a:latin typeface="Arial"/>
              <a:cs typeface="Arial"/>
            </a:endParaRPr>
          </a:p>
          <a:p>
            <a:pPr marL="1409700">
              <a:lnSpc>
                <a:spcPct val="100000"/>
              </a:lnSpc>
              <a:spcBef>
                <a:spcPts val="405"/>
              </a:spcBef>
            </a:pPr>
            <a:r>
              <a:rPr sz="1600" dirty="0">
                <a:latin typeface="Arial"/>
                <a:cs typeface="Arial"/>
              </a:rPr>
              <a:t>Nếu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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X</a:t>
            </a:r>
            <a:r>
              <a:rPr sz="1575" baseline="-21164" dirty="0">
                <a:latin typeface="Arial"/>
                <a:cs typeface="Arial"/>
              </a:rPr>
              <a:t>F</a:t>
            </a:r>
            <a:r>
              <a:rPr sz="1575" baseline="26455" dirty="0">
                <a:latin typeface="Arial"/>
                <a:cs typeface="Arial"/>
              </a:rPr>
              <a:t>+</a:t>
            </a:r>
            <a:r>
              <a:rPr sz="1575" spc="209" baseline="264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thì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 </a:t>
            </a:r>
            <a:r>
              <a:rPr sz="1600" dirty="0">
                <a:latin typeface="Symbol"/>
                <a:cs typeface="Symbol"/>
              </a:rPr>
              <a:t>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Arial"/>
                <a:cs typeface="Arial"/>
              </a:rPr>
              <a:t>{X}.</a:t>
            </a:r>
            <a:endParaRPr sz="16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777240" algn="l"/>
              </a:tabLst>
            </a:pPr>
            <a:r>
              <a:rPr sz="2000" i="1" spc="-25" dirty="0">
                <a:latin typeface="Arial"/>
                <a:cs typeface="Arial"/>
              </a:rPr>
              <a:t>B3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Symbol"/>
                <a:cs typeface="Symbol"/>
              </a:rPr>
              <a:t></a:t>
            </a:r>
            <a:r>
              <a:rPr sz="2000" dirty="0">
                <a:latin typeface="Arial"/>
                <a:cs typeface="Arial"/>
              </a:rPr>
              <a:t>X,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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thì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 {Y}.</a:t>
            </a:r>
            <a:endParaRPr sz="20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B4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9861D-DDC2-C8CC-6BDC-D6D15D61EC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55" dirty="0"/>
              <a:t> </a:t>
            </a:r>
            <a:r>
              <a:rPr dirty="0"/>
              <a:t>dụ</a:t>
            </a:r>
            <a:r>
              <a:rPr spc="-40" dirty="0"/>
              <a:t> </a:t>
            </a:r>
            <a:r>
              <a:rPr dirty="0"/>
              <a:t>tìm</a:t>
            </a:r>
            <a:r>
              <a:rPr spc="-55" dirty="0"/>
              <a:t> </a:t>
            </a:r>
            <a:r>
              <a:rPr dirty="0"/>
              <a:t>tất</a:t>
            </a:r>
            <a:r>
              <a:rPr spc="-45" dirty="0"/>
              <a:t> </a:t>
            </a:r>
            <a:r>
              <a:rPr dirty="0"/>
              <a:t>cả</a:t>
            </a:r>
            <a:r>
              <a:rPr spc="-60" dirty="0"/>
              <a:t> </a:t>
            </a:r>
            <a:r>
              <a:rPr dirty="0"/>
              <a:t>khóa</a:t>
            </a:r>
            <a:r>
              <a:rPr spc="-40" dirty="0"/>
              <a:t> </a:t>
            </a:r>
            <a:r>
              <a:rPr dirty="0"/>
              <a:t>của</a:t>
            </a:r>
            <a:r>
              <a:rPr spc="-50" dirty="0"/>
              <a:t> </a:t>
            </a:r>
            <a:r>
              <a:rPr dirty="0"/>
              <a:t>lược</a:t>
            </a:r>
            <a:r>
              <a:rPr spc="-40" dirty="0"/>
              <a:t> </a:t>
            </a:r>
            <a:r>
              <a:rPr spc="-25" dirty="0"/>
              <a:t>đồ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8144509" cy="35782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R(U),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{A,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F}.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F,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E}.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Tập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siêu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khóa</a:t>
            </a:r>
            <a:endParaRPr sz="2000">
              <a:latin typeface="Arial"/>
              <a:cs typeface="Arial"/>
            </a:endParaRPr>
          </a:p>
          <a:p>
            <a:pPr marL="1434465" marR="5080" indent="-508000">
              <a:lnSpc>
                <a:spcPct val="123300"/>
              </a:lnSpc>
              <a:spcBef>
                <a:spcPts val="10"/>
              </a:spcBef>
            </a:pPr>
            <a:r>
              <a:rPr sz="1800" dirty="0">
                <a:latin typeface="Arial"/>
                <a:cs typeface="Arial"/>
              </a:rPr>
              <a:t>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{ABD,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BCD, ABCD,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ABDE,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BCDE,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ABCDE,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ABDF,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BCDF,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ABCDF, </a:t>
            </a:r>
            <a:r>
              <a:rPr sz="1800" dirty="0">
                <a:latin typeface="Arial"/>
                <a:cs typeface="Arial"/>
              </a:rPr>
              <a:t>ABDEF, BCDEF,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ABCDEF}.</a:t>
            </a:r>
            <a:endParaRPr sz="1800">
              <a:latin typeface="Arial"/>
              <a:cs typeface="Arial"/>
            </a:endParaRPr>
          </a:p>
          <a:p>
            <a:pPr marL="2606040">
              <a:lnSpc>
                <a:spcPts val="1980"/>
              </a:lnSpc>
              <a:spcBef>
                <a:spcPts val="1230"/>
              </a:spcBef>
            </a:pPr>
            <a:r>
              <a:rPr sz="1800" spc="-20" dirty="0">
                <a:latin typeface="Arial"/>
                <a:cs typeface="Arial"/>
              </a:rPr>
              <a:t>ABDF</a:t>
            </a:r>
            <a:endParaRPr sz="1800">
              <a:latin typeface="Arial"/>
              <a:cs typeface="Arial"/>
            </a:endParaRPr>
          </a:p>
          <a:p>
            <a:pPr marL="5177790">
              <a:lnSpc>
                <a:spcPts val="1980"/>
              </a:lnSpc>
            </a:pPr>
            <a:r>
              <a:rPr sz="1800" spc="-10" dirty="0">
                <a:latin typeface="Arial"/>
                <a:cs typeface="Arial"/>
              </a:rPr>
              <a:t>ABDEF</a:t>
            </a:r>
            <a:endParaRPr sz="1800">
              <a:latin typeface="Arial"/>
              <a:cs typeface="Arial"/>
            </a:endParaRPr>
          </a:p>
          <a:p>
            <a:pPr marL="636905">
              <a:lnSpc>
                <a:spcPts val="1920"/>
              </a:lnSpc>
              <a:spcBef>
                <a:spcPts val="840"/>
              </a:spcBef>
              <a:tabLst>
                <a:tab pos="2606040" algn="l"/>
              </a:tabLst>
            </a:pPr>
            <a:r>
              <a:rPr sz="1800" spc="-25" dirty="0">
                <a:latin typeface="Arial"/>
                <a:cs typeface="Arial"/>
              </a:rPr>
              <a:t>ABD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ABDE</a:t>
            </a:r>
            <a:endParaRPr sz="1800">
              <a:latin typeface="Arial"/>
              <a:cs typeface="Arial"/>
            </a:endParaRPr>
          </a:p>
          <a:p>
            <a:pPr marL="5196840">
              <a:lnSpc>
                <a:spcPts val="1914"/>
              </a:lnSpc>
            </a:pPr>
            <a:r>
              <a:rPr sz="1800" spc="-10" dirty="0">
                <a:latin typeface="Arial"/>
                <a:cs typeface="Arial"/>
              </a:rPr>
              <a:t>ABCDE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49" y="5209108"/>
            <a:ext cx="5086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BCD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9029" y="4601336"/>
            <a:ext cx="661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ABCD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9029" y="5209108"/>
            <a:ext cx="661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BCDE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9410" y="5820867"/>
            <a:ext cx="647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BCDF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1286" y="4918964"/>
            <a:ext cx="799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ABCDF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1286" y="5530392"/>
            <a:ext cx="799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BCDEF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60944" y="4615688"/>
            <a:ext cx="951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ABCDEF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31331" y="3850766"/>
            <a:ext cx="1153160" cy="1838960"/>
          </a:xfrm>
          <a:custGeom>
            <a:avLst/>
            <a:gdLst/>
            <a:ahLst/>
            <a:cxnLst/>
            <a:rect l="l" t="t" r="r" b="b"/>
            <a:pathLst>
              <a:path w="1153159" h="1838960">
                <a:moveTo>
                  <a:pt x="1152652" y="919353"/>
                </a:moveTo>
                <a:lnTo>
                  <a:pt x="1149832" y="918781"/>
                </a:lnTo>
                <a:lnTo>
                  <a:pt x="1134046" y="884682"/>
                </a:lnTo>
                <a:lnTo>
                  <a:pt x="1114298" y="842010"/>
                </a:lnTo>
                <a:lnTo>
                  <a:pt x="1094473" y="866876"/>
                </a:lnTo>
                <a:lnTo>
                  <a:pt x="7874" y="0"/>
                </a:lnTo>
                <a:lnTo>
                  <a:pt x="0" y="9906"/>
                </a:lnTo>
                <a:lnTo>
                  <a:pt x="1083767" y="874534"/>
                </a:lnTo>
                <a:lnTo>
                  <a:pt x="1081138" y="883602"/>
                </a:lnTo>
                <a:lnTo>
                  <a:pt x="1074813" y="891527"/>
                </a:lnTo>
                <a:lnTo>
                  <a:pt x="48387" y="593217"/>
                </a:lnTo>
                <a:lnTo>
                  <a:pt x="44831" y="605409"/>
                </a:lnTo>
                <a:lnTo>
                  <a:pt x="1069467" y="903185"/>
                </a:lnTo>
                <a:lnTo>
                  <a:pt x="1072349" y="913968"/>
                </a:lnTo>
                <a:lnTo>
                  <a:pt x="1066165" y="935355"/>
                </a:lnTo>
                <a:lnTo>
                  <a:pt x="1073251" y="934059"/>
                </a:lnTo>
                <a:lnTo>
                  <a:pt x="16002" y="1216406"/>
                </a:lnTo>
                <a:lnTo>
                  <a:pt x="19304" y="1228725"/>
                </a:lnTo>
                <a:lnTo>
                  <a:pt x="1076477" y="946238"/>
                </a:lnTo>
                <a:lnTo>
                  <a:pt x="1083195" y="954570"/>
                </a:lnTo>
                <a:lnTo>
                  <a:pt x="1085989" y="965009"/>
                </a:lnTo>
                <a:lnTo>
                  <a:pt x="13716" y="1828812"/>
                </a:lnTo>
                <a:lnTo>
                  <a:pt x="21590" y="1838693"/>
                </a:lnTo>
                <a:lnTo>
                  <a:pt x="1097330" y="972134"/>
                </a:lnTo>
                <a:lnTo>
                  <a:pt x="1117219" y="996823"/>
                </a:lnTo>
                <a:lnTo>
                  <a:pt x="1136675" y="954278"/>
                </a:lnTo>
                <a:lnTo>
                  <a:pt x="1152652" y="9193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07816" y="3620769"/>
            <a:ext cx="1805305" cy="2360930"/>
          </a:xfrm>
          <a:custGeom>
            <a:avLst/>
            <a:gdLst/>
            <a:ahLst/>
            <a:cxnLst/>
            <a:rect l="l" t="t" r="r" b="b"/>
            <a:pathLst>
              <a:path w="1805304" h="2360929">
                <a:moveTo>
                  <a:pt x="1805305" y="828675"/>
                </a:moveTo>
                <a:lnTo>
                  <a:pt x="1803565" y="827532"/>
                </a:lnTo>
                <a:lnTo>
                  <a:pt x="1734185" y="781812"/>
                </a:lnTo>
                <a:lnTo>
                  <a:pt x="1731137" y="807313"/>
                </a:lnTo>
                <a:lnTo>
                  <a:pt x="1731137" y="859294"/>
                </a:lnTo>
                <a:lnTo>
                  <a:pt x="1323936" y="1068920"/>
                </a:lnTo>
                <a:lnTo>
                  <a:pt x="1311643" y="1058951"/>
                </a:lnTo>
                <a:lnTo>
                  <a:pt x="1311643" y="1075245"/>
                </a:lnTo>
                <a:lnTo>
                  <a:pt x="900290" y="1287018"/>
                </a:lnTo>
                <a:lnTo>
                  <a:pt x="63601" y="1135837"/>
                </a:lnTo>
                <a:lnTo>
                  <a:pt x="1154391" y="947686"/>
                </a:lnTo>
                <a:lnTo>
                  <a:pt x="1311643" y="1075245"/>
                </a:lnTo>
                <a:lnTo>
                  <a:pt x="1311643" y="1058951"/>
                </a:lnTo>
                <a:lnTo>
                  <a:pt x="1170965" y="944816"/>
                </a:lnTo>
                <a:lnTo>
                  <a:pt x="1726171" y="849045"/>
                </a:lnTo>
                <a:lnTo>
                  <a:pt x="1725168" y="857504"/>
                </a:lnTo>
                <a:lnTo>
                  <a:pt x="1730502" y="855586"/>
                </a:lnTo>
                <a:lnTo>
                  <a:pt x="1731137" y="859294"/>
                </a:lnTo>
                <a:lnTo>
                  <a:pt x="1731137" y="807313"/>
                </a:lnTo>
                <a:lnTo>
                  <a:pt x="1731111" y="807516"/>
                </a:lnTo>
                <a:lnTo>
                  <a:pt x="1726120" y="806005"/>
                </a:lnTo>
                <a:lnTo>
                  <a:pt x="1726120" y="830237"/>
                </a:lnTo>
                <a:lnTo>
                  <a:pt x="1718183" y="830326"/>
                </a:lnTo>
                <a:lnTo>
                  <a:pt x="1721599" y="837006"/>
                </a:lnTo>
                <a:lnTo>
                  <a:pt x="1157884" y="934199"/>
                </a:lnTo>
                <a:lnTo>
                  <a:pt x="903579" y="727913"/>
                </a:lnTo>
                <a:lnTo>
                  <a:pt x="1725333" y="825614"/>
                </a:lnTo>
                <a:lnTo>
                  <a:pt x="1726120" y="830237"/>
                </a:lnTo>
                <a:lnTo>
                  <a:pt x="1726120" y="806005"/>
                </a:lnTo>
                <a:lnTo>
                  <a:pt x="1721739" y="804672"/>
                </a:lnTo>
                <a:lnTo>
                  <a:pt x="1723072" y="812469"/>
                </a:lnTo>
                <a:lnTo>
                  <a:pt x="884986" y="712825"/>
                </a:lnTo>
                <a:lnTo>
                  <a:pt x="861390" y="693686"/>
                </a:lnTo>
                <a:lnTo>
                  <a:pt x="861390" y="710018"/>
                </a:lnTo>
                <a:lnTo>
                  <a:pt x="55041" y="614133"/>
                </a:lnTo>
                <a:lnTo>
                  <a:pt x="598855" y="497065"/>
                </a:lnTo>
                <a:lnTo>
                  <a:pt x="861390" y="710018"/>
                </a:lnTo>
                <a:lnTo>
                  <a:pt x="861390" y="693686"/>
                </a:lnTo>
                <a:lnTo>
                  <a:pt x="614794" y="493636"/>
                </a:lnTo>
                <a:lnTo>
                  <a:pt x="1706943" y="258533"/>
                </a:lnTo>
                <a:lnTo>
                  <a:pt x="1706372" y="263017"/>
                </a:lnTo>
                <a:lnTo>
                  <a:pt x="1713839" y="260413"/>
                </a:lnTo>
                <a:lnTo>
                  <a:pt x="1719834" y="288290"/>
                </a:lnTo>
                <a:lnTo>
                  <a:pt x="1777390" y="242062"/>
                </a:lnTo>
                <a:lnTo>
                  <a:pt x="1785861" y="235267"/>
                </a:lnTo>
                <a:lnTo>
                  <a:pt x="1786763" y="234950"/>
                </a:lnTo>
                <a:lnTo>
                  <a:pt x="1784108" y="233172"/>
                </a:lnTo>
                <a:lnTo>
                  <a:pt x="1716151" y="187452"/>
                </a:lnTo>
                <a:lnTo>
                  <a:pt x="1712442" y="215963"/>
                </a:lnTo>
                <a:lnTo>
                  <a:pt x="1709381" y="215176"/>
                </a:lnTo>
                <a:lnTo>
                  <a:pt x="1709381" y="239687"/>
                </a:lnTo>
                <a:lnTo>
                  <a:pt x="1708683" y="245135"/>
                </a:lnTo>
                <a:lnTo>
                  <a:pt x="602081" y="483336"/>
                </a:lnTo>
                <a:lnTo>
                  <a:pt x="25425" y="15544"/>
                </a:lnTo>
                <a:lnTo>
                  <a:pt x="1707565" y="231216"/>
                </a:lnTo>
                <a:lnTo>
                  <a:pt x="1709381" y="239687"/>
                </a:lnTo>
                <a:lnTo>
                  <a:pt x="1709381" y="215176"/>
                </a:lnTo>
                <a:lnTo>
                  <a:pt x="1703832" y="213741"/>
                </a:lnTo>
                <a:lnTo>
                  <a:pt x="1704746" y="218059"/>
                </a:lnTo>
                <a:lnTo>
                  <a:pt x="4826" y="0"/>
                </a:lnTo>
                <a:lnTo>
                  <a:pt x="4064" y="6261"/>
                </a:lnTo>
                <a:lnTo>
                  <a:pt x="0" y="11303"/>
                </a:lnTo>
                <a:lnTo>
                  <a:pt x="586143" y="486765"/>
                </a:lnTo>
                <a:lnTo>
                  <a:pt x="14859" y="609727"/>
                </a:lnTo>
                <a:lnTo>
                  <a:pt x="16256" y="615950"/>
                </a:lnTo>
                <a:lnTo>
                  <a:pt x="15494" y="622300"/>
                </a:lnTo>
                <a:lnTo>
                  <a:pt x="879983" y="725106"/>
                </a:lnTo>
                <a:lnTo>
                  <a:pt x="1141298" y="937069"/>
                </a:lnTo>
                <a:lnTo>
                  <a:pt x="25781" y="1129411"/>
                </a:lnTo>
                <a:lnTo>
                  <a:pt x="26873" y="1135849"/>
                </a:lnTo>
                <a:lnTo>
                  <a:pt x="25781" y="1141857"/>
                </a:lnTo>
                <a:lnTo>
                  <a:pt x="881837" y="1296517"/>
                </a:lnTo>
                <a:lnTo>
                  <a:pt x="24003" y="1738122"/>
                </a:lnTo>
                <a:lnTo>
                  <a:pt x="26924" y="1743710"/>
                </a:lnTo>
                <a:lnTo>
                  <a:pt x="25781" y="1749933"/>
                </a:lnTo>
                <a:lnTo>
                  <a:pt x="881926" y="1906181"/>
                </a:lnTo>
                <a:lnTo>
                  <a:pt x="13335" y="2348674"/>
                </a:lnTo>
                <a:lnTo>
                  <a:pt x="16268" y="2354376"/>
                </a:lnTo>
                <a:lnTo>
                  <a:pt x="17272" y="2360523"/>
                </a:lnTo>
                <a:lnTo>
                  <a:pt x="1703222" y="2083828"/>
                </a:lnTo>
                <a:lnTo>
                  <a:pt x="1702435" y="2088184"/>
                </a:lnTo>
                <a:lnTo>
                  <a:pt x="1712620" y="2085225"/>
                </a:lnTo>
                <a:lnTo>
                  <a:pt x="1717294" y="2113686"/>
                </a:lnTo>
                <a:lnTo>
                  <a:pt x="1780705" y="2067763"/>
                </a:lnTo>
                <a:lnTo>
                  <a:pt x="1786255" y="2063750"/>
                </a:lnTo>
                <a:lnTo>
                  <a:pt x="1781340" y="2062226"/>
                </a:lnTo>
                <a:lnTo>
                  <a:pt x="1777352" y="2059228"/>
                </a:lnTo>
                <a:lnTo>
                  <a:pt x="1716151" y="2013229"/>
                </a:lnTo>
                <a:lnTo>
                  <a:pt x="1711172" y="2040420"/>
                </a:lnTo>
                <a:lnTo>
                  <a:pt x="1708061" y="2039454"/>
                </a:lnTo>
                <a:lnTo>
                  <a:pt x="1708061" y="2057387"/>
                </a:lnTo>
                <a:lnTo>
                  <a:pt x="1705660" y="2070557"/>
                </a:lnTo>
                <a:lnTo>
                  <a:pt x="55765" y="2341359"/>
                </a:lnTo>
                <a:lnTo>
                  <a:pt x="902677" y="1909965"/>
                </a:lnTo>
                <a:lnTo>
                  <a:pt x="1707984" y="2056917"/>
                </a:lnTo>
                <a:lnTo>
                  <a:pt x="1708061" y="2057387"/>
                </a:lnTo>
                <a:lnTo>
                  <a:pt x="1708061" y="2039454"/>
                </a:lnTo>
                <a:lnTo>
                  <a:pt x="1704975" y="2038489"/>
                </a:lnTo>
                <a:lnTo>
                  <a:pt x="1705800" y="2043607"/>
                </a:lnTo>
                <a:lnTo>
                  <a:pt x="921308" y="1900466"/>
                </a:lnTo>
                <a:lnTo>
                  <a:pt x="1721332" y="1492948"/>
                </a:lnTo>
                <a:lnTo>
                  <a:pt x="1735709" y="1521206"/>
                </a:lnTo>
                <a:lnTo>
                  <a:pt x="1769211" y="1475740"/>
                </a:lnTo>
                <a:lnTo>
                  <a:pt x="1786255" y="1452626"/>
                </a:lnTo>
                <a:lnTo>
                  <a:pt x="1783562" y="1452651"/>
                </a:lnTo>
                <a:lnTo>
                  <a:pt x="1781937" y="1451432"/>
                </a:lnTo>
                <a:lnTo>
                  <a:pt x="1786763" y="1452499"/>
                </a:lnTo>
                <a:lnTo>
                  <a:pt x="1770900" y="1417447"/>
                </a:lnTo>
                <a:lnTo>
                  <a:pt x="1751711" y="1375029"/>
                </a:lnTo>
                <a:lnTo>
                  <a:pt x="1731683" y="1399667"/>
                </a:lnTo>
                <a:lnTo>
                  <a:pt x="1715833" y="1386814"/>
                </a:lnTo>
                <a:lnTo>
                  <a:pt x="1715833" y="1403096"/>
                </a:lnTo>
                <a:lnTo>
                  <a:pt x="1715516" y="1404874"/>
                </a:lnTo>
                <a:lnTo>
                  <a:pt x="1715516" y="1481505"/>
                </a:lnTo>
                <a:lnTo>
                  <a:pt x="900557" y="1896681"/>
                </a:lnTo>
                <a:lnTo>
                  <a:pt x="46316" y="1740827"/>
                </a:lnTo>
                <a:lnTo>
                  <a:pt x="902322" y="1300213"/>
                </a:lnTo>
                <a:lnTo>
                  <a:pt x="1708175" y="1445793"/>
                </a:lnTo>
                <a:lnTo>
                  <a:pt x="1706841" y="1453222"/>
                </a:lnTo>
                <a:lnTo>
                  <a:pt x="1701165" y="1453261"/>
                </a:lnTo>
                <a:lnTo>
                  <a:pt x="1705356" y="1461528"/>
                </a:lnTo>
                <a:lnTo>
                  <a:pt x="1702562" y="1477137"/>
                </a:lnTo>
                <a:lnTo>
                  <a:pt x="1711896" y="1474393"/>
                </a:lnTo>
                <a:lnTo>
                  <a:pt x="1715516" y="1481505"/>
                </a:lnTo>
                <a:lnTo>
                  <a:pt x="1715516" y="1404874"/>
                </a:lnTo>
                <a:lnTo>
                  <a:pt x="1712137" y="1423708"/>
                </a:lnTo>
                <a:lnTo>
                  <a:pt x="1705063" y="1432407"/>
                </a:lnTo>
                <a:lnTo>
                  <a:pt x="920775" y="1290713"/>
                </a:lnTo>
                <a:lnTo>
                  <a:pt x="1322412" y="1083983"/>
                </a:lnTo>
                <a:lnTo>
                  <a:pt x="1715833" y="1403096"/>
                </a:lnTo>
                <a:lnTo>
                  <a:pt x="1715833" y="1386814"/>
                </a:lnTo>
                <a:lnTo>
                  <a:pt x="1334706" y="1077658"/>
                </a:lnTo>
                <a:lnTo>
                  <a:pt x="1733410" y="872439"/>
                </a:lnTo>
                <a:lnTo>
                  <a:pt x="1734693" y="879856"/>
                </a:lnTo>
                <a:lnTo>
                  <a:pt x="1741170" y="875080"/>
                </a:lnTo>
                <a:lnTo>
                  <a:pt x="1752981" y="898017"/>
                </a:lnTo>
                <a:lnTo>
                  <a:pt x="1786166" y="852678"/>
                </a:lnTo>
                <a:lnTo>
                  <a:pt x="1803171" y="829449"/>
                </a:lnTo>
                <a:lnTo>
                  <a:pt x="1805305" y="828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98473" y="3624579"/>
            <a:ext cx="1323340" cy="2353945"/>
          </a:xfrm>
          <a:custGeom>
            <a:avLst/>
            <a:gdLst/>
            <a:ahLst/>
            <a:cxnLst/>
            <a:rect l="l" t="t" r="r" b="b"/>
            <a:pathLst>
              <a:path w="1323339" h="2353945">
                <a:moveTo>
                  <a:pt x="1323340" y="613664"/>
                </a:moveTo>
                <a:lnTo>
                  <a:pt x="1310652" y="607314"/>
                </a:lnTo>
                <a:lnTo>
                  <a:pt x="1247267" y="575564"/>
                </a:lnTo>
                <a:lnTo>
                  <a:pt x="1247203" y="607301"/>
                </a:lnTo>
                <a:lnTo>
                  <a:pt x="32854" y="605828"/>
                </a:lnTo>
                <a:lnTo>
                  <a:pt x="1255255" y="40284"/>
                </a:lnTo>
                <a:lnTo>
                  <a:pt x="1268603" y="69088"/>
                </a:lnTo>
                <a:lnTo>
                  <a:pt x="1305052" y="23495"/>
                </a:lnTo>
                <a:lnTo>
                  <a:pt x="1321816" y="2540"/>
                </a:lnTo>
                <a:lnTo>
                  <a:pt x="1236599" y="0"/>
                </a:lnTo>
                <a:lnTo>
                  <a:pt x="1249946" y="28841"/>
                </a:lnTo>
                <a:lnTo>
                  <a:pt x="1524" y="606425"/>
                </a:lnTo>
                <a:lnTo>
                  <a:pt x="4191" y="612140"/>
                </a:lnTo>
                <a:lnTo>
                  <a:pt x="1905" y="618109"/>
                </a:lnTo>
                <a:lnTo>
                  <a:pt x="1248587" y="1109294"/>
                </a:lnTo>
                <a:lnTo>
                  <a:pt x="1240726" y="1129284"/>
                </a:lnTo>
                <a:lnTo>
                  <a:pt x="1236726" y="1129157"/>
                </a:lnTo>
                <a:lnTo>
                  <a:pt x="1238897" y="1133906"/>
                </a:lnTo>
                <a:lnTo>
                  <a:pt x="1236980" y="1138809"/>
                </a:lnTo>
                <a:lnTo>
                  <a:pt x="1240993" y="1138453"/>
                </a:lnTo>
                <a:lnTo>
                  <a:pt x="1249984" y="1157960"/>
                </a:lnTo>
                <a:lnTo>
                  <a:pt x="0" y="1734058"/>
                </a:lnTo>
                <a:lnTo>
                  <a:pt x="2667" y="1739849"/>
                </a:lnTo>
                <a:lnTo>
                  <a:pt x="0" y="1745615"/>
                </a:lnTo>
                <a:lnTo>
                  <a:pt x="1250061" y="2324811"/>
                </a:lnTo>
                <a:lnTo>
                  <a:pt x="1236726" y="2353627"/>
                </a:lnTo>
                <a:lnTo>
                  <a:pt x="1321816" y="2351087"/>
                </a:lnTo>
                <a:lnTo>
                  <a:pt x="1305128" y="2330158"/>
                </a:lnTo>
                <a:lnTo>
                  <a:pt x="1268730" y="2284488"/>
                </a:lnTo>
                <a:lnTo>
                  <a:pt x="1255395" y="2313279"/>
                </a:lnTo>
                <a:lnTo>
                  <a:pt x="31407" y="1746288"/>
                </a:lnTo>
                <a:lnTo>
                  <a:pt x="1245666" y="1747761"/>
                </a:lnTo>
                <a:lnTo>
                  <a:pt x="1245616" y="1779524"/>
                </a:lnTo>
                <a:lnTo>
                  <a:pt x="1309116" y="1747774"/>
                </a:lnTo>
                <a:lnTo>
                  <a:pt x="1321816" y="1741424"/>
                </a:lnTo>
                <a:lnTo>
                  <a:pt x="1309128" y="1735074"/>
                </a:lnTo>
                <a:lnTo>
                  <a:pt x="1245743" y="1703324"/>
                </a:lnTo>
                <a:lnTo>
                  <a:pt x="1245692" y="1733550"/>
                </a:lnTo>
                <a:lnTo>
                  <a:pt x="1245679" y="1735061"/>
                </a:lnTo>
                <a:lnTo>
                  <a:pt x="31445" y="1733588"/>
                </a:lnTo>
                <a:lnTo>
                  <a:pt x="1255306" y="1169517"/>
                </a:lnTo>
                <a:lnTo>
                  <a:pt x="1268603" y="1198372"/>
                </a:lnTo>
                <a:lnTo>
                  <a:pt x="1305153" y="1152652"/>
                </a:lnTo>
                <a:lnTo>
                  <a:pt x="1321816" y="1131824"/>
                </a:lnTo>
                <a:lnTo>
                  <a:pt x="1316570" y="1131671"/>
                </a:lnTo>
                <a:lnTo>
                  <a:pt x="1321816" y="1131189"/>
                </a:lnTo>
                <a:lnTo>
                  <a:pt x="1306296" y="1113917"/>
                </a:lnTo>
                <a:lnTo>
                  <a:pt x="1264920" y="1067816"/>
                </a:lnTo>
                <a:lnTo>
                  <a:pt x="1253248" y="1097470"/>
                </a:lnTo>
                <a:lnTo>
                  <a:pt x="37833" y="618540"/>
                </a:lnTo>
                <a:lnTo>
                  <a:pt x="1247190" y="620001"/>
                </a:lnTo>
                <a:lnTo>
                  <a:pt x="1247140" y="651764"/>
                </a:lnTo>
                <a:lnTo>
                  <a:pt x="1310640" y="620014"/>
                </a:lnTo>
                <a:lnTo>
                  <a:pt x="1323340" y="6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D228795-7B81-9B5A-3292-6AD9FE9AE6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Xác</a:t>
            </a:r>
            <a:r>
              <a:rPr spc="-65" dirty="0"/>
              <a:t> </a:t>
            </a:r>
            <a:r>
              <a:rPr dirty="0"/>
              <a:t>định</a:t>
            </a:r>
            <a:r>
              <a:rPr spc="-55" dirty="0"/>
              <a:t> </a:t>
            </a:r>
            <a:r>
              <a:rPr dirty="0"/>
              <a:t>tất</a:t>
            </a:r>
            <a:r>
              <a:rPr spc="-60" dirty="0"/>
              <a:t> </a:t>
            </a:r>
            <a:r>
              <a:rPr dirty="0"/>
              <a:t>cả</a:t>
            </a:r>
            <a:r>
              <a:rPr spc="-70" dirty="0"/>
              <a:t> </a:t>
            </a:r>
            <a:r>
              <a:rPr dirty="0"/>
              <a:t>các</a:t>
            </a:r>
            <a:r>
              <a:rPr spc="-60" dirty="0"/>
              <a:t> </a:t>
            </a:r>
            <a:r>
              <a:rPr dirty="0"/>
              <a:t>khóa</a:t>
            </a:r>
            <a:r>
              <a:rPr spc="-55" dirty="0"/>
              <a:t> </a:t>
            </a:r>
            <a:r>
              <a:rPr dirty="0"/>
              <a:t>của</a:t>
            </a:r>
            <a:r>
              <a:rPr spc="-65" dirty="0"/>
              <a:t> </a:t>
            </a:r>
            <a:r>
              <a:rPr dirty="0"/>
              <a:t>lược</a:t>
            </a:r>
            <a:r>
              <a:rPr spc="-65" dirty="0"/>
              <a:t> </a:t>
            </a:r>
            <a:r>
              <a:rPr spc="-25" dirty="0"/>
              <a:t>đồ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26668"/>
            <a:ext cx="8300720" cy="441769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77825" marR="257175" indent="-340360">
              <a:lnSpc>
                <a:spcPts val="3340"/>
              </a:lnSpc>
              <a:spcBef>
                <a:spcPts val="630"/>
              </a:spcBef>
              <a:buFont typeface="Wingdings"/>
              <a:buChar char=""/>
              <a:tabLst>
                <a:tab pos="377825" algn="l"/>
              </a:tabLst>
            </a:pPr>
            <a:r>
              <a:rPr sz="3200" dirty="0">
                <a:latin typeface="Arial"/>
                <a:cs typeface="Arial"/>
              </a:rPr>
              <a:t>VT</a:t>
            </a:r>
            <a:r>
              <a:rPr sz="3150" baseline="-21164" dirty="0">
                <a:latin typeface="Arial"/>
                <a:cs typeface="Arial"/>
              </a:rPr>
              <a:t>F</a:t>
            </a:r>
            <a:r>
              <a:rPr sz="3150" spc="419" baseline="-2116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Tập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hợp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thuộc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tính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ở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vế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trái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các </a:t>
            </a:r>
            <a:r>
              <a:rPr sz="3200" dirty="0">
                <a:latin typeface="Arial"/>
                <a:cs typeface="Arial"/>
              </a:rPr>
              <a:t>PTH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F</a:t>
            </a:r>
            <a:endParaRPr sz="3200">
              <a:latin typeface="Arial"/>
              <a:cs typeface="Arial"/>
            </a:endParaRPr>
          </a:p>
          <a:p>
            <a:pPr marL="377825" marR="30480" indent="-340360">
              <a:lnSpc>
                <a:spcPts val="3350"/>
              </a:lnSpc>
              <a:spcBef>
                <a:spcPts val="790"/>
              </a:spcBef>
              <a:buFont typeface="Wingdings"/>
              <a:buChar char=""/>
              <a:tabLst>
                <a:tab pos="377825" algn="l"/>
              </a:tabLst>
            </a:pPr>
            <a:r>
              <a:rPr sz="3200" dirty="0">
                <a:latin typeface="Arial"/>
                <a:cs typeface="Arial"/>
              </a:rPr>
              <a:t>VP</a:t>
            </a:r>
            <a:r>
              <a:rPr sz="3150" baseline="-21164" dirty="0">
                <a:latin typeface="Arial"/>
                <a:cs typeface="Arial"/>
              </a:rPr>
              <a:t>F</a:t>
            </a:r>
            <a:r>
              <a:rPr sz="3150" spc="427" baseline="-2116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Tập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hợp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thuộc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tính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ở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vế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phải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các </a:t>
            </a:r>
            <a:r>
              <a:rPr sz="3200" dirty="0">
                <a:latin typeface="Arial"/>
                <a:cs typeface="Arial"/>
              </a:rPr>
              <a:t>PTH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F</a:t>
            </a:r>
            <a:endParaRPr sz="32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377825" algn="l"/>
              </a:tabLst>
            </a:pPr>
            <a:r>
              <a:rPr sz="3200" dirty="0">
                <a:latin typeface="Arial"/>
                <a:cs typeface="Arial"/>
              </a:rPr>
              <a:t>N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VP</a:t>
            </a:r>
            <a:r>
              <a:rPr sz="3150" spc="-37" baseline="-21164" dirty="0">
                <a:latin typeface="Arial"/>
                <a:cs typeface="Arial"/>
              </a:rPr>
              <a:t>F</a:t>
            </a:r>
            <a:endParaRPr sz="3150" baseline="-21164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377825" algn="l"/>
              </a:tabLst>
            </a:pPr>
            <a:r>
              <a:rPr sz="3200" dirty="0">
                <a:latin typeface="Arial"/>
                <a:cs typeface="Arial"/>
              </a:rPr>
              <a:t>D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(N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Symbol"/>
                <a:cs typeface="Symbol"/>
              </a:rPr>
              <a:t>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Arial"/>
                <a:cs typeface="Arial"/>
              </a:rPr>
              <a:t>VT</a:t>
            </a:r>
            <a:r>
              <a:rPr sz="3150" spc="-30" baseline="-21164" dirty="0">
                <a:latin typeface="Arial"/>
                <a:cs typeface="Arial"/>
              </a:rPr>
              <a:t>F</a:t>
            </a:r>
            <a:r>
              <a:rPr sz="3200" spc="-20" dirty="0"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377825" algn="l"/>
              </a:tabLst>
            </a:pPr>
            <a:r>
              <a:rPr sz="3200" dirty="0">
                <a:latin typeface="Arial"/>
                <a:cs typeface="Arial"/>
              </a:rPr>
              <a:t>L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Symbol"/>
                <a:cs typeface="Symbol"/>
              </a:rPr>
              <a:t>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Arial"/>
                <a:cs typeface="Arial"/>
              </a:rPr>
              <a:t>D)</a:t>
            </a:r>
            <a:endParaRPr sz="3200">
              <a:latin typeface="Arial"/>
              <a:cs typeface="Arial"/>
            </a:endParaRPr>
          </a:p>
          <a:p>
            <a:pPr marL="377825" marR="501015" indent="-340360">
              <a:lnSpc>
                <a:spcPts val="3340"/>
              </a:lnSpc>
              <a:spcBef>
                <a:spcPts val="830"/>
              </a:spcBef>
              <a:buFont typeface="Wingdings"/>
              <a:buChar char=""/>
              <a:tabLst>
                <a:tab pos="377825" algn="l"/>
              </a:tabLst>
            </a:pPr>
            <a:r>
              <a:rPr sz="3200" dirty="0">
                <a:latin typeface="Arial"/>
                <a:cs typeface="Arial"/>
              </a:rPr>
              <a:t>Nếu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là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khóa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thì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tồn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tại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</a:t>
            </a:r>
            <a:r>
              <a:rPr sz="3150" baseline="-21164" dirty="0">
                <a:latin typeface="Arial"/>
                <a:cs typeface="Arial"/>
              </a:rPr>
              <a:t>i</a:t>
            </a:r>
            <a:r>
              <a:rPr sz="3150" spc="450" baseline="-21164" dirty="0">
                <a:latin typeface="Arial"/>
                <a:cs typeface="Arial"/>
              </a:rPr>
              <a:t> </a:t>
            </a:r>
            <a:r>
              <a:rPr sz="3200" dirty="0">
                <a:latin typeface="Symbol"/>
                <a:cs typeface="Symbol"/>
              </a:rPr>
              <a:t>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Arial"/>
                <a:cs typeface="Arial"/>
              </a:rPr>
              <a:t>L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sao </a:t>
            </a:r>
            <a:r>
              <a:rPr sz="3200" dirty="0">
                <a:latin typeface="Arial"/>
                <a:cs typeface="Arial"/>
              </a:rPr>
              <a:t>cho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Symbol"/>
                <a:cs typeface="Symbol"/>
              </a:rPr>
              <a:t>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Arial"/>
                <a:cs typeface="Arial"/>
              </a:rPr>
              <a:t>L</a:t>
            </a:r>
            <a:r>
              <a:rPr sz="3150" spc="-37" baseline="-21164" dirty="0">
                <a:latin typeface="Arial"/>
                <a:cs typeface="Arial"/>
              </a:rPr>
              <a:t>i</a:t>
            </a:r>
            <a:r>
              <a:rPr sz="3200" spc="-25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C1C92-F5DE-7220-2EC3-2EA5C20408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90" dirty="0"/>
              <a:t> </a:t>
            </a:r>
            <a:r>
              <a:rPr dirty="0"/>
              <a:t>dung</a:t>
            </a:r>
            <a:r>
              <a:rPr spc="-70" dirty="0"/>
              <a:t> </a:t>
            </a:r>
            <a:r>
              <a:rPr dirty="0"/>
              <a:t>trình</a:t>
            </a:r>
            <a:r>
              <a:rPr spc="-75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7783830" cy="23831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Nguyên</a:t>
            </a:r>
            <a:r>
              <a:rPr sz="3200" spc="-4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tắc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thiết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kế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các</a:t>
            </a:r>
            <a:r>
              <a:rPr sz="3200" spc="-1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lược</a:t>
            </a:r>
            <a:r>
              <a:rPr sz="3200" spc="-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đồ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quan</a:t>
            </a:r>
            <a:r>
              <a:rPr sz="3200" spc="-25" dirty="0">
                <a:solidFill>
                  <a:srgbClr val="A6A6A6"/>
                </a:solidFill>
                <a:latin typeface="Arial"/>
                <a:cs typeface="Arial"/>
              </a:rPr>
              <a:t> hệ.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Phụ</a:t>
            </a:r>
            <a:r>
              <a:rPr sz="3200" spc="-4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thuộc</a:t>
            </a:r>
            <a:r>
              <a:rPr sz="3200" spc="-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hàm.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dạng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chuẩn.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Một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số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thuật</a:t>
            </a:r>
            <a:r>
              <a:rPr sz="3200" spc="-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toán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chuẩn</a:t>
            </a:r>
            <a:r>
              <a:rPr sz="3200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hóa.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A8363-5946-CB5D-C3C2-7063FAE7C2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Chuẩn</a:t>
            </a:r>
            <a:r>
              <a:rPr spc="-75" dirty="0"/>
              <a:t> </a:t>
            </a:r>
            <a:r>
              <a:rPr dirty="0"/>
              <a:t>hóa</a:t>
            </a:r>
            <a:r>
              <a:rPr spc="-75" dirty="0"/>
              <a:t> </a:t>
            </a:r>
            <a:r>
              <a:rPr dirty="0"/>
              <a:t>lược</a:t>
            </a:r>
            <a:r>
              <a:rPr spc="-75" dirty="0"/>
              <a:t> </a:t>
            </a:r>
            <a:r>
              <a:rPr dirty="0"/>
              <a:t>đồ</a:t>
            </a:r>
            <a:r>
              <a:rPr spc="-80" dirty="0"/>
              <a:t> </a:t>
            </a:r>
            <a:r>
              <a:rPr spc="-20" dirty="0"/>
              <a:t>CSDL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8423275" cy="42862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Chuẩn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hóa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là</a:t>
            </a:r>
            <a:r>
              <a:rPr sz="3200" spc="-25" dirty="0">
                <a:latin typeface="Arial"/>
                <a:cs typeface="Arial"/>
              </a:rPr>
              <a:t> gì?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dạng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chuẩn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là</a:t>
            </a:r>
            <a:r>
              <a:rPr sz="3200" spc="-25" dirty="0">
                <a:latin typeface="Arial"/>
                <a:cs typeface="Arial"/>
              </a:rPr>
              <a:t> gì?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dạng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chuẩn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Dạng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(1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Normal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Form -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1NF).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0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Dạng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(2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Normal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Form -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2NF).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Dạng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3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(3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Normal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Form -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3NF).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Dạng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Boyce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(Boyce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Normal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Form</a:t>
            </a:r>
            <a:endParaRPr sz="28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-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BCNF).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2042F-A278-B6F3-B976-771B833B3A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75" dirty="0"/>
              <a:t> </a:t>
            </a:r>
            <a:r>
              <a:rPr dirty="0"/>
              <a:t>chuẩn</a:t>
            </a:r>
            <a:r>
              <a:rPr spc="-75" dirty="0"/>
              <a:t> </a:t>
            </a:r>
            <a:r>
              <a:rPr dirty="0"/>
              <a:t>1</a:t>
            </a:r>
            <a:r>
              <a:rPr spc="-90" dirty="0"/>
              <a:t> </a:t>
            </a:r>
            <a:r>
              <a:rPr spc="-25" dirty="0"/>
              <a:t>(1)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99" y="2448863"/>
          <a:ext cx="5017770" cy="1429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CacTruso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Tan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Binh,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Hanh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chinh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987654321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Go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4699" y="4477308"/>
          <a:ext cx="5147310" cy="145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Truso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Tan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Nghien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cuu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Hanh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chinh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987654321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Go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082028" y="2886455"/>
            <a:ext cx="1562100" cy="643255"/>
          </a:xfrm>
          <a:custGeom>
            <a:avLst/>
            <a:gdLst/>
            <a:ahLst/>
            <a:cxnLst/>
            <a:rect l="l" t="t" r="r" b="b"/>
            <a:pathLst>
              <a:path w="1562100" h="643254">
                <a:moveTo>
                  <a:pt x="0" y="107188"/>
                </a:moveTo>
                <a:lnTo>
                  <a:pt x="8425" y="65472"/>
                </a:lnTo>
                <a:lnTo>
                  <a:pt x="31400" y="31400"/>
                </a:lnTo>
                <a:lnTo>
                  <a:pt x="65472" y="8425"/>
                </a:lnTo>
                <a:lnTo>
                  <a:pt x="107188" y="0"/>
                </a:lnTo>
                <a:lnTo>
                  <a:pt x="1454912" y="0"/>
                </a:lnTo>
                <a:lnTo>
                  <a:pt x="1496627" y="8425"/>
                </a:lnTo>
                <a:lnTo>
                  <a:pt x="1530699" y="31400"/>
                </a:lnTo>
                <a:lnTo>
                  <a:pt x="1553674" y="65472"/>
                </a:lnTo>
                <a:lnTo>
                  <a:pt x="1562100" y="107188"/>
                </a:lnTo>
                <a:lnTo>
                  <a:pt x="1562100" y="535940"/>
                </a:lnTo>
                <a:lnTo>
                  <a:pt x="1553674" y="577655"/>
                </a:lnTo>
                <a:lnTo>
                  <a:pt x="1530699" y="611727"/>
                </a:lnTo>
                <a:lnTo>
                  <a:pt x="1496627" y="634702"/>
                </a:lnTo>
                <a:lnTo>
                  <a:pt x="1454912" y="643128"/>
                </a:lnTo>
                <a:lnTo>
                  <a:pt x="107188" y="643128"/>
                </a:lnTo>
                <a:lnTo>
                  <a:pt x="65472" y="634702"/>
                </a:lnTo>
                <a:lnTo>
                  <a:pt x="31400" y="611727"/>
                </a:lnTo>
                <a:lnTo>
                  <a:pt x="8425" y="577655"/>
                </a:lnTo>
                <a:lnTo>
                  <a:pt x="0" y="535940"/>
                </a:lnTo>
                <a:lnTo>
                  <a:pt x="0" y="107188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83352" y="3163697"/>
            <a:ext cx="1530350" cy="76200"/>
          </a:xfrm>
          <a:custGeom>
            <a:avLst/>
            <a:gdLst/>
            <a:ahLst/>
            <a:cxnLst/>
            <a:rect l="l" t="t" r="r" b="b"/>
            <a:pathLst>
              <a:path w="1530350" h="76200">
                <a:moveTo>
                  <a:pt x="1530096" y="30352"/>
                </a:moveTo>
                <a:lnTo>
                  <a:pt x="1479296" y="30352"/>
                </a:lnTo>
                <a:lnTo>
                  <a:pt x="1479296" y="43052"/>
                </a:lnTo>
                <a:lnTo>
                  <a:pt x="1530096" y="43052"/>
                </a:lnTo>
                <a:lnTo>
                  <a:pt x="1530096" y="30352"/>
                </a:lnTo>
                <a:close/>
              </a:path>
              <a:path w="1530350" h="76200">
                <a:moveTo>
                  <a:pt x="1441196" y="30479"/>
                </a:moveTo>
                <a:lnTo>
                  <a:pt x="1390396" y="30479"/>
                </a:lnTo>
                <a:lnTo>
                  <a:pt x="1390396" y="43179"/>
                </a:lnTo>
                <a:lnTo>
                  <a:pt x="1441196" y="43179"/>
                </a:lnTo>
                <a:lnTo>
                  <a:pt x="1441196" y="30479"/>
                </a:lnTo>
                <a:close/>
              </a:path>
              <a:path w="1530350" h="76200">
                <a:moveTo>
                  <a:pt x="1352296" y="30606"/>
                </a:moveTo>
                <a:lnTo>
                  <a:pt x="1301496" y="30606"/>
                </a:lnTo>
                <a:lnTo>
                  <a:pt x="1301496" y="43306"/>
                </a:lnTo>
                <a:lnTo>
                  <a:pt x="1352296" y="43306"/>
                </a:lnTo>
                <a:lnTo>
                  <a:pt x="1352296" y="30606"/>
                </a:lnTo>
                <a:close/>
              </a:path>
              <a:path w="1530350" h="76200">
                <a:moveTo>
                  <a:pt x="1263396" y="30606"/>
                </a:moveTo>
                <a:lnTo>
                  <a:pt x="1212596" y="30606"/>
                </a:lnTo>
                <a:lnTo>
                  <a:pt x="1212596" y="43306"/>
                </a:lnTo>
                <a:lnTo>
                  <a:pt x="1263396" y="43306"/>
                </a:lnTo>
                <a:lnTo>
                  <a:pt x="1263396" y="30606"/>
                </a:lnTo>
                <a:close/>
              </a:path>
              <a:path w="1530350" h="76200">
                <a:moveTo>
                  <a:pt x="1174496" y="30733"/>
                </a:moveTo>
                <a:lnTo>
                  <a:pt x="1123696" y="30733"/>
                </a:lnTo>
                <a:lnTo>
                  <a:pt x="1123696" y="43433"/>
                </a:lnTo>
                <a:lnTo>
                  <a:pt x="1174496" y="43433"/>
                </a:lnTo>
                <a:lnTo>
                  <a:pt x="1174496" y="30733"/>
                </a:lnTo>
                <a:close/>
              </a:path>
              <a:path w="1530350" h="76200">
                <a:moveTo>
                  <a:pt x="1085596" y="30733"/>
                </a:moveTo>
                <a:lnTo>
                  <a:pt x="1034796" y="30861"/>
                </a:lnTo>
                <a:lnTo>
                  <a:pt x="1034796" y="43561"/>
                </a:lnTo>
                <a:lnTo>
                  <a:pt x="1085596" y="43433"/>
                </a:lnTo>
                <a:lnTo>
                  <a:pt x="1085596" y="30733"/>
                </a:lnTo>
                <a:close/>
              </a:path>
              <a:path w="1530350" h="76200">
                <a:moveTo>
                  <a:pt x="996696" y="30987"/>
                </a:moveTo>
                <a:lnTo>
                  <a:pt x="945896" y="30987"/>
                </a:lnTo>
                <a:lnTo>
                  <a:pt x="945896" y="43687"/>
                </a:lnTo>
                <a:lnTo>
                  <a:pt x="996696" y="43687"/>
                </a:lnTo>
                <a:lnTo>
                  <a:pt x="996696" y="30987"/>
                </a:lnTo>
                <a:close/>
              </a:path>
              <a:path w="1530350" h="76200">
                <a:moveTo>
                  <a:pt x="907796" y="30987"/>
                </a:moveTo>
                <a:lnTo>
                  <a:pt x="856996" y="30987"/>
                </a:lnTo>
                <a:lnTo>
                  <a:pt x="856996" y="43687"/>
                </a:lnTo>
                <a:lnTo>
                  <a:pt x="907796" y="43687"/>
                </a:lnTo>
                <a:lnTo>
                  <a:pt x="907796" y="30987"/>
                </a:lnTo>
                <a:close/>
              </a:path>
              <a:path w="1530350" h="76200">
                <a:moveTo>
                  <a:pt x="818896" y="31114"/>
                </a:moveTo>
                <a:lnTo>
                  <a:pt x="768096" y="31114"/>
                </a:lnTo>
                <a:lnTo>
                  <a:pt x="768096" y="43814"/>
                </a:lnTo>
                <a:lnTo>
                  <a:pt x="818896" y="43814"/>
                </a:lnTo>
                <a:lnTo>
                  <a:pt x="818896" y="31114"/>
                </a:lnTo>
                <a:close/>
              </a:path>
              <a:path w="1530350" h="76200">
                <a:moveTo>
                  <a:pt x="729996" y="31241"/>
                </a:moveTo>
                <a:lnTo>
                  <a:pt x="679196" y="31241"/>
                </a:lnTo>
                <a:lnTo>
                  <a:pt x="679196" y="43941"/>
                </a:lnTo>
                <a:lnTo>
                  <a:pt x="729996" y="43941"/>
                </a:lnTo>
                <a:lnTo>
                  <a:pt x="729996" y="31241"/>
                </a:lnTo>
                <a:close/>
              </a:path>
              <a:path w="1530350" h="76200">
                <a:moveTo>
                  <a:pt x="641096" y="31241"/>
                </a:moveTo>
                <a:lnTo>
                  <a:pt x="590296" y="31241"/>
                </a:lnTo>
                <a:lnTo>
                  <a:pt x="590296" y="43941"/>
                </a:lnTo>
                <a:lnTo>
                  <a:pt x="641096" y="43941"/>
                </a:lnTo>
                <a:lnTo>
                  <a:pt x="641096" y="31241"/>
                </a:lnTo>
                <a:close/>
              </a:path>
              <a:path w="1530350" h="76200">
                <a:moveTo>
                  <a:pt x="552196" y="31368"/>
                </a:moveTo>
                <a:lnTo>
                  <a:pt x="501396" y="31368"/>
                </a:lnTo>
                <a:lnTo>
                  <a:pt x="501396" y="44068"/>
                </a:lnTo>
                <a:lnTo>
                  <a:pt x="552196" y="44068"/>
                </a:lnTo>
                <a:lnTo>
                  <a:pt x="552196" y="31368"/>
                </a:lnTo>
                <a:close/>
              </a:path>
              <a:path w="1530350" h="76200">
                <a:moveTo>
                  <a:pt x="463296" y="31495"/>
                </a:moveTo>
                <a:lnTo>
                  <a:pt x="412496" y="31495"/>
                </a:lnTo>
                <a:lnTo>
                  <a:pt x="412496" y="44195"/>
                </a:lnTo>
                <a:lnTo>
                  <a:pt x="463296" y="44195"/>
                </a:lnTo>
                <a:lnTo>
                  <a:pt x="463296" y="31495"/>
                </a:lnTo>
                <a:close/>
              </a:path>
              <a:path w="1530350" h="76200">
                <a:moveTo>
                  <a:pt x="374396" y="31495"/>
                </a:moveTo>
                <a:lnTo>
                  <a:pt x="323596" y="31495"/>
                </a:lnTo>
                <a:lnTo>
                  <a:pt x="323596" y="44195"/>
                </a:lnTo>
                <a:lnTo>
                  <a:pt x="374396" y="44195"/>
                </a:lnTo>
                <a:lnTo>
                  <a:pt x="374396" y="31495"/>
                </a:lnTo>
                <a:close/>
              </a:path>
              <a:path w="1530350" h="76200">
                <a:moveTo>
                  <a:pt x="285496" y="31623"/>
                </a:moveTo>
                <a:lnTo>
                  <a:pt x="234696" y="31623"/>
                </a:lnTo>
                <a:lnTo>
                  <a:pt x="234696" y="44323"/>
                </a:lnTo>
                <a:lnTo>
                  <a:pt x="285496" y="44323"/>
                </a:lnTo>
                <a:lnTo>
                  <a:pt x="285496" y="31623"/>
                </a:lnTo>
                <a:close/>
              </a:path>
              <a:path w="1530350" h="76200">
                <a:moveTo>
                  <a:pt x="196596" y="31750"/>
                </a:moveTo>
                <a:lnTo>
                  <a:pt x="145796" y="31750"/>
                </a:lnTo>
                <a:lnTo>
                  <a:pt x="145796" y="44450"/>
                </a:lnTo>
                <a:lnTo>
                  <a:pt x="196596" y="44450"/>
                </a:lnTo>
                <a:lnTo>
                  <a:pt x="196596" y="31750"/>
                </a:lnTo>
                <a:close/>
              </a:path>
              <a:path w="1530350" h="76200">
                <a:moveTo>
                  <a:pt x="76200" y="0"/>
                </a:moveTo>
                <a:lnTo>
                  <a:pt x="0" y="38226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53035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530350" h="76200">
                <a:moveTo>
                  <a:pt x="107696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07696" y="44450"/>
                </a:lnTo>
                <a:lnTo>
                  <a:pt x="107696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21552" y="4988052"/>
            <a:ext cx="2261870" cy="368935"/>
          </a:xfrm>
          <a:custGeom>
            <a:avLst/>
            <a:gdLst/>
            <a:ahLst/>
            <a:cxnLst/>
            <a:rect l="l" t="t" r="r" b="b"/>
            <a:pathLst>
              <a:path w="2261870" h="368935">
                <a:moveTo>
                  <a:pt x="0" y="61468"/>
                </a:moveTo>
                <a:lnTo>
                  <a:pt x="4835" y="37558"/>
                </a:lnTo>
                <a:lnTo>
                  <a:pt x="18018" y="18018"/>
                </a:lnTo>
                <a:lnTo>
                  <a:pt x="37558" y="4835"/>
                </a:lnTo>
                <a:lnTo>
                  <a:pt x="61468" y="0"/>
                </a:lnTo>
                <a:lnTo>
                  <a:pt x="2200148" y="0"/>
                </a:lnTo>
                <a:lnTo>
                  <a:pt x="2224057" y="4835"/>
                </a:lnTo>
                <a:lnTo>
                  <a:pt x="2243597" y="18018"/>
                </a:lnTo>
                <a:lnTo>
                  <a:pt x="2256780" y="37558"/>
                </a:lnTo>
                <a:lnTo>
                  <a:pt x="2261616" y="61468"/>
                </a:lnTo>
                <a:lnTo>
                  <a:pt x="2261616" y="307340"/>
                </a:lnTo>
                <a:lnTo>
                  <a:pt x="2256780" y="331249"/>
                </a:lnTo>
                <a:lnTo>
                  <a:pt x="2243597" y="350789"/>
                </a:lnTo>
                <a:lnTo>
                  <a:pt x="2224057" y="363972"/>
                </a:lnTo>
                <a:lnTo>
                  <a:pt x="2200148" y="368808"/>
                </a:lnTo>
                <a:lnTo>
                  <a:pt x="61468" y="368808"/>
                </a:lnTo>
                <a:lnTo>
                  <a:pt x="37558" y="363972"/>
                </a:lnTo>
                <a:lnTo>
                  <a:pt x="18018" y="350789"/>
                </a:lnTo>
                <a:lnTo>
                  <a:pt x="4835" y="331249"/>
                </a:lnTo>
                <a:lnTo>
                  <a:pt x="0" y="307340"/>
                </a:lnTo>
                <a:lnTo>
                  <a:pt x="0" y="61468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5815" y="1093723"/>
            <a:ext cx="8395970" cy="422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và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đơn.</a:t>
            </a:r>
            <a:endParaRPr sz="24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2315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1800">
              <a:latin typeface="Arial"/>
              <a:cs typeface="Arial"/>
            </a:endParaRPr>
          </a:p>
          <a:p>
            <a:pPr marL="6898005" marR="10477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Không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thuộc </a:t>
            </a:r>
            <a:r>
              <a:rPr sz="1800" dirty="0">
                <a:latin typeface="Arial"/>
                <a:cs typeface="Arial"/>
              </a:rPr>
              <a:t>dạng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chuẩn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8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800">
              <a:latin typeface="Arial"/>
              <a:cs typeface="Arial"/>
            </a:endParaRPr>
          </a:p>
          <a:p>
            <a:pPr marR="180975" algn="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Thuộc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dạng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chuẩn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61659" y="5129657"/>
            <a:ext cx="628015" cy="76200"/>
          </a:xfrm>
          <a:custGeom>
            <a:avLst/>
            <a:gdLst/>
            <a:ahLst/>
            <a:cxnLst/>
            <a:rect l="l" t="t" r="r" b="b"/>
            <a:pathLst>
              <a:path w="628014" h="76200">
                <a:moveTo>
                  <a:pt x="627888" y="30480"/>
                </a:moveTo>
                <a:lnTo>
                  <a:pt x="577088" y="30480"/>
                </a:lnTo>
                <a:lnTo>
                  <a:pt x="577088" y="43180"/>
                </a:lnTo>
                <a:lnTo>
                  <a:pt x="627888" y="43180"/>
                </a:lnTo>
                <a:lnTo>
                  <a:pt x="627888" y="30480"/>
                </a:lnTo>
                <a:close/>
              </a:path>
              <a:path w="628014" h="76200">
                <a:moveTo>
                  <a:pt x="538988" y="30607"/>
                </a:moveTo>
                <a:lnTo>
                  <a:pt x="488188" y="30734"/>
                </a:lnTo>
                <a:lnTo>
                  <a:pt x="488188" y="43434"/>
                </a:lnTo>
                <a:lnTo>
                  <a:pt x="538988" y="43307"/>
                </a:lnTo>
                <a:lnTo>
                  <a:pt x="538988" y="30607"/>
                </a:lnTo>
                <a:close/>
              </a:path>
              <a:path w="628014" h="76200">
                <a:moveTo>
                  <a:pt x="450088" y="30861"/>
                </a:moveTo>
                <a:lnTo>
                  <a:pt x="399288" y="30861"/>
                </a:lnTo>
                <a:lnTo>
                  <a:pt x="399288" y="43561"/>
                </a:lnTo>
                <a:lnTo>
                  <a:pt x="450088" y="43561"/>
                </a:lnTo>
                <a:lnTo>
                  <a:pt x="450088" y="30861"/>
                </a:lnTo>
                <a:close/>
              </a:path>
              <a:path w="628014" h="76200">
                <a:moveTo>
                  <a:pt x="361188" y="30988"/>
                </a:moveTo>
                <a:lnTo>
                  <a:pt x="310388" y="31115"/>
                </a:lnTo>
                <a:lnTo>
                  <a:pt x="310388" y="43815"/>
                </a:lnTo>
                <a:lnTo>
                  <a:pt x="361188" y="43688"/>
                </a:lnTo>
                <a:lnTo>
                  <a:pt x="361188" y="30988"/>
                </a:lnTo>
                <a:close/>
              </a:path>
              <a:path w="628014" h="76200">
                <a:moveTo>
                  <a:pt x="272288" y="31369"/>
                </a:moveTo>
                <a:lnTo>
                  <a:pt x="221487" y="31369"/>
                </a:lnTo>
                <a:lnTo>
                  <a:pt x="221487" y="44069"/>
                </a:lnTo>
                <a:lnTo>
                  <a:pt x="272288" y="44069"/>
                </a:lnTo>
                <a:lnTo>
                  <a:pt x="272288" y="31369"/>
                </a:lnTo>
                <a:close/>
              </a:path>
              <a:path w="628014" h="76200">
                <a:moveTo>
                  <a:pt x="183387" y="31496"/>
                </a:moveTo>
                <a:lnTo>
                  <a:pt x="132587" y="31496"/>
                </a:lnTo>
                <a:lnTo>
                  <a:pt x="132587" y="44196"/>
                </a:lnTo>
                <a:lnTo>
                  <a:pt x="183387" y="44196"/>
                </a:lnTo>
                <a:lnTo>
                  <a:pt x="183387" y="31496"/>
                </a:lnTo>
                <a:close/>
              </a:path>
              <a:path w="628014" h="76200">
                <a:moveTo>
                  <a:pt x="76073" y="0"/>
                </a:moveTo>
                <a:lnTo>
                  <a:pt x="0" y="38227"/>
                </a:lnTo>
                <a:lnTo>
                  <a:pt x="76326" y="76200"/>
                </a:lnTo>
                <a:lnTo>
                  <a:pt x="76221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178" y="31750"/>
                </a:lnTo>
                <a:lnTo>
                  <a:pt x="76073" y="0"/>
                </a:lnTo>
                <a:close/>
              </a:path>
              <a:path w="628014" h="76200">
                <a:moveTo>
                  <a:pt x="76178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21" y="44450"/>
                </a:lnTo>
                <a:lnTo>
                  <a:pt x="76178" y="31750"/>
                </a:lnTo>
                <a:close/>
              </a:path>
              <a:path w="628014" h="76200">
                <a:moveTo>
                  <a:pt x="94487" y="31750"/>
                </a:moveTo>
                <a:lnTo>
                  <a:pt x="76178" y="31750"/>
                </a:lnTo>
                <a:lnTo>
                  <a:pt x="76221" y="44450"/>
                </a:lnTo>
                <a:lnTo>
                  <a:pt x="94487" y="44450"/>
                </a:lnTo>
                <a:lnTo>
                  <a:pt x="94487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55F8F4-6384-4530-5518-97E1FE0879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75" dirty="0"/>
              <a:t> </a:t>
            </a:r>
            <a:r>
              <a:rPr dirty="0"/>
              <a:t>chuẩn</a:t>
            </a:r>
            <a:r>
              <a:rPr spc="-75" dirty="0"/>
              <a:t> </a:t>
            </a:r>
            <a:r>
              <a:rPr dirty="0"/>
              <a:t>1</a:t>
            </a:r>
            <a:r>
              <a:rPr spc="-9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479790" cy="179514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Mọi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đều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1.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dẫn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trùng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lặp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liệu.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đó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gây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dị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47AE1-D501-A8A3-60D5-AA24CD6412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80" dirty="0"/>
              <a:t> </a:t>
            </a:r>
            <a:r>
              <a:rPr dirty="0"/>
              <a:t>chuẩn</a:t>
            </a:r>
            <a:r>
              <a:rPr spc="-75" dirty="0"/>
              <a:t> </a:t>
            </a:r>
            <a:r>
              <a:rPr dirty="0"/>
              <a:t>2</a:t>
            </a:r>
            <a:r>
              <a:rPr spc="-95" dirty="0"/>
              <a:t> </a:t>
            </a:r>
            <a:r>
              <a:rPr dirty="0"/>
              <a:t>theo</a:t>
            </a:r>
            <a:r>
              <a:rPr spc="-95" dirty="0"/>
              <a:t> </a:t>
            </a:r>
            <a:r>
              <a:rPr dirty="0"/>
              <a:t>khóa</a:t>
            </a:r>
            <a:r>
              <a:rPr spc="-70" dirty="0"/>
              <a:t> </a:t>
            </a:r>
            <a:r>
              <a:rPr dirty="0"/>
              <a:t>chính</a:t>
            </a:r>
            <a:r>
              <a:rPr spc="-9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0754" y="5104891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36899" y="4705908"/>
          <a:ext cx="538988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30754" y="5379211"/>
            <a:ext cx="457834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FD2 FD3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1051" y="4375784"/>
            <a:ext cx="149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NVIEN_DUAN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33723" y="5120435"/>
            <a:ext cx="1647189" cy="247650"/>
            <a:chOff x="3233723" y="5120435"/>
            <a:chExt cx="1647189" cy="247650"/>
          </a:xfrm>
        </p:grpSpPr>
        <p:sp>
          <p:nvSpPr>
            <p:cNvPr id="8" name="object 8"/>
            <p:cNvSpPr/>
            <p:nvPr/>
          </p:nvSpPr>
          <p:spPr>
            <a:xfrm>
              <a:off x="3240023" y="5126735"/>
              <a:ext cx="1595755" cy="234950"/>
            </a:xfrm>
            <a:custGeom>
              <a:avLst/>
              <a:gdLst/>
              <a:ahLst/>
              <a:cxnLst/>
              <a:rect l="l" t="t" r="r" b="b"/>
              <a:pathLst>
                <a:path w="1595754" h="234950">
                  <a:moveTo>
                    <a:pt x="0" y="233172"/>
                  </a:moveTo>
                  <a:lnTo>
                    <a:pt x="1595627" y="234695"/>
                  </a:lnTo>
                </a:path>
                <a:path w="1595754" h="234950">
                  <a:moveTo>
                    <a:pt x="0" y="0"/>
                  </a:moveTo>
                  <a:lnTo>
                    <a:pt x="1524" y="233172"/>
                  </a:lnTo>
                </a:path>
                <a:path w="1595754" h="234950">
                  <a:moveTo>
                    <a:pt x="713231" y="0"/>
                  </a:moveTo>
                  <a:lnTo>
                    <a:pt x="714755" y="233172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4155" y="5126735"/>
              <a:ext cx="76200" cy="23317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233723" y="5470955"/>
            <a:ext cx="2447290" cy="247650"/>
            <a:chOff x="3233723" y="5470955"/>
            <a:chExt cx="2447290" cy="247650"/>
          </a:xfrm>
        </p:grpSpPr>
        <p:sp>
          <p:nvSpPr>
            <p:cNvPr id="11" name="object 11"/>
            <p:cNvSpPr/>
            <p:nvPr/>
          </p:nvSpPr>
          <p:spPr>
            <a:xfrm>
              <a:off x="3240023" y="5477256"/>
              <a:ext cx="2402205" cy="234950"/>
            </a:xfrm>
            <a:custGeom>
              <a:avLst/>
              <a:gdLst/>
              <a:ahLst/>
              <a:cxnLst/>
              <a:rect l="l" t="t" r="r" b="b"/>
              <a:pathLst>
                <a:path w="2402204" h="234950">
                  <a:moveTo>
                    <a:pt x="0" y="233172"/>
                  </a:moveTo>
                  <a:lnTo>
                    <a:pt x="2401824" y="234696"/>
                  </a:lnTo>
                </a:path>
                <a:path w="2402204" h="234950">
                  <a:moveTo>
                    <a:pt x="0" y="0"/>
                  </a:moveTo>
                  <a:lnTo>
                    <a:pt x="1524" y="233172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4255" y="5477256"/>
              <a:ext cx="76200" cy="23321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946955" y="5844335"/>
            <a:ext cx="3651250" cy="247650"/>
            <a:chOff x="3946955" y="5844335"/>
            <a:chExt cx="3651250" cy="247650"/>
          </a:xfrm>
        </p:grpSpPr>
        <p:sp>
          <p:nvSpPr>
            <p:cNvPr id="14" name="object 14"/>
            <p:cNvSpPr/>
            <p:nvPr/>
          </p:nvSpPr>
          <p:spPr>
            <a:xfrm>
              <a:off x="3953256" y="5850635"/>
              <a:ext cx="3602990" cy="234950"/>
            </a:xfrm>
            <a:custGeom>
              <a:avLst/>
              <a:gdLst/>
              <a:ahLst/>
              <a:cxnLst/>
              <a:rect l="l" t="t" r="r" b="b"/>
              <a:pathLst>
                <a:path w="3602990" h="234950">
                  <a:moveTo>
                    <a:pt x="0" y="233171"/>
                  </a:moveTo>
                  <a:lnTo>
                    <a:pt x="3602736" y="234695"/>
                  </a:lnTo>
                </a:path>
                <a:path w="3602990" h="234950">
                  <a:moveTo>
                    <a:pt x="0" y="0"/>
                  </a:moveTo>
                  <a:lnTo>
                    <a:pt x="1524" y="233171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06464" y="5850635"/>
              <a:ext cx="76200" cy="23321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1447" y="5850635"/>
              <a:ext cx="76200" cy="23321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417885" y="3800665"/>
            <a:ext cx="3641725" cy="855344"/>
            <a:chOff x="4417885" y="3800665"/>
            <a:chExt cx="3641725" cy="855344"/>
          </a:xfrm>
        </p:grpSpPr>
        <p:sp>
          <p:nvSpPr>
            <p:cNvPr id="18" name="object 18"/>
            <p:cNvSpPr/>
            <p:nvPr/>
          </p:nvSpPr>
          <p:spPr>
            <a:xfrm>
              <a:off x="4422647" y="4498848"/>
              <a:ext cx="3581400" cy="152400"/>
            </a:xfrm>
            <a:custGeom>
              <a:avLst/>
              <a:gdLst/>
              <a:ahLst/>
              <a:cxnLst/>
              <a:rect l="l" t="t" r="r" b="b"/>
              <a:pathLst>
                <a:path w="3581400" h="152400">
                  <a:moveTo>
                    <a:pt x="0" y="152400"/>
                  </a:moveTo>
                  <a:lnTo>
                    <a:pt x="30331" y="118909"/>
                  </a:lnTo>
                  <a:lnTo>
                    <a:pt x="111777" y="92955"/>
                  </a:lnTo>
                  <a:lnTo>
                    <a:pt x="167191" y="83953"/>
                  </a:lnTo>
                  <a:lnTo>
                    <a:pt x="230012" y="78214"/>
                  </a:lnTo>
                  <a:lnTo>
                    <a:pt x="298450" y="76200"/>
                  </a:lnTo>
                  <a:lnTo>
                    <a:pt x="1492250" y="76200"/>
                  </a:lnTo>
                  <a:lnTo>
                    <a:pt x="1560687" y="74185"/>
                  </a:lnTo>
                  <a:lnTo>
                    <a:pt x="1623508" y="68446"/>
                  </a:lnTo>
                  <a:lnTo>
                    <a:pt x="1678922" y="59444"/>
                  </a:lnTo>
                  <a:lnTo>
                    <a:pt x="1725139" y="47639"/>
                  </a:lnTo>
                  <a:lnTo>
                    <a:pt x="1782818" y="17457"/>
                  </a:lnTo>
                  <a:lnTo>
                    <a:pt x="1790700" y="0"/>
                  </a:lnTo>
                  <a:lnTo>
                    <a:pt x="1798581" y="17457"/>
                  </a:lnTo>
                  <a:lnTo>
                    <a:pt x="1856260" y="47639"/>
                  </a:lnTo>
                  <a:lnTo>
                    <a:pt x="1902477" y="59444"/>
                  </a:lnTo>
                  <a:lnTo>
                    <a:pt x="1957891" y="68446"/>
                  </a:lnTo>
                  <a:lnTo>
                    <a:pt x="2020712" y="74185"/>
                  </a:lnTo>
                  <a:lnTo>
                    <a:pt x="2089150" y="76200"/>
                  </a:lnTo>
                  <a:lnTo>
                    <a:pt x="3282950" y="76200"/>
                  </a:lnTo>
                  <a:lnTo>
                    <a:pt x="3351387" y="78214"/>
                  </a:lnTo>
                  <a:lnTo>
                    <a:pt x="3414208" y="83953"/>
                  </a:lnTo>
                  <a:lnTo>
                    <a:pt x="3469622" y="92955"/>
                  </a:lnTo>
                  <a:lnTo>
                    <a:pt x="3515839" y="104760"/>
                  </a:lnTo>
                  <a:lnTo>
                    <a:pt x="3573518" y="134942"/>
                  </a:lnTo>
                  <a:lnTo>
                    <a:pt x="3581400" y="1524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51931" y="3805428"/>
              <a:ext cx="2502535" cy="368935"/>
            </a:xfrm>
            <a:custGeom>
              <a:avLst/>
              <a:gdLst/>
              <a:ahLst/>
              <a:cxnLst/>
              <a:rect l="l" t="t" r="r" b="b"/>
              <a:pathLst>
                <a:path w="2502534" h="368935">
                  <a:moveTo>
                    <a:pt x="0" y="61468"/>
                  </a:moveTo>
                  <a:lnTo>
                    <a:pt x="4835" y="37558"/>
                  </a:lnTo>
                  <a:lnTo>
                    <a:pt x="18018" y="18018"/>
                  </a:lnTo>
                  <a:lnTo>
                    <a:pt x="37558" y="4835"/>
                  </a:lnTo>
                  <a:lnTo>
                    <a:pt x="61467" y="0"/>
                  </a:lnTo>
                  <a:lnTo>
                    <a:pt x="2440940" y="0"/>
                  </a:lnTo>
                  <a:lnTo>
                    <a:pt x="2464849" y="4835"/>
                  </a:lnTo>
                  <a:lnTo>
                    <a:pt x="2484389" y="18018"/>
                  </a:lnTo>
                  <a:lnTo>
                    <a:pt x="2497572" y="37558"/>
                  </a:lnTo>
                  <a:lnTo>
                    <a:pt x="2502408" y="61468"/>
                  </a:lnTo>
                  <a:lnTo>
                    <a:pt x="2502408" y="307340"/>
                  </a:lnTo>
                  <a:lnTo>
                    <a:pt x="2497572" y="331249"/>
                  </a:lnTo>
                  <a:lnTo>
                    <a:pt x="2484389" y="350789"/>
                  </a:lnTo>
                  <a:lnTo>
                    <a:pt x="2464849" y="363972"/>
                  </a:lnTo>
                  <a:lnTo>
                    <a:pt x="2440940" y="368808"/>
                  </a:lnTo>
                  <a:lnTo>
                    <a:pt x="61467" y="368808"/>
                  </a:lnTo>
                  <a:lnTo>
                    <a:pt x="37558" y="363972"/>
                  </a:lnTo>
                  <a:lnTo>
                    <a:pt x="18018" y="350789"/>
                  </a:lnTo>
                  <a:lnTo>
                    <a:pt x="4835" y="331249"/>
                  </a:lnTo>
                  <a:lnTo>
                    <a:pt x="0" y="307340"/>
                  </a:lnTo>
                  <a:lnTo>
                    <a:pt x="0" y="6146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Lược</a:t>
            </a:r>
            <a:r>
              <a:rPr spc="-35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quan</a:t>
            </a:r>
            <a:r>
              <a:rPr spc="-25" dirty="0"/>
              <a:t> </a:t>
            </a:r>
            <a:r>
              <a:rPr dirty="0"/>
              <a:t>hệ</a:t>
            </a:r>
            <a:r>
              <a:rPr spc="-25" dirty="0"/>
              <a:t> </a:t>
            </a:r>
            <a:r>
              <a:rPr dirty="0"/>
              <a:t>R</a:t>
            </a:r>
            <a:r>
              <a:rPr spc="-10" dirty="0"/>
              <a:t> </a:t>
            </a:r>
            <a:r>
              <a:rPr dirty="0"/>
              <a:t>được</a:t>
            </a:r>
            <a:r>
              <a:rPr spc="-40" dirty="0"/>
              <a:t> </a:t>
            </a:r>
            <a:r>
              <a:rPr dirty="0"/>
              <a:t>gọi</a:t>
            </a:r>
            <a:r>
              <a:rPr spc="-10" dirty="0"/>
              <a:t> </a:t>
            </a:r>
            <a:r>
              <a:rPr dirty="0"/>
              <a:t>là</a:t>
            </a:r>
            <a:r>
              <a:rPr spc="-15" dirty="0"/>
              <a:t> </a:t>
            </a:r>
            <a:r>
              <a:rPr dirty="0"/>
              <a:t>thuộc</a:t>
            </a:r>
            <a:r>
              <a:rPr spc="-35" dirty="0"/>
              <a:t> </a:t>
            </a:r>
            <a:r>
              <a:rPr dirty="0"/>
              <a:t>dạng</a:t>
            </a:r>
            <a:r>
              <a:rPr spc="-25" dirty="0"/>
              <a:t> </a:t>
            </a:r>
            <a:r>
              <a:rPr dirty="0"/>
              <a:t>chuẩn</a:t>
            </a:r>
            <a:r>
              <a:rPr spc="-30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nếu</a:t>
            </a:r>
            <a:r>
              <a:rPr spc="-25" dirty="0"/>
              <a:t> </a:t>
            </a:r>
            <a:r>
              <a:rPr dirty="0"/>
              <a:t>mọi</a:t>
            </a:r>
            <a:r>
              <a:rPr spc="-10" dirty="0"/>
              <a:t> </a:t>
            </a:r>
            <a:r>
              <a:rPr dirty="0"/>
              <a:t>thuộc</a:t>
            </a:r>
            <a:r>
              <a:rPr spc="-30" dirty="0"/>
              <a:t> </a:t>
            </a:r>
            <a:r>
              <a:rPr spc="-20" dirty="0"/>
              <a:t>tính </a:t>
            </a:r>
            <a:r>
              <a:rPr dirty="0"/>
              <a:t>không</a:t>
            </a:r>
            <a:r>
              <a:rPr spc="-35" dirty="0"/>
              <a:t> </a:t>
            </a:r>
            <a:r>
              <a:rPr dirty="0"/>
              <a:t>khóa</a:t>
            </a:r>
            <a:r>
              <a:rPr spc="-3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R</a:t>
            </a:r>
            <a:r>
              <a:rPr spc="-5" dirty="0"/>
              <a:t> </a:t>
            </a:r>
            <a:r>
              <a:rPr dirty="0"/>
              <a:t>phụ</a:t>
            </a:r>
            <a:r>
              <a:rPr spc="-20" dirty="0"/>
              <a:t> </a:t>
            </a:r>
            <a:r>
              <a:rPr dirty="0"/>
              <a:t>thuộc</a:t>
            </a:r>
            <a:r>
              <a:rPr spc="-30" dirty="0"/>
              <a:t> </a:t>
            </a:r>
            <a:r>
              <a:rPr dirty="0"/>
              <a:t>đầy</a:t>
            </a:r>
            <a:r>
              <a:rPr spc="-30" dirty="0"/>
              <a:t> </a:t>
            </a:r>
            <a:r>
              <a:rPr dirty="0"/>
              <a:t>đủ</a:t>
            </a:r>
            <a:r>
              <a:rPr spc="-20" dirty="0"/>
              <a:t> </a:t>
            </a:r>
            <a:r>
              <a:rPr dirty="0"/>
              <a:t>vào</a:t>
            </a:r>
            <a:r>
              <a:rPr spc="-15" dirty="0"/>
              <a:t> </a:t>
            </a:r>
            <a:r>
              <a:rPr dirty="0"/>
              <a:t>khóa</a:t>
            </a:r>
            <a:r>
              <a:rPr spc="-30" dirty="0"/>
              <a:t> </a:t>
            </a:r>
            <a:r>
              <a:rPr dirty="0"/>
              <a:t>chính</a:t>
            </a:r>
            <a:r>
              <a:rPr spc="-35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spc="-25" dirty="0"/>
              <a:t>R.</a:t>
            </a:r>
          </a:p>
          <a:p>
            <a:pPr marL="352425" indent="-339725">
              <a:lnSpc>
                <a:spcPct val="100000"/>
              </a:lnSpc>
              <a:spcBef>
                <a:spcPts val="500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R(U),</a:t>
            </a:r>
            <a:r>
              <a:rPr spc="-45" dirty="0"/>
              <a:t> </a:t>
            </a:r>
            <a:r>
              <a:rPr dirty="0"/>
              <a:t>K</a:t>
            </a:r>
            <a:r>
              <a:rPr spc="-15" dirty="0"/>
              <a:t> </a:t>
            </a:r>
            <a:r>
              <a:rPr dirty="0">
                <a:latin typeface="Symbol"/>
                <a:cs typeface="Symbol"/>
              </a:rPr>
              <a:t>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/>
              <a:t>U</a:t>
            </a:r>
            <a:r>
              <a:rPr spc="-20" dirty="0"/>
              <a:t> </a:t>
            </a:r>
            <a:r>
              <a:rPr dirty="0"/>
              <a:t>là</a:t>
            </a:r>
            <a:r>
              <a:rPr spc="-5" dirty="0"/>
              <a:t> </a:t>
            </a:r>
            <a:r>
              <a:rPr dirty="0"/>
              <a:t>khóa</a:t>
            </a:r>
            <a:r>
              <a:rPr spc="-25" dirty="0"/>
              <a:t> </a:t>
            </a:r>
            <a:r>
              <a:rPr dirty="0"/>
              <a:t>của</a:t>
            </a:r>
            <a:r>
              <a:rPr spc="-35" dirty="0"/>
              <a:t> </a:t>
            </a:r>
            <a:r>
              <a:rPr spc="-50" dirty="0"/>
              <a:t>R</a:t>
            </a:r>
          </a:p>
          <a:p>
            <a:pPr marL="751840" lvl="1" indent="-281940">
              <a:lnSpc>
                <a:spcPct val="100000"/>
              </a:lnSpc>
              <a:spcBef>
                <a:spcPts val="51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nếu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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K.</a:t>
            </a:r>
            <a:endParaRPr sz="1800">
              <a:latin typeface="Arial"/>
              <a:cs typeface="Arial"/>
            </a:endParaRPr>
          </a:p>
          <a:p>
            <a:pPr marL="751840" marR="470534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PTH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đầy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đủ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nếu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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thì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{A})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đúng trên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R. </a:t>
            </a:r>
            <a:r>
              <a:rPr sz="1800" dirty="0">
                <a:latin typeface="Arial"/>
                <a:cs typeface="Arial"/>
              </a:rPr>
              <a:t>Ngược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lại 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Y là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PTH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10" dirty="0">
                <a:latin typeface="Arial"/>
                <a:cs typeface="Arial"/>
              </a:rPr>
              <a:t> phận.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00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Ví</a:t>
            </a:r>
            <a:r>
              <a:rPr spc="-20" dirty="0"/>
              <a:t> </a:t>
            </a:r>
            <a:r>
              <a:rPr spc="-35" dirty="0"/>
              <a:t>dụ</a:t>
            </a: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pc="-35" dirty="0"/>
          </a:p>
          <a:p>
            <a:pPr marL="5336540">
              <a:lnSpc>
                <a:spcPct val="100000"/>
              </a:lnSpc>
            </a:pPr>
            <a:r>
              <a:rPr sz="1800" dirty="0"/>
              <a:t>Thuộc</a:t>
            </a:r>
            <a:r>
              <a:rPr sz="1800" spc="-30" dirty="0"/>
              <a:t> </a:t>
            </a:r>
            <a:r>
              <a:rPr sz="1800" dirty="0"/>
              <a:t>tính</a:t>
            </a:r>
            <a:r>
              <a:rPr sz="1800" spc="-25" dirty="0"/>
              <a:t> </a:t>
            </a:r>
            <a:r>
              <a:rPr sz="1800" dirty="0"/>
              <a:t>không</a:t>
            </a:r>
            <a:r>
              <a:rPr sz="1800" spc="-10" dirty="0"/>
              <a:t> </a:t>
            </a:r>
            <a:r>
              <a:rPr sz="1800" spc="-20" dirty="0"/>
              <a:t>khóa</a:t>
            </a:r>
            <a:endParaRPr sz="1800"/>
          </a:p>
        </p:txBody>
      </p:sp>
      <p:sp>
        <p:nvSpPr>
          <p:cNvPr id="21" name="object 21"/>
          <p:cNvSpPr/>
          <p:nvPr/>
        </p:nvSpPr>
        <p:spPr>
          <a:xfrm>
            <a:off x="4421123" y="4168013"/>
            <a:ext cx="2382520" cy="433070"/>
          </a:xfrm>
          <a:custGeom>
            <a:avLst/>
            <a:gdLst/>
            <a:ahLst/>
            <a:cxnLst/>
            <a:rect l="l" t="t" r="r" b="b"/>
            <a:pathLst>
              <a:path w="2382520" h="433070">
                <a:moveTo>
                  <a:pt x="2380233" y="0"/>
                </a:moveTo>
                <a:lnTo>
                  <a:pt x="2330069" y="8381"/>
                </a:lnTo>
                <a:lnTo>
                  <a:pt x="2332228" y="20955"/>
                </a:lnTo>
                <a:lnTo>
                  <a:pt x="2382266" y="12445"/>
                </a:lnTo>
                <a:lnTo>
                  <a:pt x="2380233" y="0"/>
                </a:lnTo>
                <a:close/>
              </a:path>
              <a:path w="2382520" h="433070">
                <a:moveTo>
                  <a:pt x="2292477" y="14731"/>
                </a:moveTo>
                <a:lnTo>
                  <a:pt x="2242439" y="23241"/>
                </a:lnTo>
                <a:lnTo>
                  <a:pt x="2244598" y="35687"/>
                </a:lnTo>
                <a:lnTo>
                  <a:pt x="2294635" y="27305"/>
                </a:lnTo>
                <a:lnTo>
                  <a:pt x="2292477" y="14731"/>
                </a:lnTo>
                <a:close/>
              </a:path>
              <a:path w="2382520" h="433070">
                <a:moveTo>
                  <a:pt x="2204847" y="29591"/>
                </a:moveTo>
                <a:lnTo>
                  <a:pt x="2154808" y="37973"/>
                </a:lnTo>
                <a:lnTo>
                  <a:pt x="2156841" y="50545"/>
                </a:lnTo>
                <a:lnTo>
                  <a:pt x="2207005" y="42037"/>
                </a:lnTo>
                <a:lnTo>
                  <a:pt x="2204847" y="29591"/>
                </a:lnTo>
                <a:close/>
              </a:path>
              <a:path w="2382520" h="433070">
                <a:moveTo>
                  <a:pt x="2117217" y="44323"/>
                </a:moveTo>
                <a:lnTo>
                  <a:pt x="2067178" y="52705"/>
                </a:lnTo>
                <a:lnTo>
                  <a:pt x="2069211" y="65278"/>
                </a:lnTo>
                <a:lnTo>
                  <a:pt x="2119376" y="56895"/>
                </a:lnTo>
                <a:lnTo>
                  <a:pt x="2117217" y="44323"/>
                </a:lnTo>
                <a:close/>
              </a:path>
              <a:path w="2382520" h="433070">
                <a:moveTo>
                  <a:pt x="2029587" y="59055"/>
                </a:moveTo>
                <a:lnTo>
                  <a:pt x="1979422" y="67563"/>
                </a:lnTo>
                <a:lnTo>
                  <a:pt x="1981580" y="80010"/>
                </a:lnTo>
                <a:lnTo>
                  <a:pt x="2031618" y="71628"/>
                </a:lnTo>
                <a:lnTo>
                  <a:pt x="2029587" y="59055"/>
                </a:lnTo>
                <a:close/>
              </a:path>
              <a:path w="2382520" h="433070">
                <a:moveTo>
                  <a:pt x="1941829" y="73913"/>
                </a:moveTo>
                <a:lnTo>
                  <a:pt x="1891791" y="82295"/>
                </a:lnTo>
                <a:lnTo>
                  <a:pt x="1893951" y="94868"/>
                </a:lnTo>
                <a:lnTo>
                  <a:pt x="1943989" y="86360"/>
                </a:lnTo>
                <a:lnTo>
                  <a:pt x="1941829" y="73913"/>
                </a:lnTo>
                <a:close/>
              </a:path>
              <a:path w="2382520" h="433070">
                <a:moveTo>
                  <a:pt x="1854200" y="88645"/>
                </a:moveTo>
                <a:lnTo>
                  <a:pt x="1804162" y="97155"/>
                </a:lnTo>
                <a:lnTo>
                  <a:pt x="1806193" y="109600"/>
                </a:lnTo>
                <a:lnTo>
                  <a:pt x="1856359" y="101218"/>
                </a:lnTo>
                <a:lnTo>
                  <a:pt x="1854200" y="88645"/>
                </a:lnTo>
                <a:close/>
              </a:path>
              <a:path w="2382520" h="433070">
                <a:moveTo>
                  <a:pt x="1766570" y="103505"/>
                </a:moveTo>
                <a:lnTo>
                  <a:pt x="1716531" y="111887"/>
                </a:lnTo>
                <a:lnTo>
                  <a:pt x="1718564" y="124460"/>
                </a:lnTo>
                <a:lnTo>
                  <a:pt x="1768728" y="115950"/>
                </a:lnTo>
                <a:lnTo>
                  <a:pt x="1766570" y="103505"/>
                </a:lnTo>
                <a:close/>
              </a:path>
              <a:path w="2382520" h="433070">
                <a:moveTo>
                  <a:pt x="1678939" y="118237"/>
                </a:moveTo>
                <a:lnTo>
                  <a:pt x="1628775" y="126745"/>
                </a:lnTo>
                <a:lnTo>
                  <a:pt x="1630934" y="139192"/>
                </a:lnTo>
                <a:lnTo>
                  <a:pt x="1680972" y="130810"/>
                </a:lnTo>
                <a:lnTo>
                  <a:pt x="1678939" y="118237"/>
                </a:lnTo>
                <a:close/>
              </a:path>
              <a:path w="2382520" h="433070">
                <a:moveTo>
                  <a:pt x="1591183" y="132969"/>
                </a:moveTo>
                <a:lnTo>
                  <a:pt x="1541145" y="141478"/>
                </a:lnTo>
                <a:lnTo>
                  <a:pt x="1543303" y="154050"/>
                </a:lnTo>
                <a:lnTo>
                  <a:pt x="1593341" y="145542"/>
                </a:lnTo>
                <a:lnTo>
                  <a:pt x="1591183" y="132969"/>
                </a:lnTo>
                <a:close/>
              </a:path>
              <a:path w="2382520" h="433070">
                <a:moveTo>
                  <a:pt x="1503552" y="147828"/>
                </a:moveTo>
                <a:lnTo>
                  <a:pt x="1453514" y="156210"/>
                </a:lnTo>
                <a:lnTo>
                  <a:pt x="1455547" y="168782"/>
                </a:lnTo>
                <a:lnTo>
                  <a:pt x="1505712" y="160400"/>
                </a:lnTo>
                <a:lnTo>
                  <a:pt x="1503552" y="147828"/>
                </a:lnTo>
                <a:close/>
              </a:path>
              <a:path w="2382520" h="433070">
                <a:moveTo>
                  <a:pt x="1415923" y="162560"/>
                </a:moveTo>
                <a:lnTo>
                  <a:pt x="1365885" y="171069"/>
                </a:lnTo>
                <a:lnTo>
                  <a:pt x="1367916" y="183514"/>
                </a:lnTo>
                <a:lnTo>
                  <a:pt x="1418081" y="175132"/>
                </a:lnTo>
                <a:lnTo>
                  <a:pt x="1415923" y="162560"/>
                </a:lnTo>
                <a:close/>
              </a:path>
              <a:path w="2382520" h="433070">
                <a:moveTo>
                  <a:pt x="1328292" y="177419"/>
                </a:moveTo>
                <a:lnTo>
                  <a:pt x="1278127" y="185800"/>
                </a:lnTo>
                <a:lnTo>
                  <a:pt x="1280287" y="198374"/>
                </a:lnTo>
                <a:lnTo>
                  <a:pt x="1330325" y="189864"/>
                </a:lnTo>
                <a:lnTo>
                  <a:pt x="1328292" y="177419"/>
                </a:lnTo>
                <a:close/>
              </a:path>
              <a:path w="2382520" h="433070">
                <a:moveTo>
                  <a:pt x="1240536" y="192150"/>
                </a:moveTo>
                <a:lnTo>
                  <a:pt x="1190498" y="200660"/>
                </a:lnTo>
                <a:lnTo>
                  <a:pt x="1192656" y="213106"/>
                </a:lnTo>
                <a:lnTo>
                  <a:pt x="1242695" y="204724"/>
                </a:lnTo>
                <a:lnTo>
                  <a:pt x="1240536" y="192150"/>
                </a:lnTo>
                <a:close/>
              </a:path>
              <a:path w="2382520" h="433070">
                <a:moveTo>
                  <a:pt x="1152905" y="207010"/>
                </a:moveTo>
                <a:lnTo>
                  <a:pt x="1102867" y="215392"/>
                </a:lnTo>
                <a:lnTo>
                  <a:pt x="1104900" y="227964"/>
                </a:lnTo>
                <a:lnTo>
                  <a:pt x="1155064" y="219456"/>
                </a:lnTo>
                <a:lnTo>
                  <a:pt x="1152905" y="207010"/>
                </a:lnTo>
                <a:close/>
              </a:path>
              <a:path w="2382520" h="433070">
                <a:moveTo>
                  <a:pt x="1065276" y="221742"/>
                </a:moveTo>
                <a:lnTo>
                  <a:pt x="1015238" y="230250"/>
                </a:lnTo>
                <a:lnTo>
                  <a:pt x="1017270" y="242697"/>
                </a:lnTo>
                <a:lnTo>
                  <a:pt x="1067435" y="234314"/>
                </a:lnTo>
                <a:lnTo>
                  <a:pt x="1065276" y="221742"/>
                </a:lnTo>
                <a:close/>
              </a:path>
              <a:path w="2382520" h="433070">
                <a:moveTo>
                  <a:pt x="977646" y="236474"/>
                </a:moveTo>
                <a:lnTo>
                  <a:pt x="927480" y="244982"/>
                </a:lnTo>
                <a:lnTo>
                  <a:pt x="929639" y="257556"/>
                </a:lnTo>
                <a:lnTo>
                  <a:pt x="979677" y="249047"/>
                </a:lnTo>
                <a:lnTo>
                  <a:pt x="977646" y="236474"/>
                </a:lnTo>
                <a:close/>
              </a:path>
              <a:path w="2382520" h="433070">
                <a:moveTo>
                  <a:pt x="889888" y="251332"/>
                </a:moveTo>
                <a:lnTo>
                  <a:pt x="839851" y="259714"/>
                </a:lnTo>
                <a:lnTo>
                  <a:pt x="842010" y="272288"/>
                </a:lnTo>
                <a:lnTo>
                  <a:pt x="892048" y="263779"/>
                </a:lnTo>
                <a:lnTo>
                  <a:pt x="889888" y="251332"/>
                </a:lnTo>
                <a:close/>
              </a:path>
              <a:path w="2382520" h="433070">
                <a:moveTo>
                  <a:pt x="802259" y="266064"/>
                </a:moveTo>
                <a:lnTo>
                  <a:pt x="752221" y="274574"/>
                </a:lnTo>
                <a:lnTo>
                  <a:pt x="754252" y="287019"/>
                </a:lnTo>
                <a:lnTo>
                  <a:pt x="804417" y="278638"/>
                </a:lnTo>
                <a:lnTo>
                  <a:pt x="802259" y="266064"/>
                </a:lnTo>
                <a:close/>
              </a:path>
              <a:path w="2382520" h="433070">
                <a:moveTo>
                  <a:pt x="714628" y="280924"/>
                </a:moveTo>
                <a:lnTo>
                  <a:pt x="664590" y="289306"/>
                </a:lnTo>
                <a:lnTo>
                  <a:pt x="666623" y="301879"/>
                </a:lnTo>
                <a:lnTo>
                  <a:pt x="716788" y="293369"/>
                </a:lnTo>
                <a:lnTo>
                  <a:pt x="714628" y="280924"/>
                </a:lnTo>
                <a:close/>
              </a:path>
              <a:path w="2382520" h="433070">
                <a:moveTo>
                  <a:pt x="626999" y="295656"/>
                </a:moveTo>
                <a:lnTo>
                  <a:pt x="576834" y="304164"/>
                </a:lnTo>
                <a:lnTo>
                  <a:pt x="578992" y="316611"/>
                </a:lnTo>
                <a:lnTo>
                  <a:pt x="629030" y="308229"/>
                </a:lnTo>
                <a:lnTo>
                  <a:pt x="626999" y="295656"/>
                </a:lnTo>
                <a:close/>
              </a:path>
              <a:path w="2382520" h="433070">
                <a:moveTo>
                  <a:pt x="539241" y="310514"/>
                </a:moveTo>
                <a:lnTo>
                  <a:pt x="489203" y="318897"/>
                </a:lnTo>
                <a:lnTo>
                  <a:pt x="491363" y="331469"/>
                </a:lnTo>
                <a:lnTo>
                  <a:pt x="541401" y="322961"/>
                </a:lnTo>
                <a:lnTo>
                  <a:pt x="539241" y="310514"/>
                </a:lnTo>
                <a:close/>
              </a:path>
              <a:path w="2382520" h="433070">
                <a:moveTo>
                  <a:pt x="451612" y="325247"/>
                </a:moveTo>
                <a:lnTo>
                  <a:pt x="401574" y="333629"/>
                </a:lnTo>
                <a:lnTo>
                  <a:pt x="403605" y="346201"/>
                </a:lnTo>
                <a:lnTo>
                  <a:pt x="453771" y="337819"/>
                </a:lnTo>
                <a:lnTo>
                  <a:pt x="451612" y="325247"/>
                </a:lnTo>
                <a:close/>
              </a:path>
              <a:path w="2382520" h="433070">
                <a:moveTo>
                  <a:pt x="363981" y="339979"/>
                </a:moveTo>
                <a:lnTo>
                  <a:pt x="313943" y="348488"/>
                </a:lnTo>
                <a:lnTo>
                  <a:pt x="315975" y="361061"/>
                </a:lnTo>
                <a:lnTo>
                  <a:pt x="366140" y="352551"/>
                </a:lnTo>
                <a:lnTo>
                  <a:pt x="363981" y="339979"/>
                </a:lnTo>
                <a:close/>
              </a:path>
              <a:path w="2382520" h="433070">
                <a:moveTo>
                  <a:pt x="276351" y="354838"/>
                </a:moveTo>
                <a:lnTo>
                  <a:pt x="226187" y="363219"/>
                </a:lnTo>
                <a:lnTo>
                  <a:pt x="228346" y="375793"/>
                </a:lnTo>
                <a:lnTo>
                  <a:pt x="278384" y="367284"/>
                </a:lnTo>
                <a:lnTo>
                  <a:pt x="276351" y="354838"/>
                </a:lnTo>
                <a:close/>
              </a:path>
              <a:path w="2382520" h="433070">
                <a:moveTo>
                  <a:pt x="188595" y="369569"/>
                </a:moveTo>
                <a:lnTo>
                  <a:pt x="138556" y="378079"/>
                </a:lnTo>
                <a:lnTo>
                  <a:pt x="140715" y="390525"/>
                </a:lnTo>
                <a:lnTo>
                  <a:pt x="190753" y="382143"/>
                </a:lnTo>
                <a:lnTo>
                  <a:pt x="188595" y="369569"/>
                </a:lnTo>
                <a:close/>
              </a:path>
              <a:path w="2382520" h="433070">
                <a:moveTo>
                  <a:pt x="68834" y="357631"/>
                </a:moveTo>
                <a:lnTo>
                  <a:pt x="0" y="407797"/>
                </a:lnTo>
                <a:lnTo>
                  <a:pt x="81534" y="432816"/>
                </a:lnTo>
                <a:lnTo>
                  <a:pt x="76599" y="403606"/>
                </a:lnTo>
                <a:lnTo>
                  <a:pt x="63626" y="403606"/>
                </a:lnTo>
                <a:lnTo>
                  <a:pt x="61595" y="391032"/>
                </a:lnTo>
                <a:lnTo>
                  <a:pt x="74121" y="388931"/>
                </a:lnTo>
                <a:lnTo>
                  <a:pt x="68834" y="357631"/>
                </a:lnTo>
                <a:close/>
              </a:path>
              <a:path w="2382520" h="433070">
                <a:moveTo>
                  <a:pt x="74121" y="388931"/>
                </a:moveTo>
                <a:lnTo>
                  <a:pt x="61595" y="391032"/>
                </a:lnTo>
                <a:lnTo>
                  <a:pt x="63626" y="403606"/>
                </a:lnTo>
                <a:lnTo>
                  <a:pt x="76236" y="401457"/>
                </a:lnTo>
                <a:lnTo>
                  <a:pt x="74121" y="388931"/>
                </a:lnTo>
                <a:close/>
              </a:path>
              <a:path w="2382520" h="433070">
                <a:moveTo>
                  <a:pt x="76236" y="401457"/>
                </a:moveTo>
                <a:lnTo>
                  <a:pt x="63626" y="403606"/>
                </a:lnTo>
                <a:lnTo>
                  <a:pt x="76599" y="403606"/>
                </a:lnTo>
                <a:lnTo>
                  <a:pt x="76236" y="401457"/>
                </a:lnTo>
                <a:close/>
              </a:path>
              <a:path w="2382520" h="433070">
                <a:moveTo>
                  <a:pt x="100964" y="384429"/>
                </a:moveTo>
                <a:lnTo>
                  <a:pt x="74121" y="388931"/>
                </a:lnTo>
                <a:lnTo>
                  <a:pt x="76236" y="401457"/>
                </a:lnTo>
                <a:lnTo>
                  <a:pt x="103124" y="396875"/>
                </a:lnTo>
                <a:lnTo>
                  <a:pt x="100964" y="384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0059" y="4515611"/>
            <a:ext cx="1384300" cy="367665"/>
          </a:xfrm>
          <a:custGeom>
            <a:avLst/>
            <a:gdLst/>
            <a:ahLst/>
            <a:cxnLst/>
            <a:rect l="l" t="t" r="r" b="b"/>
            <a:pathLst>
              <a:path w="1384300" h="367664">
                <a:moveTo>
                  <a:pt x="0" y="61213"/>
                </a:moveTo>
                <a:lnTo>
                  <a:pt x="4810" y="37397"/>
                </a:lnTo>
                <a:lnTo>
                  <a:pt x="17929" y="17938"/>
                </a:lnTo>
                <a:lnTo>
                  <a:pt x="37386" y="4814"/>
                </a:lnTo>
                <a:lnTo>
                  <a:pt x="61214" y="0"/>
                </a:lnTo>
                <a:lnTo>
                  <a:pt x="1322578" y="0"/>
                </a:lnTo>
                <a:lnTo>
                  <a:pt x="1346394" y="4814"/>
                </a:lnTo>
                <a:lnTo>
                  <a:pt x="1365853" y="17938"/>
                </a:lnTo>
                <a:lnTo>
                  <a:pt x="1378977" y="37397"/>
                </a:lnTo>
                <a:lnTo>
                  <a:pt x="1383792" y="61213"/>
                </a:lnTo>
                <a:lnTo>
                  <a:pt x="1383792" y="306069"/>
                </a:lnTo>
                <a:lnTo>
                  <a:pt x="1378977" y="329886"/>
                </a:lnTo>
                <a:lnTo>
                  <a:pt x="1365853" y="349345"/>
                </a:lnTo>
                <a:lnTo>
                  <a:pt x="1346394" y="362469"/>
                </a:lnTo>
                <a:lnTo>
                  <a:pt x="1322578" y="367283"/>
                </a:lnTo>
                <a:lnTo>
                  <a:pt x="61214" y="367283"/>
                </a:lnTo>
                <a:lnTo>
                  <a:pt x="37386" y="362469"/>
                </a:lnTo>
                <a:lnTo>
                  <a:pt x="17929" y="349345"/>
                </a:lnTo>
                <a:lnTo>
                  <a:pt x="4810" y="329886"/>
                </a:lnTo>
                <a:lnTo>
                  <a:pt x="0" y="306069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74954" y="4544314"/>
            <a:ext cx="1231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PTH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đầy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đủ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9016" y="5556503"/>
            <a:ext cx="1527175" cy="368935"/>
          </a:xfrm>
          <a:custGeom>
            <a:avLst/>
            <a:gdLst/>
            <a:ahLst/>
            <a:cxnLst/>
            <a:rect l="l" t="t" r="r" b="b"/>
            <a:pathLst>
              <a:path w="1527175" h="368935">
                <a:moveTo>
                  <a:pt x="0" y="61468"/>
                </a:moveTo>
                <a:lnTo>
                  <a:pt x="4830" y="37558"/>
                </a:lnTo>
                <a:lnTo>
                  <a:pt x="18003" y="18018"/>
                </a:lnTo>
                <a:lnTo>
                  <a:pt x="37542" y="4835"/>
                </a:lnTo>
                <a:lnTo>
                  <a:pt x="61468" y="0"/>
                </a:lnTo>
                <a:lnTo>
                  <a:pt x="1465580" y="0"/>
                </a:lnTo>
                <a:lnTo>
                  <a:pt x="1489489" y="4835"/>
                </a:lnTo>
                <a:lnTo>
                  <a:pt x="1509029" y="18018"/>
                </a:lnTo>
                <a:lnTo>
                  <a:pt x="1522212" y="37558"/>
                </a:lnTo>
                <a:lnTo>
                  <a:pt x="1527048" y="61468"/>
                </a:lnTo>
                <a:lnTo>
                  <a:pt x="1527048" y="307340"/>
                </a:lnTo>
                <a:lnTo>
                  <a:pt x="1522212" y="331265"/>
                </a:lnTo>
                <a:lnTo>
                  <a:pt x="1509029" y="350804"/>
                </a:lnTo>
                <a:lnTo>
                  <a:pt x="1489489" y="363977"/>
                </a:lnTo>
                <a:lnTo>
                  <a:pt x="1465580" y="368808"/>
                </a:lnTo>
                <a:lnTo>
                  <a:pt x="61468" y="368808"/>
                </a:lnTo>
                <a:lnTo>
                  <a:pt x="37542" y="363977"/>
                </a:lnTo>
                <a:lnTo>
                  <a:pt x="18003" y="350804"/>
                </a:lnTo>
                <a:lnTo>
                  <a:pt x="4830" y="331265"/>
                </a:lnTo>
                <a:lnTo>
                  <a:pt x="0" y="307340"/>
                </a:lnTo>
                <a:lnTo>
                  <a:pt x="0" y="61468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4824" y="5585866"/>
            <a:ext cx="1373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PTH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 </a:t>
            </a:r>
            <a:r>
              <a:rPr sz="1800" spc="-20" dirty="0">
                <a:latin typeface="Arial"/>
                <a:cs typeface="Arial"/>
              </a:rPr>
              <a:t>phận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0423" y="4693158"/>
            <a:ext cx="883285" cy="565785"/>
          </a:xfrm>
          <a:custGeom>
            <a:avLst/>
            <a:gdLst/>
            <a:ahLst/>
            <a:cxnLst/>
            <a:rect l="l" t="t" r="r" b="b"/>
            <a:pathLst>
              <a:path w="883285" h="565785">
                <a:moveTo>
                  <a:pt x="6857" y="0"/>
                </a:moveTo>
                <a:lnTo>
                  <a:pt x="0" y="10668"/>
                </a:lnTo>
                <a:lnTo>
                  <a:pt x="42799" y="37973"/>
                </a:lnTo>
                <a:lnTo>
                  <a:pt x="49656" y="27305"/>
                </a:lnTo>
                <a:lnTo>
                  <a:pt x="6857" y="0"/>
                </a:lnTo>
                <a:close/>
              </a:path>
              <a:path w="883285" h="565785">
                <a:moveTo>
                  <a:pt x="81787" y="47752"/>
                </a:moveTo>
                <a:lnTo>
                  <a:pt x="74929" y="58420"/>
                </a:lnTo>
                <a:lnTo>
                  <a:pt x="117856" y="85725"/>
                </a:lnTo>
                <a:lnTo>
                  <a:pt x="124713" y="75057"/>
                </a:lnTo>
                <a:lnTo>
                  <a:pt x="81787" y="47752"/>
                </a:lnTo>
                <a:close/>
              </a:path>
              <a:path w="883285" h="565785">
                <a:moveTo>
                  <a:pt x="156844" y="95504"/>
                </a:moveTo>
                <a:lnTo>
                  <a:pt x="149987" y="106172"/>
                </a:lnTo>
                <a:lnTo>
                  <a:pt x="192785" y="133477"/>
                </a:lnTo>
                <a:lnTo>
                  <a:pt x="199644" y="122809"/>
                </a:lnTo>
                <a:lnTo>
                  <a:pt x="156844" y="95504"/>
                </a:lnTo>
                <a:close/>
              </a:path>
              <a:path w="883285" h="565785">
                <a:moveTo>
                  <a:pt x="231775" y="143256"/>
                </a:moveTo>
                <a:lnTo>
                  <a:pt x="224916" y="154051"/>
                </a:lnTo>
                <a:lnTo>
                  <a:pt x="267715" y="181356"/>
                </a:lnTo>
                <a:lnTo>
                  <a:pt x="274574" y="170561"/>
                </a:lnTo>
                <a:lnTo>
                  <a:pt x="231775" y="143256"/>
                </a:lnTo>
                <a:close/>
              </a:path>
              <a:path w="883285" h="565785">
                <a:moveTo>
                  <a:pt x="306704" y="191008"/>
                </a:moveTo>
                <a:lnTo>
                  <a:pt x="299974" y="201803"/>
                </a:lnTo>
                <a:lnTo>
                  <a:pt x="342772" y="229108"/>
                </a:lnTo>
                <a:lnTo>
                  <a:pt x="349631" y="218313"/>
                </a:lnTo>
                <a:lnTo>
                  <a:pt x="306704" y="191008"/>
                </a:lnTo>
                <a:close/>
              </a:path>
              <a:path w="883285" h="565785">
                <a:moveTo>
                  <a:pt x="381762" y="238887"/>
                </a:moveTo>
                <a:lnTo>
                  <a:pt x="374903" y="249555"/>
                </a:lnTo>
                <a:lnTo>
                  <a:pt x="417702" y="276860"/>
                </a:lnTo>
                <a:lnTo>
                  <a:pt x="424560" y="266192"/>
                </a:lnTo>
                <a:lnTo>
                  <a:pt x="381762" y="238887"/>
                </a:lnTo>
                <a:close/>
              </a:path>
              <a:path w="883285" h="565785">
                <a:moveTo>
                  <a:pt x="456691" y="286639"/>
                </a:moveTo>
                <a:lnTo>
                  <a:pt x="449833" y="297307"/>
                </a:lnTo>
                <a:lnTo>
                  <a:pt x="492759" y="324612"/>
                </a:lnTo>
                <a:lnTo>
                  <a:pt x="499490" y="313944"/>
                </a:lnTo>
                <a:lnTo>
                  <a:pt x="456691" y="286639"/>
                </a:lnTo>
                <a:close/>
              </a:path>
              <a:path w="883285" h="565785">
                <a:moveTo>
                  <a:pt x="531621" y="334391"/>
                </a:moveTo>
                <a:lnTo>
                  <a:pt x="524890" y="345059"/>
                </a:lnTo>
                <a:lnTo>
                  <a:pt x="567689" y="372364"/>
                </a:lnTo>
                <a:lnTo>
                  <a:pt x="574547" y="361696"/>
                </a:lnTo>
                <a:lnTo>
                  <a:pt x="531621" y="334391"/>
                </a:lnTo>
                <a:close/>
              </a:path>
              <a:path w="883285" h="565785">
                <a:moveTo>
                  <a:pt x="606678" y="382143"/>
                </a:moveTo>
                <a:lnTo>
                  <a:pt x="599820" y="392811"/>
                </a:lnTo>
                <a:lnTo>
                  <a:pt x="642619" y="420116"/>
                </a:lnTo>
                <a:lnTo>
                  <a:pt x="649477" y="409448"/>
                </a:lnTo>
                <a:lnTo>
                  <a:pt x="606678" y="382143"/>
                </a:lnTo>
                <a:close/>
              </a:path>
              <a:path w="883285" h="565785">
                <a:moveTo>
                  <a:pt x="681608" y="429895"/>
                </a:moveTo>
                <a:lnTo>
                  <a:pt x="674751" y="440690"/>
                </a:lnTo>
                <a:lnTo>
                  <a:pt x="717676" y="467995"/>
                </a:lnTo>
                <a:lnTo>
                  <a:pt x="724407" y="457200"/>
                </a:lnTo>
                <a:lnTo>
                  <a:pt x="681608" y="429895"/>
                </a:lnTo>
                <a:close/>
              </a:path>
              <a:path w="883285" h="565785">
                <a:moveTo>
                  <a:pt x="839088" y="492633"/>
                </a:moveTo>
                <a:lnTo>
                  <a:pt x="798194" y="556895"/>
                </a:lnTo>
                <a:lnTo>
                  <a:pt x="882903" y="565658"/>
                </a:lnTo>
                <a:lnTo>
                  <a:pt x="865682" y="536956"/>
                </a:lnTo>
                <a:lnTo>
                  <a:pt x="825881" y="536956"/>
                </a:lnTo>
                <a:lnTo>
                  <a:pt x="824738" y="536194"/>
                </a:lnTo>
                <a:lnTo>
                  <a:pt x="831595" y="525526"/>
                </a:lnTo>
                <a:lnTo>
                  <a:pt x="858824" y="525526"/>
                </a:lnTo>
                <a:lnTo>
                  <a:pt x="839088" y="492633"/>
                </a:lnTo>
                <a:close/>
              </a:path>
              <a:path w="883285" h="565785">
                <a:moveTo>
                  <a:pt x="831595" y="525526"/>
                </a:moveTo>
                <a:lnTo>
                  <a:pt x="824738" y="536194"/>
                </a:lnTo>
                <a:lnTo>
                  <a:pt x="825881" y="536956"/>
                </a:lnTo>
                <a:lnTo>
                  <a:pt x="832738" y="526288"/>
                </a:lnTo>
                <a:lnTo>
                  <a:pt x="831595" y="525526"/>
                </a:lnTo>
                <a:close/>
              </a:path>
              <a:path w="883285" h="565785">
                <a:moveTo>
                  <a:pt x="858824" y="525526"/>
                </a:moveTo>
                <a:lnTo>
                  <a:pt x="831595" y="525526"/>
                </a:lnTo>
                <a:lnTo>
                  <a:pt x="832738" y="526288"/>
                </a:lnTo>
                <a:lnTo>
                  <a:pt x="825881" y="536956"/>
                </a:lnTo>
                <a:lnTo>
                  <a:pt x="865682" y="536956"/>
                </a:lnTo>
                <a:lnTo>
                  <a:pt x="858824" y="525526"/>
                </a:lnTo>
                <a:close/>
              </a:path>
              <a:path w="883285" h="565785">
                <a:moveTo>
                  <a:pt x="756538" y="477647"/>
                </a:moveTo>
                <a:lnTo>
                  <a:pt x="749807" y="488442"/>
                </a:lnTo>
                <a:lnTo>
                  <a:pt x="792607" y="515747"/>
                </a:lnTo>
                <a:lnTo>
                  <a:pt x="799464" y="504952"/>
                </a:lnTo>
                <a:lnTo>
                  <a:pt x="756538" y="477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2035175" y="5507628"/>
            <a:ext cx="636905" cy="619125"/>
            <a:chOff x="2035175" y="5507628"/>
            <a:chExt cx="636905" cy="619125"/>
          </a:xfrm>
        </p:grpSpPr>
        <p:sp>
          <p:nvSpPr>
            <p:cNvPr id="28" name="object 28"/>
            <p:cNvSpPr/>
            <p:nvPr/>
          </p:nvSpPr>
          <p:spPr>
            <a:xfrm>
              <a:off x="2590800" y="5512308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609599"/>
                  </a:moveTo>
                  <a:lnTo>
                    <a:pt x="61352" y="605607"/>
                  </a:lnTo>
                  <a:lnTo>
                    <a:pt x="49244" y="594720"/>
                  </a:lnTo>
                  <a:lnTo>
                    <a:pt x="41088" y="578572"/>
                  </a:lnTo>
                  <a:lnTo>
                    <a:pt x="38100" y="558799"/>
                  </a:lnTo>
                  <a:lnTo>
                    <a:pt x="38100" y="355599"/>
                  </a:lnTo>
                  <a:lnTo>
                    <a:pt x="35111" y="335827"/>
                  </a:lnTo>
                  <a:lnTo>
                    <a:pt x="26955" y="319679"/>
                  </a:lnTo>
                  <a:lnTo>
                    <a:pt x="14847" y="308792"/>
                  </a:lnTo>
                  <a:lnTo>
                    <a:pt x="0" y="304799"/>
                  </a:lnTo>
                  <a:lnTo>
                    <a:pt x="14847" y="300807"/>
                  </a:lnTo>
                  <a:lnTo>
                    <a:pt x="26955" y="289920"/>
                  </a:lnTo>
                  <a:lnTo>
                    <a:pt x="35111" y="273772"/>
                  </a:lnTo>
                  <a:lnTo>
                    <a:pt x="38100" y="253999"/>
                  </a:lnTo>
                  <a:lnTo>
                    <a:pt x="38100" y="50799"/>
                  </a:lnTo>
                  <a:lnTo>
                    <a:pt x="41088" y="31021"/>
                  </a:lnTo>
                  <a:lnTo>
                    <a:pt x="49244" y="14874"/>
                  </a:lnTo>
                  <a:lnTo>
                    <a:pt x="61352" y="3990"/>
                  </a:lnTo>
                  <a:lnTo>
                    <a:pt x="7620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35175" y="5734608"/>
              <a:ext cx="556895" cy="110489"/>
            </a:xfrm>
            <a:custGeom>
              <a:avLst/>
              <a:gdLst/>
              <a:ahLst/>
              <a:cxnLst/>
              <a:rect l="l" t="t" r="r" b="b"/>
              <a:pathLst>
                <a:path w="556894" h="110489">
                  <a:moveTo>
                    <a:pt x="1777" y="0"/>
                  </a:moveTo>
                  <a:lnTo>
                    <a:pt x="0" y="12585"/>
                  </a:lnTo>
                  <a:lnTo>
                    <a:pt x="50292" y="19494"/>
                  </a:lnTo>
                  <a:lnTo>
                    <a:pt x="52069" y="6908"/>
                  </a:lnTo>
                  <a:lnTo>
                    <a:pt x="1777" y="0"/>
                  </a:lnTo>
                  <a:close/>
                </a:path>
                <a:path w="556894" h="110489">
                  <a:moveTo>
                    <a:pt x="89788" y="12090"/>
                  </a:moveTo>
                  <a:lnTo>
                    <a:pt x="88137" y="24663"/>
                  </a:lnTo>
                  <a:lnTo>
                    <a:pt x="138430" y="31572"/>
                  </a:lnTo>
                  <a:lnTo>
                    <a:pt x="140207" y="18986"/>
                  </a:lnTo>
                  <a:lnTo>
                    <a:pt x="89788" y="12090"/>
                  </a:lnTo>
                  <a:close/>
                </a:path>
                <a:path w="556894" h="110489">
                  <a:moveTo>
                    <a:pt x="177926" y="24168"/>
                  </a:moveTo>
                  <a:lnTo>
                    <a:pt x="176149" y="36741"/>
                  </a:lnTo>
                  <a:lnTo>
                    <a:pt x="226568" y="43649"/>
                  </a:lnTo>
                  <a:lnTo>
                    <a:pt x="228219" y="31064"/>
                  </a:lnTo>
                  <a:lnTo>
                    <a:pt x="177926" y="24168"/>
                  </a:lnTo>
                  <a:close/>
                </a:path>
                <a:path w="556894" h="110489">
                  <a:moveTo>
                    <a:pt x="265938" y="36245"/>
                  </a:moveTo>
                  <a:lnTo>
                    <a:pt x="264287" y="48818"/>
                  </a:lnTo>
                  <a:lnTo>
                    <a:pt x="314579" y="55727"/>
                  </a:lnTo>
                  <a:lnTo>
                    <a:pt x="316356" y="43141"/>
                  </a:lnTo>
                  <a:lnTo>
                    <a:pt x="265938" y="36245"/>
                  </a:lnTo>
                  <a:close/>
                </a:path>
                <a:path w="556894" h="110489">
                  <a:moveTo>
                    <a:pt x="354075" y="48323"/>
                  </a:moveTo>
                  <a:lnTo>
                    <a:pt x="352298" y="60909"/>
                  </a:lnTo>
                  <a:lnTo>
                    <a:pt x="402717" y="67805"/>
                  </a:lnTo>
                  <a:lnTo>
                    <a:pt x="404368" y="55219"/>
                  </a:lnTo>
                  <a:lnTo>
                    <a:pt x="354075" y="48323"/>
                  </a:lnTo>
                  <a:close/>
                </a:path>
                <a:path w="556894" h="110489">
                  <a:moveTo>
                    <a:pt x="480155" y="78433"/>
                  </a:moveTo>
                  <a:lnTo>
                    <a:pt x="475869" y="109893"/>
                  </a:lnTo>
                  <a:lnTo>
                    <a:pt x="556513" y="82499"/>
                  </a:lnTo>
                  <a:lnTo>
                    <a:pt x="552687" y="79883"/>
                  </a:lnTo>
                  <a:lnTo>
                    <a:pt x="490727" y="79883"/>
                  </a:lnTo>
                  <a:lnTo>
                    <a:pt x="480155" y="78433"/>
                  </a:lnTo>
                  <a:close/>
                </a:path>
                <a:path w="556894" h="110489">
                  <a:moveTo>
                    <a:pt x="481870" y="65842"/>
                  </a:moveTo>
                  <a:lnTo>
                    <a:pt x="480155" y="78433"/>
                  </a:lnTo>
                  <a:lnTo>
                    <a:pt x="490727" y="79883"/>
                  </a:lnTo>
                  <a:lnTo>
                    <a:pt x="492506" y="67297"/>
                  </a:lnTo>
                  <a:lnTo>
                    <a:pt x="481870" y="65842"/>
                  </a:lnTo>
                  <a:close/>
                </a:path>
                <a:path w="556894" h="110489">
                  <a:moveTo>
                    <a:pt x="486156" y="34391"/>
                  </a:moveTo>
                  <a:lnTo>
                    <a:pt x="481870" y="65842"/>
                  </a:lnTo>
                  <a:lnTo>
                    <a:pt x="492506" y="67297"/>
                  </a:lnTo>
                  <a:lnTo>
                    <a:pt x="490727" y="79883"/>
                  </a:lnTo>
                  <a:lnTo>
                    <a:pt x="552687" y="79883"/>
                  </a:lnTo>
                  <a:lnTo>
                    <a:pt x="486156" y="34391"/>
                  </a:lnTo>
                  <a:close/>
                </a:path>
                <a:path w="556894" h="110489">
                  <a:moveTo>
                    <a:pt x="442087" y="60401"/>
                  </a:moveTo>
                  <a:lnTo>
                    <a:pt x="440436" y="72986"/>
                  </a:lnTo>
                  <a:lnTo>
                    <a:pt x="480155" y="78433"/>
                  </a:lnTo>
                  <a:lnTo>
                    <a:pt x="481870" y="65842"/>
                  </a:lnTo>
                  <a:lnTo>
                    <a:pt x="442087" y="604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D30D181F-0FF9-16B5-5AEF-DA4DCC8984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Dạng</a:t>
            </a:r>
            <a:r>
              <a:rPr sz="3600" spc="-10" dirty="0"/>
              <a:t> </a:t>
            </a:r>
            <a:r>
              <a:rPr sz="3600" dirty="0"/>
              <a:t>chuẩn</a:t>
            </a:r>
            <a:r>
              <a:rPr sz="3600" spc="-10" dirty="0"/>
              <a:t> </a:t>
            </a:r>
            <a:r>
              <a:rPr sz="3600" dirty="0"/>
              <a:t>2</a:t>
            </a:r>
            <a:r>
              <a:rPr sz="3600" spc="-5" dirty="0"/>
              <a:t> </a:t>
            </a:r>
            <a:r>
              <a:rPr sz="3600" dirty="0"/>
              <a:t>theo</a:t>
            </a:r>
            <a:r>
              <a:rPr sz="3600" spc="-10" dirty="0"/>
              <a:t> </a:t>
            </a:r>
            <a:r>
              <a:rPr sz="3600" dirty="0"/>
              <a:t>khóa</a:t>
            </a:r>
            <a:r>
              <a:rPr sz="3600" spc="-10" dirty="0"/>
              <a:t> </a:t>
            </a:r>
            <a:r>
              <a:rPr sz="3600" dirty="0"/>
              <a:t>chính</a:t>
            </a:r>
            <a:r>
              <a:rPr sz="3600" spc="-5" dirty="0"/>
              <a:t> </a:t>
            </a:r>
            <a:r>
              <a:rPr sz="3600" spc="-25" dirty="0"/>
              <a:t>(2)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33751" y="1429308"/>
          <a:ext cx="538988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927605" y="1098296"/>
            <a:ext cx="1586865" cy="1759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NVIEN_DUAN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800">
              <a:latin typeface="Arial"/>
              <a:cs typeface="Arial"/>
            </a:endParaRPr>
          </a:p>
          <a:p>
            <a:pPr marL="12700" marR="1133475" algn="just">
              <a:lnSpc>
                <a:spcPct val="133100"/>
              </a:lnSpc>
            </a:pPr>
            <a:r>
              <a:rPr sz="1800" spc="-25" dirty="0">
                <a:latin typeface="Arial"/>
                <a:cs typeface="Arial"/>
              </a:rPr>
              <a:t>FD1 FD2 FD3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30576" y="1843835"/>
            <a:ext cx="1647189" cy="247650"/>
            <a:chOff x="2430576" y="1843835"/>
            <a:chExt cx="1647189" cy="247650"/>
          </a:xfrm>
        </p:grpSpPr>
        <p:sp>
          <p:nvSpPr>
            <p:cNvPr id="6" name="object 6"/>
            <p:cNvSpPr/>
            <p:nvPr/>
          </p:nvSpPr>
          <p:spPr>
            <a:xfrm>
              <a:off x="2436876" y="1850135"/>
              <a:ext cx="1595755" cy="234950"/>
            </a:xfrm>
            <a:custGeom>
              <a:avLst/>
              <a:gdLst/>
              <a:ahLst/>
              <a:cxnLst/>
              <a:rect l="l" t="t" r="r" b="b"/>
              <a:pathLst>
                <a:path w="1595754" h="234950">
                  <a:moveTo>
                    <a:pt x="0" y="233172"/>
                  </a:moveTo>
                  <a:lnTo>
                    <a:pt x="1595627" y="234696"/>
                  </a:lnTo>
                </a:path>
                <a:path w="1595754" h="234950">
                  <a:moveTo>
                    <a:pt x="0" y="0"/>
                  </a:moveTo>
                  <a:lnTo>
                    <a:pt x="1524" y="233172"/>
                  </a:lnTo>
                </a:path>
                <a:path w="1595754" h="234950">
                  <a:moveTo>
                    <a:pt x="713232" y="0"/>
                  </a:moveTo>
                  <a:lnTo>
                    <a:pt x="714756" y="233172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1008" y="1850135"/>
              <a:ext cx="76200" cy="233172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430576" y="2194355"/>
            <a:ext cx="2447290" cy="247650"/>
            <a:chOff x="2430576" y="2194355"/>
            <a:chExt cx="2447290" cy="247650"/>
          </a:xfrm>
        </p:grpSpPr>
        <p:sp>
          <p:nvSpPr>
            <p:cNvPr id="9" name="object 9"/>
            <p:cNvSpPr/>
            <p:nvPr/>
          </p:nvSpPr>
          <p:spPr>
            <a:xfrm>
              <a:off x="2436876" y="2200656"/>
              <a:ext cx="2402205" cy="234950"/>
            </a:xfrm>
            <a:custGeom>
              <a:avLst/>
              <a:gdLst/>
              <a:ahLst/>
              <a:cxnLst/>
              <a:rect l="l" t="t" r="r" b="b"/>
              <a:pathLst>
                <a:path w="2402204" h="234950">
                  <a:moveTo>
                    <a:pt x="0" y="233172"/>
                  </a:moveTo>
                  <a:lnTo>
                    <a:pt x="2401824" y="234696"/>
                  </a:lnTo>
                </a:path>
                <a:path w="2402204" h="234950">
                  <a:moveTo>
                    <a:pt x="0" y="0"/>
                  </a:moveTo>
                  <a:lnTo>
                    <a:pt x="1524" y="233172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1108" y="2200656"/>
              <a:ext cx="76200" cy="23317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143807" y="2567735"/>
            <a:ext cx="3651250" cy="247650"/>
            <a:chOff x="3143807" y="2567735"/>
            <a:chExt cx="3651250" cy="247650"/>
          </a:xfrm>
        </p:grpSpPr>
        <p:sp>
          <p:nvSpPr>
            <p:cNvPr id="12" name="object 12"/>
            <p:cNvSpPr/>
            <p:nvPr/>
          </p:nvSpPr>
          <p:spPr>
            <a:xfrm>
              <a:off x="3150107" y="2574035"/>
              <a:ext cx="3602990" cy="234950"/>
            </a:xfrm>
            <a:custGeom>
              <a:avLst/>
              <a:gdLst/>
              <a:ahLst/>
              <a:cxnLst/>
              <a:rect l="l" t="t" r="r" b="b"/>
              <a:pathLst>
                <a:path w="3602990" h="234950">
                  <a:moveTo>
                    <a:pt x="0" y="233172"/>
                  </a:moveTo>
                  <a:lnTo>
                    <a:pt x="3602736" y="234696"/>
                  </a:lnTo>
                </a:path>
                <a:path w="3602990" h="234950">
                  <a:moveTo>
                    <a:pt x="0" y="0"/>
                  </a:moveTo>
                  <a:lnTo>
                    <a:pt x="1524" y="233172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3316" y="2574035"/>
              <a:ext cx="76200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8299" y="2574035"/>
              <a:ext cx="76200" cy="23317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68300" y="4644390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74699" y="4245659"/>
          <a:ext cx="280162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458520" y="3915282"/>
            <a:ext cx="913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NV_DA1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9999" y="4667808"/>
            <a:ext cx="1759585" cy="255270"/>
            <a:chOff x="869999" y="4667808"/>
            <a:chExt cx="1759585" cy="255270"/>
          </a:xfrm>
        </p:grpSpPr>
        <p:sp>
          <p:nvSpPr>
            <p:cNvPr id="19" name="object 19"/>
            <p:cNvSpPr/>
            <p:nvPr/>
          </p:nvSpPr>
          <p:spPr>
            <a:xfrm>
              <a:off x="876300" y="4674108"/>
              <a:ext cx="1716405" cy="242570"/>
            </a:xfrm>
            <a:custGeom>
              <a:avLst/>
              <a:gdLst/>
              <a:ahLst/>
              <a:cxnLst/>
              <a:rect l="l" t="t" r="r" b="b"/>
              <a:pathLst>
                <a:path w="1716405" h="242570">
                  <a:moveTo>
                    <a:pt x="0" y="240792"/>
                  </a:moveTo>
                  <a:lnTo>
                    <a:pt x="1716024" y="242316"/>
                  </a:lnTo>
                </a:path>
                <a:path w="1716405" h="242570">
                  <a:moveTo>
                    <a:pt x="0" y="0"/>
                  </a:moveTo>
                  <a:lnTo>
                    <a:pt x="1524" y="237744"/>
                  </a:lnTo>
                </a:path>
                <a:path w="1716405" h="242570">
                  <a:moveTo>
                    <a:pt x="723900" y="0"/>
                  </a:moveTo>
                  <a:lnTo>
                    <a:pt x="7254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3208" y="4674108"/>
              <a:ext cx="76200" cy="23774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582161" y="4644390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14265" y="4252721"/>
            <a:ext cx="107315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latin typeface="Arial"/>
                <a:cs typeface="Arial"/>
              </a:rPr>
              <a:t>TenNV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94353" y="4252721"/>
            <a:ext cx="820419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72078" y="3915282"/>
            <a:ext cx="913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NV_DA2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119167" y="4667808"/>
            <a:ext cx="860425" cy="255270"/>
            <a:chOff x="4119167" y="4667808"/>
            <a:chExt cx="860425" cy="255270"/>
          </a:xfrm>
        </p:grpSpPr>
        <p:sp>
          <p:nvSpPr>
            <p:cNvPr id="26" name="object 26"/>
            <p:cNvSpPr/>
            <p:nvPr/>
          </p:nvSpPr>
          <p:spPr>
            <a:xfrm>
              <a:off x="4125467" y="4674108"/>
              <a:ext cx="809625" cy="242570"/>
            </a:xfrm>
            <a:custGeom>
              <a:avLst/>
              <a:gdLst/>
              <a:ahLst/>
              <a:cxnLst/>
              <a:rect l="l" t="t" r="r" b="b"/>
              <a:pathLst>
                <a:path w="809625" h="242570">
                  <a:moveTo>
                    <a:pt x="0" y="240792"/>
                  </a:moveTo>
                  <a:lnTo>
                    <a:pt x="809244" y="242316"/>
                  </a:lnTo>
                </a:path>
                <a:path w="809625" h="242570">
                  <a:moveTo>
                    <a:pt x="0" y="0"/>
                  </a:moveTo>
                  <a:lnTo>
                    <a:pt x="15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3215" y="4674108"/>
              <a:ext cx="76200" cy="23774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912865" y="4644390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FD3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919011" y="4245659"/>
          <a:ext cx="300482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002782" y="3915282"/>
            <a:ext cx="913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NV_DA3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432599" y="4667808"/>
            <a:ext cx="1962150" cy="255270"/>
            <a:chOff x="6432599" y="4667808"/>
            <a:chExt cx="1962150" cy="255270"/>
          </a:xfrm>
        </p:grpSpPr>
        <p:sp>
          <p:nvSpPr>
            <p:cNvPr id="32" name="object 32"/>
            <p:cNvSpPr/>
            <p:nvPr/>
          </p:nvSpPr>
          <p:spPr>
            <a:xfrm>
              <a:off x="6438900" y="4674108"/>
              <a:ext cx="1920239" cy="242570"/>
            </a:xfrm>
            <a:custGeom>
              <a:avLst/>
              <a:gdLst/>
              <a:ahLst/>
              <a:cxnLst/>
              <a:rect l="l" t="t" r="r" b="b"/>
              <a:pathLst>
                <a:path w="1920240" h="242570">
                  <a:moveTo>
                    <a:pt x="0" y="240792"/>
                  </a:moveTo>
                  <a:lnTo>
                    <a:pt x="1920240" y="242316"/>
                  </a:lnTo>
                </a:path>
                <a:path w="1920240" h="242570">
                  <a:moveTo>
                    <a:pt x="0" y="0"/>
                  </a:moveTo>
                  <a:lnTo>
                    <a:pt x="15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7608" y="4674108"/>
              <a:ext cx="76200" cy="23774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8500" y="4674108"/>
              <a:ext cx="76200" cy="237744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1549908" y="5734811"/>
            <a:ext cx="6201410" cy="367665"/>
          </a:xfrm>
          <a:custGeom>
            <a:avLst/>
            <a:gdLst/>
            <a:ahLst/>
            <a:cxnLst/>
            <a:rect l="l" t="t" r="r" b="b"/>
            <a:pathLst>
              <a:path w="6201409" h="367664">
                <a:moveTo>
                  <a:pt x="0" y="61213"/>
                </a:moveTo>
                <a:lnTo>
                  <a:pt x="4814" y="37386"/>
                </a:lnTo>
                <a:lnTo>
                  <a:pt x="17938" y="17929"/>
                </a:lnTo>
                <a:lnTo>
                  <a:pt x="37397" y="4810"/>
                </a:lnTo>
                <a:lnTo>
                  <a:pt x="61213" y="0"/>
                </a:lnTo>
                <a:lnTo>
                  <a:pt x="6139942" y="0"/>
                </a:lnTo>
                <a:lnTo>
                  <a:pt x="6163758" y="4810"/>
                </a:lnTo>
                <a:lnTo>
                  <a:pt x="6183217" y="17929"/>
                </a:lnTo>
                <a:lnTo>
                  <a:pt x="6196341" y="37386"/>
                </a:lnTo>
                <a:lnTo>
                  <a:pt x="6201156" y="61213"/>
                </a:lnTo>
                <a:lnTo>
                  <a:pt x="6201156" y="306069"/>
                </a:lnTo>
                <a:lnTo>
                  <a:pt x="6196341" y="329897"/>
                </a:lnTo>
                <a:lnTo>
                  <a:pt x="6183217" y="349354"/>
                </a:lnTo>
                <a:lnTo>
                  <a:pt x="6163758" y="362473"/>
                </a:lnTo>
                <a:lnTo>
                  <a:pt x="6139942" y="367283"/>
                </a:lnTo>
                <a:lnTo>
                  <a:pt x="61213" y="367283"/>
                </a:lnTo>
                <a:lnTo>
                  <a:pt x="37397" y="362473"/>
                </a:lnTo>
                <a:lnTo>
                  <a:pt x="17938" y="349354"/>
                </a:lnTo>
                <a:lnTo>
                  <a:pt x="4814" y="329897"/>
                </a:lnTo>
                <a:lnTo>
                  <a:pt x="0" y="306069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44776" y="5763869"/>
            <a:ext cx="606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  <a:hlinkClick r:id="rId4" action="ppaction://hlinksldjump"/>
              </a:rPr>
              <a:t>3</a:t>
            </a:r>
            <a:r>
              <a:rPr sz="18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lược</a:t>
            </a:r>
            <a:r>
              <a:rPr sz="18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đồ</a:t>
            </a:r>
            <a:r>
              <a:rPr sz="18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NV_DA1,</a:t>
            </a:r>
            <a:r>
              <a:rPr sz="18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NV_DA2,</a:t>
            </a:r>
            <a:r>
              <a:rPr sz="18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NV_DA3 thuộc</a:t>
            </a:r>
            <a:r>
              <a:rPr sz="18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dạng chuẩn</a:t>
            </a:r>
            <a:r>
              <a:rPr sz="18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spc="-50" dirty="0">
                <a:latin typeface="Arial"/>
                <a:cs typeface="Arial"/>
                <a:hlinkClick r:id="rId4" action="ppaction://hlinksldjump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DBA21BCC-56FF-154A-AF98-BC6A49DE89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Dạng</a:t>
            </a:r>
            <a:r>
              <a:rPr sz="3600" spc="-10" dirty="0"/>
              <a:t> </a:t>
            </a:r>
            <a:r>
              <a:rPr sz="3600" dirty="0"/>
              <a:t>chuẩn</a:t>
            </a:r>
            <a:r>
              <a:rPr sz="3600" spc="-10" dirty="0"/>
              <a:t> </a:t>
            </a:r>
            <a:r>
              <a:rPr sz="3600" dirty="0"/>
              <a:t>2</a:t>
            </a:r>
            <a:r>
              <a:rPr sz="3600" spc="-5" dirty="0"/>
              <a:t> </a:t>
            </a:r>
            <a:r>
              <a:rPr sz="3600" dirty="0"/>
              <a:t>theo</a:t>
            </a:r>
            <a:r>
              <a:rPr sz="3600" spc="-10" dirty="0"/>
              <a:t> </a:t>
            </a:r>
            <a:r>
              <a:rPr sz="3600" dirty="0"/>
              <a:t>khóa</a:t>
            </a:r>
            <a:r>
              <a:rPr sz="3600" spc="-10" dirty="0"/>
              <a:t> </a:t>
            </a:r>
            <a:r>
              <a:rPr sz="3600" dirty="0"/>
              <a:t>chính</a:t>
            </a:r>
            <a:r>
              <a:rPr sz="3600" spc="-5" dirty="0"/>
              <a:t> </a:t>
            </a:r>
            <a:r>
              <a:rPr sz="3600" spc="-25" dirty="0"/>
              <a:t>(3)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1795" y="1350059"/>
          <a:ext cx="640334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29615" y="1019047"/>
            <a:ext cx="3256279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NHANVIEN_PHONGBAN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800">
              <a:latin typeface="Arial"/>
              <a:cs typeface="Arial"/>
            </a:endParaRPr>
          </a:p>
          <a:p>
            <a:pPr marL="12700" marR="2803525">
              <a:lnSpc>
                <a:spcPct val="133100"/>
              </a:lnSpc>
            </a:pPr>
            <a:r>
              <a:rPr sz="1800" spc="-25" dirty="0">
                <a:latin typeface="Arial"/>
                <a:cs typeface="Arial"/>
              </a:rPr>
              <a:t>FD1 FD2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1595" y="1770683"/>
            <a:ext cx="3594100" cy="247650"/>
            <a:chOff x="1181595" y="1770683"/>
            <a:chExt cx="3594100" cy="247650"/>
          </a:xfrm>
        </p:grpSpPr>
        <p:sp>
          <p:nvSpPr>
            <p:cNvPr id="6" name="object 6"/>
            <p:cNvSpPr/>
            <p:nvPr/>
          </p:nvSpPr>
          <p:spPr>
            <a:xfrm>
              <a:off x="1219200" y="2010156"/>
              <a:ext cx="3508375" cy="1905"/>
            </a:xfrm>
            <a:custGeom>
              <a:avLst/>
              <a:gdLst/>
              <a:ahLst/>
              <a:cxnLst/>
              <a:rect l="l" t="t" r="r" b="b"/>
              <a:pathLst>
                <a:path w="3508375" h="1905">
                  <a:moveTo>
                    <a:pt x="0" y="0"/>
                  </a:moveTo>
                  <a:lnTo>
                    <a:pt x="3508248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595" y="1776983"/>
              <a:ext cx="76200" cy="23317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32431" y="1776983"/>
              <a:ext cx="1905" cy="233679"/>
            </a:xfrm>
            <a:custGeom>
              <a:avLst/>
              <a:gdLst/>
              <a:ahLst/>
              <a:cxnLst/>
              <a:rect l="l" t="t" r="r" b="b"/>
              <a:pathLst>
                <a:path w="1905" h="233680">
                  <a:moveTo>
                    <a:pt x="0" y="0"/>
                  </a:moveTo>
                  <a:lnTo>
                    <a:pt x="1524" y="233171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3332" y="1776983"/>
              <a:ext cx="76200" cy="2331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9000" y="1781555"/>
              <a:ext cx="76200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8608" y="1781555"/>
              <a:ext cx="76200" cy="233172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716576" y="2095295"/>
            <a:ext cx="1863089" cy="247650"/>
            <a:chOff x="4716576" y="2095295"/>
            <a:chExt cx="1863089" cy="247650"/>
          </a:xfrm>
        </p:grpSpPr>
        <p:sp>
          <p:nvSpPr>
            <p:cNvPr id="13" name="object 13"/>
            <p:cNvSpPr/>
            <p:nvPr/>
          </p:nvSpPr>
          <p:spPr>
            <a:xfrm>
              <a:off x="4722876" y="2101595"/>
              <a:ext cx="1813560" cy="234950"/>
            </a:xfrm>
            <a:custGeom>
              <a:avLst/>
              <a:gdLst/>
              <a:ahLst/>
              <a:cxnLst/>
              <a:rect l="l" t="t" r="r" b="b"/>
              <a:pathLst>
                <a:path w="1813559" h="234950">
                  <a:moveTo>
                    <a:pt x="0" y="233171"/>
                  </a:moveTo>
                  <a:lnTo>
                    <a:pt x="1813559" y="234695"/>
                  </a:lnTo>
                </a:path>
                <a:path w="1813559" h="234950">
                  <a:moveTo>
                    <a:pt x="3048" y="0"/>
                  </a:moveTo>
                  <a:lnTo>
                    <a:pt x="4572" y="233171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3416" y="2106167"/>
              <a:ext cx="76200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5008" y="2106167"/>
              <a:ext cx="76200" cy="233172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7427976" y="2395727"/>
            <a:ext cx="1450975" cy="643255"/>
          </a:xfrm>
          <a:custGeom>
            <a:avLst/>
            <a:gdLst/>
            <a:ahLst/>
            <a:cxnLst/>
            <a:rect l="l" t="t" r="r" b="b"/>
            <a:pathLst>
              <a:path w="1450975" h="643255">
                <a:moveTo>
                  <a:pt x="0" y="107187"/>
                </a:moveTo>
                <a:lnTo>
                  <a:pt x="8425" y="65472"/>
                </a:lnTo>
                <a:lnTo>
                  <a:pt x="31400" y="31400"/>
                </a:lnTo>
                <a:lnTo>
                  <a:pt x="65472" y="8425"/>
                </a:lnTo>
                <a:lnTo>
                  <a:pt x="107188" y="0"/>
                </a:lnTo>
                <a:lnTo>
                  <a:pt x="1343659" y="0"/>
                </a:lnTo>
                <a:lnTo>
                  <a:pt x="1385375" y="8425"/>
                </a:lnTo>
                <a:lnTo>
                  <a:pt x="1419447" y="31400"/>
                </a:lnTo>
                <a:lnTo>
                  <a:pt x="1442422" y="65472"/>
                </a:lnTo>
                <a:lnTo>
                  <a:pt x="1450848" y="107187"/>
                </a:lnTo>
                <a:lnTo>
                  <a:pt x="1450848" y="535939"/>
                </a:lnTo>
                <a:lnTo>
                  <a:pt x="1442422" y="577655"/>
                </a:lnTo>
                <a:lnTo>
                  <a:pt x="1419447" y="611727"/>
                </a:lnTo>
                <a:lnTo>
                  <a:pt x="1385375" y="634702"/>
                </a:lnTo>
                <a:lnTo>
                  <a:pt x="1343659" y="643127"/>
                </a:lnTo>
                <a:lnTo>
                  <a:pt x="107188" y="643127"/>
                </a:lnTo>
                <a:lnTo>
                  <a:pt x="65472" y="634702"/>
                </a:lnTo>
                <a:lnTo>
                  <a:pt x="31400" y="611727"/>
                </a:lnTo>
                <a:lnTo>
                  <a:pt x="8425" y="577655"/>
                </a:lnTo>
                <a:lnTo>
                  <a:pt x="0" y="535939"/>
                </a:lnTo>
                <a:lnTo>
                  <a:pt x="0" y="107187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05815" y="2424429"/>
            <a:ext cx="8462645" cy="367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44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  <a:hlinkClick r:id="rId4" action="ppaction://hlinksldjump"/>
              </a:rPr>
              <a:t>Thuộc</a:t>
            </a:r>
            <a:r>
              <a:rPr sz="1800" spc="-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spc="-20" dirty="0">
                <a:latin typeface="Arial"/>
                <a:cs typeface="Arial"/>
                <a:hlinkClick r:id="rId4" action="ppaction://hlinksldjump"/>
              </a:rPr>
              <a:t>dạng</a:t>
            </a:r>
            <a:endParaRPr sz="1800">
              <a:latin typeface="Arial"/>
              <a:cs typeface="Arial"/>
            </a:endParaRPr>
          </a:p>
          <a:p>
            <a:pPr marL="7244080">
              <a:lnSpc>
                <a:spcPct val="100000"/>
              </a:lnSpc>
            </a:pPr>
            <a:r>
              <a:rPr sz="1800" dirty="0">
                <a:latin typeface="Arial"/>
                <a:cs typeface="Arial"/>
                <a:hlinkClick r:id="rId4" action="ppaction://hlinksldjump"/>
              </a:rPr>
              <a:t>chuẩn</a:t>
            </a:r>
            <a:r>
              <a:rPr sz="18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spc="-60" dirty="0">
                <a:latin typeface="Arial"/>
                <a:cs typeface="Arial"/>
                <a:hlinkClick r:id="rId4" action="ppaction://hlinksldjump"/>
              </a:rPr>
              <a:t>2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198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751840" marR="551180" lvl="1" indent="-281940">
              <a:lnSpc>
                <a:spcPct val="100000"/>
              </a:lnSpc>
              <a:spcBef>
                <a:spcPts val="62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Mọi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cũng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thuộc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1.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Nếu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card(K)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dạng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chuẩn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2.</a:t>
            </a:r>
            <a:endParaRPr sz="2400">
              <a:latin typeface="Arial"/>
              <a:cs typeface="Arial"/>
            </a:endParaRPr>
          </a:p>
          <a:p>
            <a:pPr marL="751840" marR="295275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Còn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xuất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trùng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lặp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liệu.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gây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dị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31152" y="1901951"/>
            <a:ext cx="469265" cy="847725"/>
          </a:xfrm>
          <a:custGeom>
            <a:avLst/>
            <a:gdLst/>
            <a:ahLst/>
            <a:cxnLst/>
            <a:rect l="l" t="t" r="r" b="b"/>
            <a:pathLst>
              <a:path w="469265" h="847725">
                <a:moveTo>
                  <a:pt x="444373" y="796671"/>
                </a:moveTo>
                <a:lnTo>
                  <a:pt x="433324" y="802767"/>
                </a:lnTo>
                <a:lnTo>
                  <a:pt x="457707" y="847344"/>
                </a:lnTo>
                <a:lnTo>
                  <a:pt x="468883" y="841248"/>
                </a:lnTo>
                <a:lnTo>
                  <a:pt x="444373" y="796671"/>
                </a:lnTo>
                <a:close/>
              </a:path>
              <a:path w="469265" h="847725">
                <a:moveTo>
                  <a:pt x="401700" y="718820"/>
                </a:moveTo>
                <a:lnTo>
                  <a:pt x="390525" y="724915"/>
                </a:lnTo>
                <a:lnTo>
                  <a:pt x="414908" y="769365"/>
                </a:lnTo>
                <a:lnTo>
                  <a:pt x="426084" y="763270"/>
                </a:lnTo>
                <a:lnTo>
                  <a:pt x="401700" y="718820"/>
                </a:lnTo>
                <a:close/>
              </a:path>
              <a:path w="469265" h="847725">
                <a:moveTo>
                  <a:pt x="358901" y="640842"/>
                </a:moveTo>
                <a:lnTo>
                  <a:pt x="347725" y="646938"/>
                </a:lnTo>
                <a:lnTo>
                  <a:pt x="372237" y="691514"/>
                </a:lnTo>
                <a:lnTo>
                  <a:pt x="383286" y="685419"/>
                </a:lnTo>
                <a:lnTo>
                  <a:pt x="358901" y="640842"/>
                </a:lnTo>
                <a:close/>
              </a:path>
              <a:path w="469265" h="847725">
                <a:moveTo>
                  <a:pt x="316102" y="562863"/>
                </a:moveTo>
                <a:lnTo>
                  <a:pt x="304926" y="568960"/>
                </a:lnTo>
                <a:lnTo>
                  <a:pt x="329438" y="613537"/>
                </a:lnTo>
                <a:lnTo>
                  <a:pt x="340614" y="607440"/>
                </a:lnTo>
                <a:lnTo>
                  <a:pt x="316102" y="562863"/>
                </a:lnTo>
                <a:close/>
              </a:path>
              <a:path w="469265" h="847725">
                <a:moveTo>
                  <a:pt x="273303" y="485013"/>
                </a:moveTo>
                <a:lnTo>
                  <a:pt x="262254" y="491109"/>
                </a:lnTo>
                <a:lnTo>
                  <a:pt x="286639" y="535559"/>
                </a:lnTo>
                <a:lnTo>
                  <a:pt x="297815" y="529463"/>
                </a:lnTo>
                <a:lnTo>
                  <a:pt x="273303" y="485013"/>
                </a:lnTo>
                <a:close/>
              </a:path>
              <a:path w="469265" h="847725">
                <a:moveTo>
                  <a:pt x="230631" y="407035"/>
                </a:moveTo>
                <a:lnTo>
                  <a:pt x="219455" y="413131"/>
                </a:lnTo>
                <a:lnTo>
                  <a:pt x="243840" y="457708"/>
                </a:lnTo>
                <a:lnTo>
                  <a:pt x="255016" y="451612"/>
                </a:lnTo>
                <a:lnTo>
                  <a:pt x="230631" y="407035"/>
                </a:lnTo>
                <a:close/>
              </a:path>
              <a:path w="469265" h="847725">
                <a:moveTo>
                  <a:pt x="187832" y="329057"/>
                </a:moveTo>
                <a:lnTo>
                  <a:pt x="176656" y="335152"/>
                </a:lnTo>
                <a:lnTo>
                  <a:pt x="201168" y="379730"/>
                </a:lnTo>
                <a:lnTo>
                  <a:pt x="212217" y="373634"/>
                </a:lnTo>
                <a:lnTo>
                  <a:pt x="187832" y="329057"/>
                </a:lnTo>
                <a:close/>
              </a:path>
              <a:path w="469265" h="847725">
                <a:moveTo>
                  <a:pt x="145033" y="251206"/>
                </a:moveTo>
                <a:lnTo>
                  <a:pt x="133857" y="257301"/>
                </a:lnTo>
                <a:lnTo>
                  <a:pt x="158369" y="301751"/>
                </a:lnTo>
                <a:lnTo>
                  <a:pt x="169545" y="295656"/>
                </a:lnTo>
                <a:lnTo>
                  <a:pt x="145033" y="251206"/>
                </a:lnTo>
                <a:close/>
              </a:path>
              <a:path w="469265" h="847725">
                <a:moveTo>
                  <a:pt x="102234" y="173227"/>
                </a:moveTo>
                <a:lnTo>
                  <a:pt x="91186" y="179324"/>
                </a:lnTo>
                <a:lnTo>
                  <a:pt x="115570" y="223900"/>
                </a:lnTo>
                <a:lnTo>
                  <a:pt x="126746" y="217805"/>
                </a:lnTo>
                <a:lnTo>
                  <a:pt x="102234" y="173227"/>
                </a:lnTo>
                <a:close/>
              </a:path>
              <a:path w="469265" h="847725">
                <a:moveTo>
                  <a:pt x="59563" y="95250"/>
                </a:moveTo>
                <a:lnTo>
                  <a:pt x="48387" y="101346"/>
                </a:lnTo>
                <a:lnTo>
                  <a:pt x="72771" y="145923"/>
                </a:lnTo>
                <a:lnTo>
                  <a:pt x="83947" y="139826"/>
                </a:lnTo>
                <a:lnTo>
                  <a:pt x="59563" y="95250"/>
                </a:lnTo>
                <a:close/>
              </a:path>
              <a:path w="469265" h="847725">
                <a:moveTo>
                  <a:pt x="0" y="0"/>
                </a:moveTo>
                <a:lnTo>
                  <a:pt x="3301" y="85089"/>
                </a:lnTo>
                <a:lnTo>
                  <a:pt x="34615" y="67945"/>
                </a:lnTo>
                <a:lnTo>
                  <a:pt x="30099" y="67945"/>
                </a:lnTo>
                <a:lnTo>
                  <a:pt x="25019" y="58674"/>
                </a:lnTo>
                <a:lnTo>
                  <a:pt x="36068" y="52577"/>
                </a:lnTo>
                <a:lnTo>
                  <a:pt x="62681" y="52577"/>
                </a:lnTo>
                <a:lnTo>
                  <a:pt x="70103" y="48513"/>
                </a:lnTo>
                <a:lnTo>
                  <a:pt x="0" y="0"/>
                </a:lnTo>
                <a:close/>
              </a:path>
              <a:path w="469265" h="847725">
                <a:moveTo>
                  <a:pt x="36068" y="52577"/>
                </a:moveTo>
                <a:lnTo>
                  <a:pt x="25019" y="58674"/>
                </a:lnTo>
                <a:lnTo>
                  <a:pt x="30099" y="67945"/>
                </a:lnTo>
                <a:lnTo>
                  <a:pt x="41148" y="61849"/>
                </a:lnTo>
                <a:lnTo>
                  <a:pt x="36068" y="52577"/>
                </a:lnTo>
                <a:close/>
              </a:path>
              <a:path w="469265" h="847725">
                <a:moveTo>
                  <a:pt x="62681" y="52577"/>
                </a:moveTo>
                <a:lnTo>
                  <a:pt x="36068" y="52577"/>
                </a:lnTo>
                <a:lnTo>
                  <a:pt x="41148" y="61849"/>
                </a:lnTo>
                <a:lnTo>
                  <a:pt x="30099" y="67945"/>
                </a:lnTo>
                <a:lnTo>
                  <a:pt x="34615" y="67945"/>
                </a:lnTo>
                <a:lnTo>
                  <a:pt x="62681" y="525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70941C7-FED0-147B-4603-2963073A75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80" dirty="0"/>
              <a:t> </a:t>
            </a:r>
            <a:r>
              <a:rPr dirty="0"/>
              <a:t>chuẩn</a:t>
            </a:r>
            <a:r>
              <a:rPr spc="-75" dirty="0"/>
              <a:t> </a:t>
            </a:r>
            <a:r>
              <a:rPr dirty="0"/>
              <a:t>3</a:t>
            </a:r>
            <a:r>
              <a:rPr spc="-95" dirty="0"/>
              <a:t> </a:t>
            </a:r>
            <a:r>
              <a:rPr dirty="0"/>
              <a:t>theo</a:t>
            </a:r>
            <a:r>
              <a:rPr spc="-95" dirty="0"/>
              <a:t> </a:t>
            </a:r>
            <a:r>
              <a:rPr dirty="0"/>
              <a:t>khóa</a:t>
            </a:r>
            <a:r>
              <a:rPr spc="-70" dirty="0"/>
              <a:t> </a:t>
            </a:r>
            <a:r>
              <a:rPr dirty="0"/>
              <a:t>chính</a:t>
            </a:r>
            <a:r>
              <a:rPr spc="-95" dirty="0"/>
              <a:t> </a:t>
            </a:r>
            <a:r>
              <a:rPr spc="-25" dirty="0"/>
              <a:t>(1)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0491" y="4398059"/>
          <a:ext cx="640334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2940304" y="4818684"/>
            <a:ext cx="3595370" cy="247650"/>
            <a:chOff x="2940304" y="4818684"/>
            <a:chExt cx="3595370" cy="247650"/>
          </a:xfrm>
        </p:grpSpPr>
        <p:sp>
          <p:nvSpPr>
            <p:cNvPr id="5" name="object 5"/>
            <p:cNvSpPr/>
            <p:nvPr/>
          </p:nvSpPr>
          <p:spPr>
            <a:xfrm>
              <a:off x="2977896" y="5058156"/>
              <a:ext cx="3508375" cy="1905"/>
            </a:xfrm>
            <a:custGeom>
              <a:avLst/>
              <a:gdLst/>
              <a:ahLst/>
              <a:cxnLst/>
              <a:rect l="l" t="t" r="r" b="b"/>
              <a:pathLst>
                <a:path w="3508375" h="1904">
                  <a:moveTo>
                    <a:pt x="0" y="0"/>
                  </a:moveTo>
                  <a:lnTo>
                    <a:pt x="3508248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0304" y="4824984"/>
              <a:ext cx="76200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91128" y="4824984"/>
              <a:ext cx="1905" cy="233679"/>
            </a:xfrm>
            <a:custGeom>
              <a:avLst/>
              <a:gdLst/>
              <a:ahLst/>
              <a:cxnLst/>
              <a:rect l="l" t="t" r="r" b="b"/>
              <a:pathLst>
                <a:path w="1904" h="233679">
                  <a:moveTo>
                    <a:pt x="0" y="0"/>
                  </a:moveTo>
                  <a:lnTo>
                    <a:pt x="1524" y="233172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2028" y="4824984"/>
              <a:ext cx="76200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9219" y="4829556"/>
              <a:ext cx="76200" cy="2331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7304" y="4829556"/>
              <a:ext cx="76200" cy="23317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475271" y="5143296"/>
            <a:ext cx="1863089" cy="247650"/>
            <a:chOff x="6475271" y="5143296"/>
            <a:chExt cx="1863089" cy="247650"/>
          </a:xfrm>
        </p:grpSpPr>
        <p:sp>
          <p:nvSpPr>
            <p:cNvPr id="12" name="object 12"/>
            <p:cNvSpPr/>
            <p:nvPr/>
          </p:nvSpPr>
          <p:spPr>
            <a:xfrm>
              <a:off x="6481571" y="5149596"/>
              <a:ext cx="1813560" cy="234950"/>
            </a:xfrm>
            <a:custGeom>
              <a:avLst/>
              <a:gdLst/>
              <a:ahLst/>
              <a:cxnLst/>
              <a:rect l="l" t="t" r="r" b="b"/>
              <a:pathLst>
                <a:path w="1813559" h="234950">
                  <a:moveTo>
                    <a:pt x="0" y="233171"/>
                  </a:moveTo>
                  <a:lnTo>
                    <a:pt x="1813559" y="234695"/>
                  </a:lnTo>
                </a:path>
                <a:path w="1813559" h="234950">
                  <a:moveTo>
                    <a:pt x="3048" y="0"/>
                  </a:moveTo>
                  <a:lnTo>
                    <a:pt x="4572" y="233171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2111" y="5154168"/>
              <a:ext cx="76200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3703" y="5154168"/>
              <a:ext cx="76200" cy="23317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677208" y="5533440"/>
            <a:ext cx="3676650" cy="248920"/>
            <a:chOff x="3677208" y="5533440"/>
            <a:chExt cx="3676650" cy="248920"/>
          </a:xfrm>
        </p:grpSpPr>
        <p:sp>
          <p:nvSpPr>
            <p:cNvPr id="16" name="object 16"/>
            <p:cNvSpPr/>
            <p:nvPr/>
          </p:nvSpPr>
          <p:spPr>
            <a:xfrm>
              <a:off x="3683508" y="5539740"/>
              <a:ext cx="3641090" cy="236220"/>
            </a:xfrm>
            <a:custGeom>
              <a:avLst/>
              <a:gdLst/>
              <a:ahLst/>
              <a:cxnLst/>
              <a:rect l="l" t="t" r="r" b="b"/>
              <a:pathLst>
                <a:path w="3641090" h="236220">
                  <a:moveTo>
                    <a:pt x="0" y="234696"/>
                  </a:moveTo>
                  <a:lnTo>
                    <a:pt x="3640836" y="236220"/>
                  </a:lnTo>
                </a:path>
                <a:path w="3641090" h="236220">
                  <a:moveTo>
                    <a:pt x="3047" y="0"/>
                  </a:moveTo>
                  <a:lnTo>
                    <a:pt x="4571" y="234696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7608" y="5545836"/>
              <a:ext cx="76200" cy="233210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326136" y="4375403"/>
            <a:ext cx="1452880" cy="368935"/>
          </a:xfrm>
          <a:custGeom>
            <a:avLst/>
            <a:gdLst/>
            <a:ahLst/>
            <a:cxnLst/>
            <a:rect l="l" t="t" r="r" b="b"/>
            <a:pathLst>
              <a:path w="1452880" h="368935">
                <a:moveTo>
                  <a:pt x="0" y="61468"/>
                </a:moveTo>
                <a:lnTo>
                  <a:pt x="4830" y="37558"/>
                </a:lnTo>
                <a:lnTo>
                  <a:pt x="18003" y="18018"/>
                </a:lnTo>
                <a:lnTo>
                  <a:pt x="37542" y="4835"/>
                </a:lnTo>
                <a:lnTo>
                  <a:pt x="61468" y="0"/>
                </a:lnTo>
                <a:lnTo>
                  <a:pt x="1390903" y="0"/>
                </a:lnTo>
                <a:lnTo>
                  <a:pt x="1414813" y="4835"/>
                </a:lnTo>
                <a:lnTo>
                  <a:pt x="1434353" y="18018"/>
                </a:lnTo>
                <a:lnTo>
                  <a:pt x="1447536" y="37558"/>
                </a:lnTo>
                <a:lnTo>
                  <a:pt x="1452371" y="61468"/>
                </a:lnTo>
                <a:lnTo>
                  <a:pt x="1452371" y="307340"/>
                </a:lnTo>
                <a:lnTo>
                  <a:pt x="1447536" y="331249"/>
                </a:lnTo>
                <a:lnTo>
                  <a:pt x="1434353" y="350789"/>
                </a:lnTo>
                <a:lnTo>
                  <a:pt x="1414813" y="363972"/>
                </a:lnTo>
                <a:lnTo>
                  <a:pt x="1390903" y="368808"/>
                </a:lnTo>
                <a:lnTo>
                  <a:pt x="61468" y="368808"/>
                </a:lnTo>
                <a:lnTo>
                  <a:pt x="37542" y="363972"/>
                </a:lnTo>
                <a:lnTo>
                  <a:pt x="18003" y="350789"/>
                </a:lnTo>
                <a:lnTo>
                  <a:pt x="4830" y="331249"/>
                </a:lnTo>
                <a:lnTo>
                  <a:pt x="0" y="307340"/>
                </a:lnTo>
                <a:lnTo>
                  <a:pt x="0" y="61468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05815" y="1021443"/>
            <a:ext cx="8282305" cy="48069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Lược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dạng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chuẩn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25" dirty="0">
                <a:latin typeface="Arial"/>
                <a:cs typeface="Arial"/>
              </a:rPr>
              <a:t> nếu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1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dạng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chuẩn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2.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Mọi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phụ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bắt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cầu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chính</a:t>
            </a:r>
            <a:endParaRPr sz="18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R.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00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Cho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R(U)</a:t>
            </a:r>
            <a:endParaRPr sz="2000">
              <a:latin typeface="Arial"/>
              <a:cs typeface="Arial"/>
            </a:endParaRPr>
          </a:p>
          <a:p>
            <a:pPr marL="751840" marR="136525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PTH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bắt cầu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nếu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</a:t>
            </a:r>
            <a:r>
              <a:rPr sz="1800" dirty="0">
                <a:latin typeface="Arial"/>
                <a:cs typeface="Arial"/>
              </a:rPr>
              <a:t>Z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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U,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Z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 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cũng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 </a:t>
            </a:r>
            <a:r>
              <a:rPr sz="1800" spc="-25" dirty="0">
                <a:latin typeface="Arial"/>
                <a:cs typeface="Arial"/>
              </a:rPr>
              <a:t>tập </a:t>
            </a:r>
            <a:r>
              <a:rPr sz="1800" dirty="0">
                <a:latin typeface="Arial"/>
                <a:cs typeface="Arial"/>
              </a:rPr>
              <a:t>con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Z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Z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đúng trên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R.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Ví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dụ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000">
              <a:latin typeface="Arial"/>
              <a:cs typeface="Arial"/>
            </a:endParaRPr>
          </a:p>
          <a:p>
            <a:pPr marL="23114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NHANVIEN_PHONGBAN</a:t>
            </a:r>
            <a:endParaRPr sz="18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latin typeface="Arial"/>
                <a:cs typeface="Arial"/>
              </a:rPr>
              <a:t>PTH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bắt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cầu</a:t>
            </a:r>
            <a:endParaRPr sz="1800">
              <a:latin typeface="Arial"/>
              <a:cs typeface="Arial"/>
            </a:endParaRPr>
          </a:p>
          <a:p>
            <a:pPr marL="1695450" marR="6146165" algn="just">
              <a:lnSpc>
                <a:spcPct val="133200"/>
              </a:lnSpc>
              <a:spcBef>
                <a:spcPts val="225"/>
              </a:spcBef>
            </a:pPr>
            <a:r>
              <a:rPr sz="1800" spc="-25" dirty="0">
                <a:latin typeface="Arial"/>
                <a:cs typeface="Arial"/>
              </a:rPr>
              <a:t>FD1 FD2 FD3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46873" y="4739894"/>
            <a:ext cx="865505" cy="942975"/>
          </a:xfrm>
          <a:custGeom>
            <a:avLst/>
            <a:gdLst/>
            <a:ahLst/>
            <a:cxnLst/>
            <a:rect l="l" t="t" r="r" b="b"/>
            <a:pathLst>
              <a:path w="865505" h="942975">
                <a:moveTo>
                  <a:pt x="9359" y="0"/>
                </a:moveTo>
                <a:lnTo>
                  <a:pt x="0" y="8635"/>
                </a:lnTo>
                <a:lnTo>
                  <a:pt x="34340" y="46100"/>
                </a:lnTo>
                <a:lnTo>
                  <a:pt x="43700" y="37464"/>
                </a:lnTo>
                <a:lnTo>
                  <a:pt x="9359" y="0"/>
                </a:lnTo>
                <a:close/>
              </a:path>
              <a:path w="865505" h="942975">
                <a:moveTo>
                  <a:pt x="69456" y="65531"/>
                </a:moveTo>
                <a:lnTo>
                  <a:pt x="60096" y="74167"/>
                </a:lnTo>
                <a:lnTo>
                  <a:pt x="94424" y="111505"/>
                </a:lnTo>
                <a:lnTo>
                  <a:pt x="103784" y="102996"/>
                </a:lnTo>
                <a:lnTo>
                  <a:pt x="69456" y="65531"/>
                </a:lnTo>
                <a:close/>
              </a:path>
              <a:path w="865505" h="942975">
                <a:moveTo>
                  <a:pt x="129540" y="131063"/>
                </a:moveTo>
                <a:lnTo>
                  <a:pt x="120180" y="139699"/>
                </a:lnTo>
                <a:lnTo>
                  <a:pt x="154520" y="177037"/>
                </a:lnTo>
                <a:lnTo>
                  <a:pt x="163880" y="168528"/>
                </a:lnTo>
                <a:lnTo>
                  <a:pt x="129540" y="131063"/>
                </a:lnTo>
                <a:close/>
              </a:path>
              <a:path w="865505" h="942975">
                <a:moveTo>
                  <a:pt x="189623" y="196595"/>
                </a:moveTo>
                <a:lnTo>
                  <a:pt x="180263" y="205104"/>
                </a:lnTo>
                <a:lnTo>
                  <a:pt x="214604" y="242569"/>
                </a:lnTo>
                <a:lnTo>
                  <a:pt x="224015" y="234060"/>
                </a:lnTo>
                <a:lnTo>
                  <a:pt x="189623" y="196595"/>
                </a:lnTo>
                <a:close/>
              </a:path>
              <a:path w="865505" h="942975">
                <a:moveTo>
                  <a:pt x="249669" y="262127"/>
                </a:moveTo>
                <a:lnTo>
                  <a:pt x="240398" y="270636"/>
                </a:lnTo>
                <a:lnTo>
                  <a:pt x="274688" y="308101"/>
                </a:lnTo>
                <a:lnTo>
                  <a:pt x="284086" y="299592"/>
                </a:lnTo>
                <a:lnTo>
                  <a:pt x="249669" y="262127"/>
                </a:lnTo>
                <a:close/>
              </a:path>
              <a:path w="865505" h="942975">
                <a:moveTo>
                  <a:pt x="309740" y="327659"/>
                </a:moveTo>
                <a:lnTo>
                  <a:pt x="300469" y="336168"/>
                </a:lnTo>
                <a:lnTo>
                  <a:pt x="334759" y="373633"/>
                </a:lnTo>
                <a:lnTo>
                  <a:pt x="344157" y="364997"/>
                </a:lnTo>
                <a:lnTo>
                  <a:pt x="309740" y="327659"/>
                </a:lnTo>
                <a:close/>
              </a:path>
              <a:path w="865505" h="942975">
                <a:moveTo>
                  <a:pt x="369938" y="393191"/>
                </a:moveTo>
                <a:lnTo>
                  <a:pt x="360540" y="401700"/>
                </a:lnTo>
                <a:lnTo>
                  <a:pt x="394830" y="439165"/>
                </a:lnTo>
                <a:lnTo>
                  <a:pt x="404228" y="430529"/>
                </a:lnTo>
                <a:lnTo>
                  <a:pt x="369938" y="393191"/>
                </a:lnTo>
                <a:close/>
              </a:path>
              <a:path w="865505" h="942975">
                <a:moveTo>
                  <a:pt x="430009" y="458596"/>
                </a:moveTo>
                <a:lnTo>
                  <a:pt x="420611" y="467232"/>
                </a:lnTo>
                <a:lnTo>
                  <a:pt x="454901" y="504697"/>
                </a:lnTo>
                <a:lnTo>
                  <a:pt x="464299" y="496061"/>
                </a:lnTo>
                <a:lnTo>
                  <a:pt x="430009" y="458596"/>
                </a:lnTo>
                <a:close/>
              </a:path>
              <a:path w="865505" h="942975">
                <a:moveTo>
                  <a:pt x="490080" y="524128"/>
                </a:moveTo>
                <a:lnTo>
                  <a:pt x="480682" y="532764"/>
                </a:lnTo>
                <a:lnTo>
                  <a:pt x="515099" y="570229"/>
                </a:lnTo>
                <a:lnTo>
                  <a:pt x="524370" y="561593"/>
                </a:lnTo>
                <a:lnTo>
                  <a:pt x="490080" y="524128"/>
                </a:lnTo>
                <a:close/>
              </a:path>
              <a:path w="865505" h="942975">
                <a:moveTo>
                  <a:pt x="550151" y="589660"/>
                </a:moveTo>
                <a:lnTo>
                  <a:pt x="540753" y="598296"/>
                </a:lnTo>
                <a:lnTo>
                  <a:pt x="575170" y="635761"/>
                </a:lnTo>
                <a:lnTo>
                  <a:pt x="584441" y="627125"/>
                </a:lnTo>
                <a:lnTo>
                  <a:pt x="550151" y="589660"/>
                </a:lnTo>
                <a:close/>
              </a:path>
              <a:path w="865505" h="942975">
                <a:moveTo>
                  <a:pt x="610222" y="655192"/>
                </a:moveTo>
                <a:lnTo>
                  <a:pt x="600824" y="663828"/>
                </a:lnTo>
                <a:lnTo>
                  <a:pt x="635241" y="701293"/>
                </a:lnTo>
                <a:lnTo>
                  <a:pt x="644512" y="692657"/>
                </a:lnTo>
                <a:lnTo>
                  <a:pt x="610222" y="655192"/>
                </a:lnTo>
                <a:close/>
              </a:path>
              <a:path w="865505" h="942975">
                <a:moveTo>
                  <a:pt x="670293" y="720724"/>
                </a:moveTo>
                <a:lnTo>
                  <a:pt x="661022" y="729360"/>
                </a:lnTo>
                <a:lnTo>
                  <a:pt x="695312" y="766698"/>
                </a:lnTo>
                <a:lnTo>
                  <a:pt x="704710" y="758189"/>
                </a:lnTo>
                <a:lnTo>
                  <a:pt x="670293" y="720724"/>
                </a:lnTo>
                <a:close/>
              </a:path>
              <a:path w="865505" h="942975">
                <a:moveTo>
                  <a:pt x="730364" y="786256"/>
                </a:moveTo>
                <a:lnTo>
                  <a:pt x="721093" y="794892"/>
                </a:lnTo>
                <a:lnTo>
                  <a:pt x="755383" y="832230"/>
                </a:lnTo>
                <a:lnTo>
                  <a:pt x="764781" y="823721"/>
                </a:lnTo>
                <a:lnTo>
                  <a:pt x="730364" y="786256"/>
                </a:lnTo>
                <a:close/>
              </a:path>
              <a:path w="865505" h="942975">
                <a:moveTo>
                  <a:pt x="808920" y="890667"/>
                </a:moveTo>
                <a:lnTo>
                  <a:pt x="785482" y="912126"/>
                </a:lnTo>
                <a:lnTo>
                  <a:pt x="865111" y="942530"/>
                </a:lnTo>
                <a:lnTo>
                  <a:pt x="852351" y="897801"/>
                </a:lnTo>
                <a:lnTo>
                  <a:pt x="815454" y="897801"/>
                </a:lnTo>
                <a:lnTo>
                  <a:pt x="808920" y="890667"/>
                </a:lnTo>
                <a:close/>
              </a:path>
              <a:path w="865505" h="942975">
                <a:moveTo>
                  <a:pt x="818295" y="882083"/>
                </a:moveTo>
                <a:lnTo>
                  <a:pt x="808920" y="890667"/>
                </a:lnTo>
                <a:lnTo>
                  <a:pt x="815454" y="897801"/>
                </a:lnTo>
                <a:lnTo>
                  <a:pt x="824852" y="889215"/>
                </a:lnTo>
                <a:lnTo>
                  <a:pt x="818295" y="882083"/>
                </a:lnTo>
                <a:close/>
              </a:path>
              <a:path w="865505" h="942975">
                <a:moveTo>
                  <a:pt x="841743" y="860615"/>
                </a:moveTo>
                <a:lnTo>
                  <a:pt x="818295" y="882083"/>
                </a:lnTo>
                <a:lnTo>
                  <a:pt x="824852" y="889215"/>
                </a:lnTo>
                <a:lnTo>
                  <a:pt x="815454" y="897801"/>
                </a:lnTo>
                <a:lnTo>
                  <a:pt x="852351" y="897801"/>
                </a:lnTo>
                <a:lnTo>
                  <a:pt x="841743" y="860615"/>
                </a:lnTo>
                <a:close/>
              </a:path>
              <a:path w="865505" h="942975">
                <a:moveTo>
                  <a:pt x="790435" y="851776"/>
                </a:moveTo>
                <a:lnTo>
                  <a:pt x="781164" y="860361"/>
                </a:lnTo>
                <a:lnTo>
                  <a:pt x="808920" y="890667"/>
                </a:lnTo>
                <a:lnTo>
                  <a:pt x="818295" y="882083"/>
                </a:lnTo>
                <a:lnTo>
                  <a:pt x="790435" y="851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2B2CA48-60FB-3EF1-05BA-7172D3DA90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80" dirty="0"/>
              <a:t> </a:t>
            </a:r>
            <a:r>
              <a:rPr dirty="0"/>
              <a:t>chuẩn</a:t>
            </a:r>
            <a:r>
              <a:rPr spc="-75" dirty="0"/>
              <a:t> </a:t>
            </a:r>
            <a:r>
              <a:rPr dirty="0"/>
              <a:t>3</a:t>
            </a:r>
            <a:r>
              <a:rPr spc="-95" dirty="0"/>
              <a:t> </a:t>
            </a:r>
            <a:r>
              <a:rPr dirty="0"/>
              <a:t>theo</a:t>
            </a:r>
            <a:r>
              <a:rPr spc="-95" dirty="0"/>
              <a:t> </a:t>
            </a:r>
            <a:r>
              <a:rPr dirty="0"/>
              <a:t>khóa</a:t>
            </a:r>
            <a:r>
              <a:rPr spc="-70" dirty="0"/>
              <a:t> </a:t>
            </a:r>
            <a:r>
              <a:rPr dirty="0"/>
              <a:t>chính</a:t>
            </a:r>
            <a:r>
              <a:rPr spc="-9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3516176"/>
            <a:ext cx="8187690" cy="260286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751840" marR="276225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Mọi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cũng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thuộc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PTH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bắt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nguyên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dẫn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trùng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lặp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751840" marR="52959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Dạng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tối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thiểu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kế </a:t>
            </a:r>
            <a:r>
              <a:rPr sz="2400" spc="-10" dirty="0">
                <a:latin typeface="Arial"/>
                <a:cs typeface="Arial"/>
              </a:rPr>
              <a:t>CSDL.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4699" y="2768904"/>
          <a:ext cx="449199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58520" y="2352802"/>
            <a:ext cx="901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NV_PB1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80099" y="2746044"/>
          <a:ext cx="263271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564504" y="2416302"/>
            <a:ext cx="901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NV_PB2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0803" y="3181907"/>
            <a:ext cx="3594100" cy="247650"/>
            <a:chOff x="940803" y="3181907"/>
            <a:chExt cx="3594100" cy="247650"/>
          </a:xfrm>
        </p:grpSpPr>
        <p:sp>
          <p:nvSpPr>
            <p:cNvPr id="9" name="object 9"/>
            <p:cNvSpPr/>
            <p:nvPr/>
          </p:nvSpPr>
          <p:spPr>
            <a:xfrm>
              <a:off x="978408" y="3421379"/>
              <a:ext cx="3508375" cy="1905"/>
            </a:xfrm>
            <a:custGeom>
              <a:avLst/>
              <a:gdLst/>
              <a:ahLst/>
              <a:cxnLst/>
              <a:rect l="l" t="t" r="r" b="b"/>
              <a:pathLst>
                <a:path w="3508375" h="1904">
                  <a:moveTo>
                    <a:pt x="0" y="0"/>
                  </a:moveTo>
                  <a:lnTo>
                    <a:pt x="3508247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803" y="3188207"/>
              <a:ext cx="76200" cy="23317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90116" y="3188207"/>
              <a:ext cx="1905" cy="233679"/>
            </a:xfrm>
            <a:custGeom>
              <a:avLst/>
              <a:gdLst/>
              <a:ahLst/>
              <a:cxnLst/>
              <a:rect l="l" t="t" r="r" b="b"/>
              <a:pathLst>
                <a:path w="1905" h="233679">
                  <a:moveTo>
                    <a:pt x="0" y="0"/>
                  </a:moveTo>
                  <a:lnTo>
                    <a:pt x="1523" y="233171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2540" y="3188207"/>
              <a:ext cx="76200" cy="2331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8208" y="3192779"/>
              <a:ext cx="76200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7816" y="3192779"/>
              <a:ext cx="76200" cy="23317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873291" y="3183635"/>
            <a:ext cx="1863089" cy="248920"/>
            <a:chOff x="5873291" y="3183635"/>
            <a:chExt cx="1863089" cy="248920"/>
          </a:xfrm>
        </p:grpSpPr>
        <p:sp>
          <p:nvSpPr>
            <p:cNvPr id="16" name="object 16"/>
            <p:cNvSpPr/>
            <p:nvPr/>
          </p:nvSpPr>
          <p:spPr>
            <a:xfrm>
              <a:off x="5879591" y="3191255"/>
              <a:ext cx="1813560" cy="234950"/>
            </a:xfrm>
            <a:custGeom>
              <a:avLst/>
              <a:gdLst/>
              <a:ahLst/>
              <a:cxnLst/>
              <a:rect l="l" t="t" r="r" b="b"/>
              <a:pathLst>
                <a:path w="1813559" h="234950">
                  <a:moveTo>
                    <a:pt x="0" y="233172"/>
                  </a:moveTo>
                  <a:lnTo>
                    <a:pt x="1813560" y="234696"/>
                  </a:lnTo>
                </a:path>
                <a:path w="1813559" h="234950">
                  <a:moveTo>
                    <a:pt x="3048" y="0"/>
                  </a:moveTo>
                  <a:lnTo>
                    <a:pt x="4572" y="233172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0131" y="3183635"/>
              <a:ext cx="76200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1723" y="3183635"/>
              <a:ext cx="76200" cy="233172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3768852" y="1037844"/>
            <a:ext cx="1450975" cy="643255"/>
          </a:xfrm>
          <a:custGeom>
            <a:avLst/>
            <a:gdLst/>
            <a:ahLst/>
            <a:cxnLst/>
            <a:rect l="l" t="t" r="r" b="b"/>
            <a:pathLst>
              <a:path w="1450975" h="643255">
                <a:moveTo>
                  <a:pt x="0" y="107187"/>
                </a:moveTo>
                <a:lnTo>
                  <a:pt x="8425" y="65472"/>
                </a:lnTo>
                <a:lnTo>
                  <a:pt x="31400" y="31400"/>
                </a:lnTo>
                <a:lnTo>
                  <a:pt x="65472" y="8425"/>
                </a:lnTo>
                <a:lnTo>
                  <a:pt x="107187" y="0"/>
                </a:lnTo>
                <a:lnTo>
                  <a:pt x="1343660" y="0"/>
                </a:lnTo>
                <a:lnTo>
                  <a:pt x="1385375" y="8425"/>
                </a:lnTo>
                <a:lnTo>
                  <a:pt x="1419447" y="31400"/>
                </a:lnTo>
                <a:lnTo>
                  <a:pt x="1442422" y="65472"/>
                </a:lnTo>
                <a:lnTo>
                  <a:pt x="1450848" y="107187"/>
                </a:lnTo>
                <a:lnTo>
                  <a:pt x="1450848" y="535939"/>
                </a:lnTo>
                <a:lnTo>
                  <a:pt x="1442422" y="577655"/>
                </a:lnTo>
                <a:lnTo>
                  <a:pt x="1419447" y="611727"/>
                </a:lnTo>
                <a:lnTo>
                  <a:pt x="1385375" y="634702"/>
                </a:lnTo>
                <a:lnTo>
                  <a:pt x="1343660" y="643127"/>
                </a:lnTo>
                <a:lnTo>
                  <a:pt x="107187" y="643127"/>
                </a:lnTo>
                <a:lnTo>
                  <a:pt x="65472" y="634702"/>
                </a:lnTo>
                <a:lnTo>
                  <a:pt x="31400" y="611727"/>
                </a:lnTo>
                <a:lnTo>
                  <a:pt x="8425" y="577655"/>
                </a:lnTo>
                <a:lnTo>
                  <a:pt x="0" y="535939"/>
                </a:lnTo>
                <a:lnTo>
                  <a:pt x="0" y="107187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878071" y="1066927"/>
            <a:ext cx="1230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  <a:hlinkClick r:id="rId4" action="ppaction://hlinksldjump"/>
              </a:rPr>
              <a:t>Thuộc</a:t>
            </a:r>
            <a:r>
              <a:rPr sz="1800" spc="-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spc="-20" dirty="0">
                <a:latin typeface="Arial"/>
                <a:cs typeface="Arial"/>
                <a:hlinkClick r:id="rId4" action="ppaction://hlinksldjump"/>
              </a:rPr>
              <a:t>dạng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chuẩn</a:t>
            </a:r>
            <a:r>
              <a:rPr sz="18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spc="-60" dirty="0">
                <a:latin typeface="Arial"/>
                <a:cs typeface="Arial"/>
                <a:hlinkClick r:id="rId4" action="ppaction://hlinksldjump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29940" y="1708657"/>
            <a:ext cx="2630805" cy="655320"/>
          </a:xfrm>
          <a:custGeom>
            <a:avLst/>
            <a:gdLst/>
            <a:ahLst/>
            <a:cxnLst/>
            <a:rect l="l" t="t" r="r" b="b"/>
            <a:pathLst>
              <a:path w="2630804" h="655319">
                <a:moveTo>
                  <a:pt x="85090" y="651383"/>
                </a:moveTo>
                <a:lnTo>
                  <a:pt x="73113" y="629793"/>
                </a:lnTo>
                <a:lnTo>
                  <a:pt x="69684" y="623608"/>
                </a:lnTo>
                <a:lnTo>
                  <a:pt x="83947" y="615696"/>
                </a:lnTo>
                <a:lnTo>
                  <a:pt x="77724" y="604647"/>
                </a:lnTo>
                <a:lnTo>
                  <a:pt x="63550" y="612546"/>
                </a:lnTo>
                <a:lnTo>
                  <a:pt x="48133" y="584708"/>
                </a:lnTo>
                <a:lnTo>
                  <a:pt x="0" y="655066"/>
                </a:lnTo>
                <a:lnTo>
                  <a:pt x="85090" y="651383"/>
                </a:lnTo>
                <a:close/>
              </a:path>
              <a:path w="2630804" h="655319">
                <a:moveTo>
                  <a:pt x="161671" y="572516"/>
                </a:moveTo>
                <a:lnTo>
                  <a:pt x="155448" y="561467"/>
                </a:lnTo>
                <a:lnTo>
                  <a:pt x="111125" y="586105"/>
                </a:lnTo>
                <a:lnTo>
                  <a:pt x="117221" y="597154"/>
                </a:lnTo>
                <a:lnTo>
                  <a:pt x="161671" y="572516"/>
                </a:lnTo>
                <a:close/>
              </a:path>
              <a:path w="2630804" h="655319">
                <a:moveTo>
                  <a:pt x="239395" y="529336"/>
                </a:moveTo>
                <a:lnTo>
                  <a:pt x="233172" y="518287"/>
                </a:lnTo>
                <a:lnTo>
                  <a:pt x="188849" y="542925"/>
                </a:lnTo>
                <a:lnTo>
                  <a:pt x="194945" y="554101"/>
                </a:lnTo>
                <a:lnTo>
                  <a:pt x="239395" y="529336"/>
                </a:lnTo>
                <a:close/>
              </a:path>
              <a:path w="2630804" h="655319">
                <a:moveTo>
                  <a:pt x="317119" y="486156"/>
                </a:moveTo>
                <a:lnTo>
                  <a:pt x="310896" y="475107"/>
                </a:lnTo>
                <a:lnTo>
                  <a:pt x="266573" y="499745"/>
                </a:lnTo>
                <a:lnTo>
                  <a:pt x="272669" y="510921"/>
                </a:lnTo>
                <a:lnTo>
                  <a:pt x="317119" y="486156"/>
                </a:lnTo>
                <a:close/>
              </a:path>
              <a:path w="2630804" h="655319">
                <a:moveTo>
                  <a:pt x="394843" y="443103"/>
                </a:moveTo>
                <a:lnTo>
                  <a:pt x="388620" y="431927"/>
                </a:lnTo>
                <a:lnTo>
                  <a:pt x="344297" y="456565"/>
                </a:lnTo>
                <a:lnTo>
                  <a:pt x="350393" y="467741"/>
                </a:lnTo>
                <a:lnTo>
                  <a:pt x="394843" y="443103"/>
                </a:lnTo>
                <a:close/>
              </a:path>
              <a:path w="2630804" h="655319">
                <a:moveTo>
                  <a:pt x="472567" y="399923"/>
                </a:moveTo>
                <a:lnTo>
                  <a:pt x="466344" y="388747"/>
                </a:lnTo>
                <a:lnTo>
                  <a:pt x="422021" y="413385"/>
                </a:lnTo>
                <a:lnTo>
                  <a:pt x="428117" y="424561"/>
                </a:lnTo>
                <a:lnTo>
                  <a:pt x="472567" y="399923"/>
                </a:lnTo>
                <a:close/>
              </a:path>
              <a:path w="2630804" h="655319">
                <a:moveTo>
                  <a:pt x="550291" y="356743"/>
                </a:moveTo>
                <a:lnTo>
                  <a:pt x="544068" y="345567"/>
                </a:lnTo>
                <a:lnTo>
                  <a:pt x="499618" y="370332"/>
                </a:lnTo>
                <a:lnTo>
                  <a:pt x="505841" y="381381"/>
                </a:lnTo>
                <a:lnTo>
                  <a:pt x="550291" y="356743"/>
                </a:lnTo>
                <a:close/>
              </a:path>
              <a:path w="2630804" h="655319">
                <a:moveTo>
                  <a:pt x="628015" y="313563"/>
                </a:moveTo>
                <a:lnTo>
                  <a:pt x="621792" y="302387"/>
                </a:lnTo>
                <a:lnTo>
                  <a:pt x="577342" y="327152"/>
                </a:lnTo>
                <a:lnTo>
                  <a:pt x="583565" y="338201"/>
                </a:lnTo>
                <a:lnTo>
                  <a:pt x="628015" y="313563"/>
                </a:lnTo>
                <a:close/>
              </a:path>
              <a:path w="2630804" h="655319">
                <a:moveTo>
                  <a:pt x="705739" y="270383"/>
                </a:moveTo>
                <a:lnTo>
                  <a:pt x="699516" y="259334"/>
                </a:lnTo>
                <a:lnTo>
                  <a:pt x="655066" y="283972"/>
                </a:lnTo>
                <a:lnTo>
                  <a:pt x="661289" y="295021"/>
                </a:lnTo>
                <a:lnTo>
                  <a:pt x="705739" y="270383"/>
                </a:lnTo>
                <a:close/>
              </a:path>
              <a:path w="2630804" h="655319">
                <a:moveTo>
                  <a:pt x="783463" y="227203"/>
                </a:moveTo>
                <a:lnTo>
                  <a:pt x="777240" y="216154"/>
                </a:lnTo>
                <a:lnTo>
                  <a:pt x="732790" y="240792"/>
                </a:lnTo>
                <a:lnTo>
                  <a:pt x="739013" y="251841"/>
                </a:lnTo>
                <a:lnTo>
                  <a:pt x="783463" y="227203"/>
                </a:lnTo>
                <a:close/>
              </a:path>
              <a:path w="2630804" h="655319">
                <a:moveTo>
                  <a:pt x="861060" y="184023"/>
                </a:moveTo>
                <a:lnTo>
                  <a:pt x="854964" y="172974"/>
                </a:lnTo>
                <a:lnTo>
                  <a:pt x="810514" y="197612"/>
                </a:lnTo>
                <a:lnTo>
                  <a:pt x="816737" y="208661"/>
                </a:lnTo>
                <a:lnTo>
                  <a:pt x="861060" y="184023"/>
                </a:lnTo>
                <a:close/>
              </a:path>
              <a:path w="2630804" h="655319">
                <a:moveTo>
                  <a:pt x="938784" y="140843"/>
                </a:moveTo>
                <a:lnTo>
                  <a:pt x="932688" y="129794"/>
                </a:lnTo>
                <a:lnTo>
                  <a:pt x="888238" y="154432"/>
                </a:lnTo>
                <a:lnTo>
                  <a:pt x="894461" y="165608"/>
                </a:lnTo>
                <a:lnTo>
                  <a:pt x="938784" y="140843"/>
                </a:lnTo>
                <a:close/>
              </a:path>
              <a:path w="2630804" h="655319">
                <a:moveTo>
                  <a:pt x="1016508" y="97663"/>
                </a:moveTo>
                <a:lnTo>
                  <a:pt x="1010412" y="86614"/>
                </a:lnTo>
                <a:lnTo>
                  <a:pt x="965962" y="111252"/>
                </a:lnTo>
                <a:lnTo>
                  <a:pt x="972185" y="122428"/>
                </a:lnTo>
                <a:lnTo>
                  <a:pt x="1016508" y="97663"/>
                </a:lnTo>
                <a:close/>
              </a:path>
              <a:path w="2630804" h="655319">
                <a:moveTo>
                  <a:pt x="1094232" y="54610"/>
                </a:moveTo>
                <a:lnTo>
                  <a:pt x="1088136" y="43434"/>
                </a:lnTo>
                <a:lnTo>
                  <a:pt x="1043686" y="68072"/>
                </a:lnTo>
                <a:lnTo>
                  <a:pt x="1049909" y="79248"/>
                </a:lnTo>
                <a:lnTo>
                  <a:pt x="1094232" y="54610"/>
                </a:lnTo>
                <a:close/>
              </a:path>
              <a:path w="2630804" h="655319">
                <a:moveTo>
                  <a:pt x="1215009" y="20066"/>
                </a:moveTo>
                <a:lnTo>
                  <a:pt x="1168400" y="0"/>
                </a:lnTo>
                <a:lnTo>
                  <a:pt x="1167206" y="2743"/>
                </a:lnTo>
                <a:lnTo>
                  <a:pt x="1165860" y="254"/>
                </a:lnTo>
                <a:lnTo>
                  <a:pt x="1121410" y="24892"/>
                </a:lnTo>
                <a:lnTo>
                  <a:pt x="1127633" y="36068"/>
                </a:lnTo>
                <a:lnTo>
                  <a:pt x="1167930" y="13677"/>
                </a:lnTo>
                <a:lnTo>
                  <a:pt x="1210056" y="31750"/>
                </a:lnTo>
                <a:lnTo>
                  <a:pt x="1215009" y="20066"/>
                </a:lnTo>
                <a:close/>
              </a:path>
              <a:path w="2630804" h="655319">
                <a:moveTo>
                  <a:pt x="1296670" y="55245"/>
                </a:moveTo>
                <a:lnTo>
                  <a:pt x="1250061" y="35179"/>
                </a:lnTo>
                <a:lnTo>
                  <a:pt x="1244981" y="46863"/>
                </a:lnTo>
                <a:lnTo>
                  <a:pt x="1291590" y="66929"/>
                </a:lnTo>
                <a:lnTo>
                  <a:pt x="1296670" y="55245"/>
                </a:lnTo>
                <a:close/>
              </a:path>
              <a:path w="2630804" h="655319">
                <a:moveTo>
                  <a:pt x="1378331" y="90424"/>
                </a:moveTo>
                <a:lnTo>
                  <a:pt x="1331722" y="70358"/>
                </a:lnTo>
                <a:lnTo>
                  <a:pt x="1326642" y="82042"/>
                </a:lnTo>
                <a:lnTo>
                  <a:pt x="1373251" y="102108"/>
                </a:lnTo>
                <a:lnTo>
                  <a:pt x="1378331" y="90424"/>
                </a:lnTo>
                <a:close/>
              </a:path>
              <a:path w="2630804" h="655319">
                <a:moveTo>
                  <a:pt x="1459992" y="125603"/>
                </a:moveTo>
                <a:lnTo>
                  <a:pt x="1413256" y="105537"/>
                </a:lnTo>
                <a:lnTo>
                  <a:pt x="1408303" y="117221"/>
                </a:lnTo>
                <a:lnTo>
                  <a:pt x="1454912" y="137287"/>
                </a:lnTo>
                <a:lnTo>
                  <a:pt x="1459992" y="125603"/>
                </a:lnTo>
                <a:close/>
              </a:path>
              <a:path w="2630804" h="655319">
                <a:moveTo>
                  <a:pt x="1541653" y="160782"/>
                </a:moveTo>
                <a:lnTo>
                  <a:pt x="1494917" y="140716"/>
                </a:lnTo>
                <a:lnTo>
                  <a:pt x="1489964" y="152400"/>
                </a:lnTo>
                <a:lnTo>
                  <a:pt x="1536573" y="172466"/>
                </a:lnTo>
                <a:lnTo>
                  <a:pt x="1541653" y="160782"/>
                </a:lnTo>
                <a:close/>
              </a:path>
              <a:path w="2630804" h="655319">
                <a:moveTo>
                  <a:pt x="1623314" y="195961"/>
                </a:moveTo>
                <a:lnTo>
                  <a:pt x="1576578" y="175895"/>
                </a:lnTo>
                <a:lnTo>
                  <a:pt x="1571625" y="187579"/>
                </a:lnTo>
                <a:lnTo>
                  <a:pt x="1618234" y="207645"/>
                </a:lnTo>
                <a:lnTo>
                  <a:pt x="1623314" y="195961"/>
                </a:lnTo>
                <a:close/>
              </a:path>
              <a:path w="2630804" h="655319">
                <a:moveTo>
                  <a:pt x="1704848" y="231140"/>
                </a:moveTo>
                <a:lnTo>
                  <a:pt x="1658239" y="211074"/>
                </a:lnTo>
                <a:lnTo>
                  <a:pt x="1653159" y="222758"/>
                </a:lnTo>
                <a:lnTo>
                  <a:pt x="1699895" y="242824"/>
                </a:lnTo>
                <a:lnTo>
                  <a:pt x="1704848" y="231140"/>
                </a:lnTo>
                <a:close/>
              </a:path>
              <a:path w="2630804" h="655319">
                <a:moveTo>
                  <a:pt x="1786509" y="266319"/>
                </a:moveTo>
                <a:lnTo>
                  <a:pt x="1739900" y="246253"/>
                </a:lnTo>
                <a:lnTo>
                  <a:pt x="1734820" y="257937"/>
                </a:lnTo>
                <a:lnTo>
                  <a:pt x="1781556" y="278003"/>
                </a:lnTo>
                <a:lnTo>
                  <a:pt x="1786509" y="266319"/>
                </a:lnTo>
                <a:close/>
              </a:path>
              <a:path w="2630804" h="655319">
                <a:moveTo>
                  <a:pt x="1868170" y="301498"/>
                </a:moveTo>
                <a:lnTo>
                  <a:pt x="1821561" y="281432"/>
                </a:lnTo>
                <a:lnTo>
                  <a:pt x="1816481" y="293116"/>
                </a:lnTo>
                <a:lnTo>
                  <a:pt x="1863217" y="313182"/>
                </a:lnTo>
                <a:lnTo>
                  <a:pt x="1868170" y="301498"/>
                </a:lnTo>
                <a:close/>
              </a:path>
              <a:path w="2630804" h="655319">
                <a:moveTo>
                  <a:pt x="1949831" y="336677"/>
                </a:moveTo>
                <a:lnTo>
                  <a:pt x="1903222" y="316611"/>
                </a:lnTo>
                <a:lnTo>
                  <a:pt x="1898142" y="328295"/>
                </a:lnTo>
                <a:lnTo>
                  <a:pt x="1944751" y="348361"/>
                </a:lnTo>
                <a:lnTo>
                  <a:pt x="1949831" y="336677"/>
                </a:lnTo>
                <a:close/>
              </a:path>
              <a:path w="2630804" h="655319">
                <a:moveTo>
                  <a:pt x="2031492" y="371856"/>
                </a:moveTo>
                <a:lnTo>
                  <a:pt x="1984883" y="351790"/>
                </a:lnTo>
                <a:lnTo>
                  <a:pt x="1979803" y="363347"/>
                </a:lnTo>
                <a:lnTo>
                  <a:pt x="2026412" y="383540"/>
                </a:lnTo>
                <a:lnTo>
                  <a:pt x="2031492" y="371856"/>
                </a:lnTo>
                <a:close/>
              </a:path>
              <a:path w="2630804" h="655319">
                <a:moveTo>
                  <a:pt x="2113153" y="407035"/>
                </a:moveTo>
                <a:lnTo>
                  <a:pt x="2066417" y="386969"/>
                </a:lnTo>
                <a:lnTo>
                  <a:pt x="2061464" y="398526"/>
                </a:lnTo>
                <a:lnTo>
                  <a:pt x="2108073" y="418719"/>
                </a:lnTo>
                <a:lnTo>
                  <a:pt x="2113153" y="407035"/>
                </a:lnTo>
                <a:close/>
              </a:path>
              <a:path w="2630804" h="655319">
                <a:moveTo>
                  <a:pt x="2194814" y="442214"/>
                </a:moveTo>
                <a:lnTo>
                  <a:pt x="2148078" y="422148"/>
                </a:lnTo>
                <a:lnTo>
                  <a:pt x="2143125" y="433705"/>
                </a:lnTo>
                <a:lnTo>
                  <a:pt x="2189734" y="453898"/>
                </a:lnTo>
                <a:lnTo>
                  <a:pt x="2194814" y="442214"/>
                </a:lnTo>
                <a:close/>
              </a:path>
              <a:path w="2630804" h="655319">
                <a:moveTo>
                  <a:pt x="2276475" y="477393"/>
                </a:moveTo>
                <a:lnTo>
                  <a:pt x="2229739" y="457200"/>
                </a:lnTo>
                <a:lnTo>
                  <a:pt x="2224786" y="468884"/>
                </a:lnTo>
                <a:lnTo>
                  <a:pt x="2271395" y="489077"/>
                </a:lnTo>
                <a:lnTo>
                  <a:pt x="2276475" y="477393"/>
                </a:lnTo>
                <a:close/>
              </a:path>
              <a:path w="2630804" h="655319">
                <a:moveTo>
                  <a:pt x="2358009" y="512572"/>
                </a:moveTo>
                <a:lnTo>
                  <a:pt x="2311400" y="492379"/>
                </a:lnTo>
                <a:lnTo>
                  <a:pt x="2306447" y="504063"/>
                </a:lnTo>
                <a:lnTo>
                  <a:pt x="2353056" y="524256"/>
                </a:lnTo>
                <a:lnTo>
                  <a:pt x="2358009" y="512572"/>
                </a:lnTo>
                <a:close/>
              </a:path>
              <a:path w="2630804" h="655319">
                <a:moveTo>
                  <a:pt x="2439670" y="547751"/>
                </a:moveTo>
                <a:lnTo>
                  <a:pt x="2393061" y="527558"/>
                </a:lnTo>
                <a:lnTo>
                  <a:pt x="2387981" y="539242"/>
                </a:lnTo>
                <a:lnTo>
                  <a:pt x="2434717" y="559308"/>
                </a:lnTo>
                <a:lnTo>
                  <a:pt x="2439670" y="547751"/>
                </a:lnTo>
                <a:close/>
              </a:path>
              <a:path w="2630804" h="655319">
                <a:moveTo>
                  <a:pt x="2521331" y="582930"/>
                </a:moveTo>
                <a:lnTo>
                  <a:pt x="2474722" y="562737"/>
                </a:lnTo>
                <a:lnTo>
                  <a:pt x="2469642" y="574421"/>
                </a:lnTo>
                <a:lnTo>
                  <a:pt x="2516378" y="594487"/>
                </a:lnTo>
                <a:lnTo>
                  <a:pt x="2521331" y="582930"/>
                </a:lnTo>
                <a:close/>
              </a:path>
              <a:path w="2630804" h="655319">
                <a:moveTo>
                  <a:pt x="2630424" y="636778"/>
                </a:moveTo>
                <a:lnTo>
                  <a:pt x="2614168" y="617474"/>
                </a:lnTo>
                <a:lnTo>
                  <a:pt x="2575560" y="571627"/>
                </a:lnTo>
                <a:lnTo>
                  <a:pt x="2562974" y="600760"/>
                </a:lnTo>
                <a:lnTo>
                  <a:pt x="2556383" y="597916"/>
                </a:lnTo>
                <a:lnTo>
                  <a:pt x="2551303" y="609600"/>
                </a:lnTo>
                <a:lnTo>
                  <a:pt x="2557919" y="612457"/>
                </a:lnTo>
                <a:lnTo>
                  <a:pt x="2545334" y="641604"/>
                </a:lnTo>
                <a:lnTo>
                  <a:pt x="2630424" y="6367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3AC7209-BBD3-F049-7147-3AA3EE739F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75" dirty="0"/>
              <a:t> </a:t>
            </a:r>
            <a:r>
              <a:rPr dirty="0"/>
              <a:t>chuẩn</a:t>
            </a:r>
            <a:r>
              <a:rPr spc="-70" dirty="0"/>
              <a:t> </a:t>
            </a:r>
            <a:r>
              <a:rPr dirty="0"/>
              <a:t>2</a:t>
            </a:r>
            <a:r>
              <a:rPr spc="-90" dirty="0"/>
              <a:t> </a:t>
            </a:r>
            <a:r>
              <a:rPr dirty="0"/>
              <a:t>tổng</a:t>
            </a:r>
            <a:r>
              <a:rPr spc="-90" dirty="0"/>
              <a:t> </a:t>
            </a:r>
            <a:r>
              <a:rPr spc="-20" dirty="0"/>
              <a:t>quát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7244" y="3026460"/>
          <a:ext cx="739648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8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2669844" y="4149647"/>
            <a:ext cx="4921885" cy="255270"/>
            <a:chOff x="2669844" y="4149647"/>
            <a:chExt cx="4921885" cy="255270"/>
          </a:xfrm>
        </p:grpSpPr>
        <p:sp>
          <p:nvSpPr>
            <p:cNvPr id="5" name="object 5"/>
            <p:cNvSpPr/>
            <p:nvPr/>
          </p:nvSpPr>
          <p:spPr>
            <a:xfrm>
              <a:off x="2676144" y="4155947"/>
              <a:ext cx="4876800" cy="242570"/>
            </a:xfrm>
            <a:custGeom>
              <a:avLst/>
              <a:gdLst/>
              <a:ahLst/>
              <a:cxnLst/>
              <a:rect l="l" t="t" r="r" b="b"/>
              <a:pathLst>
                <a:path w="4876800" h="242570">
                  <a:moveTo>
                    <a:pt x="0" y="240791"/>
                  </a:moveTo>
                  <a:lnTo>
                    <a:pt x="4876800" y="242315"/>
                  </a:lnTo>
                </a:path>
                <a:path w="4876800" h="242570">
                  <a:moveTo>
                    <a:pt x="0" y="0"/>
                  </a:moveTo>
                  <a:lnTo>
                    <a:pt x="15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5352" y="4155947"/>
              <a:ext cx="76200" cy="23774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462836" y="3437940"/>
            <a:ext cx="6104890" cy="256540"/>
            <a:chOff x="1462836" y="3437940"/>
            <a:chExt cx="6104890" cy="256540"/>
          </a:xfrm>
        </p:grpSpPr>
        <p:sp>
          <p:nvSpPr>
            <p:cNvPr id="8" name="object 8"/>
            <p:cNvSpPr/>
            <p:nvPr/>
          </p:nvSpPr>
          <p:spPr>
            <a:xfrm>
              <a:off x="1469136" y="3444240"/>
              <a:ext cx="6059805" cy="243840"/>
            </a:xfrm>
            <a:custGeom>
              <a:avLst/>
              <a:gdLst/>
              <a:ahLst/>
              <a:cxnLst/>
              <a:rect l="l" t="t" r="r" b="b"/>
              <a:pathLst>
                <a:path w="6059805" h="243839">
                  <a:moveTo>
                    <a:pt x="0" y="242316"/>
                  </a:moveTo>
                  <a:lnTo>
                    <a:pt x="6059423" y="243840"/>
                  </a:lnTo>
                </a:path>
                <a:path w="6059805" h="243839">
                  <a:moveTo>
                    <a:pt x="0" y="0"/>
                  </a:moveTo>
                  <a:lnTo>
                    <a:pt x="1523" y="239268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7027" y="3444240"/>
              <a:ext cx="76200" cy="2392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1844" y="3444240"/>
              <a:ext cx="76200" cy="2392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0968" y="3444240"/>
              <a:ext cx="76200" cy="2392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4551" y="3444240"/>
              <a:ext cx="76200" cy="2392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3751" y="3444240"/>
              <a:ext cx="76200" cy="239268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419352" y="3777791"/>
            <a:ext cx="6172200" cy="262890"/>
            <a:chOff x="1419352" y="3777791"/>
            <a:chExt cx="6172200" cy="26289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6743" y="3791711"/>
              <a:ext cx="76200" cy="2377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9352" y="3791711"/>
              <a:ext cx="76200" cy="2377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56944" y="3784091"/>
              <a:ext cx="6097905" cy="250190"/>
            </a:xfrm>
            <a:custGeom>
              <a:avLst/>
              <a:gdLst/>
              <a:ahLst/>
              <a:cxnLst/>
              <a:rect l="l" t="t" r="r" b="b"/>
              <a:pathLst>
                <a:path w="6097905" h="250189">
                  <a:moveTo>
                    <a:pt x="0" y="248411"/>
                  </a:moveTo>
                  <a:lnTo>
                    <a:pt x="6097524" y="249935"/>
                  </a:lnTo>
                </a:path>
                <a:path w="6097905" h="250189">
                  <a:moveTo>
                    <a:pt x="1207008" y="0"/>
                  </a:moveTo>
                  <a:lnTo>
                    <a:pt x="1208532" y="239267"/>
                  </a:lnTo>
                </a:path>
                <a:path w="6097905" h="250189">
                  <a:moveTo>
                    <a:pt x="2400300" y="0"/>
                  </a:moveTo>
                  <a:lnTo>
                    <a:pt x="2401823" y="239267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3752" y="3784091"/>
              <a:ext cx="76200" cy="23926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5352" y="3784091"/>
              <a:ext cx="76200" cy="23926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4969559" y="4495596"/>
            <a:ext cx="1226185" cy="259715"/>
            <a:chOff x="4969559" y="4495596"/>
            <a:chExt cx="1226185" cy="259715"/>
          </a:xfrm>
        </p:grpSpPr>
        <p:sp>
          <p:nvSpPr>
            <p:cNvPr id="21" name="object 21"/>
            <p:cNvSpPr/>
            <p:nvPr/>
          </p:nvSpPr>
          <p:spPr>
            <a:xfrm>
              <a:off x="4975859" y="4501896"/>
              <a:ext cx="1181100" cy="247015"/>
            </a:xfrm>
            <a:custGeom>
              <a:avLst/>
              <a:gdLst/>
              <a:ahLst/>
              <a:cxnLst/>
              <a:rect l="l" t="t" r="r" b="b"/>
              <a:pathLst>
                <a:path w="1181100" h="247014">
                  <a:moveTo>
                    <a:pt x="0" y="245363"/>
                  </a:moveTo>
                  <a:lnTo>
                    <a:pt x="1181100" y="246887"/>
                  </a:lnTo>
                </a:path>
                <a:path w="1181100" h="247014">
                  <a:moveTo>
                    <a:pt x="0" y="0"/>
                  </a:moveTo>
                  <a:lnTo>
                    <a:pt x="1524" y="237743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9367" y="4501896"/>
              <a:ext cx="76200" cy="237744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2629407" y="4879644"/>
            <a:ext cx="2360930" cy="259715"/>
            <a:chOff x="2629407" y="4879644"/>
            <a:chExt cx="2360930" cy="259715"/>
          </a:xfrm>
        </p:grpSpPr>
        <p:sp>
          <p:nvSpPr>
            <p:cNvPr id="24" name="object 24"/>
            <p:cNvSpPr/>
            <p:nvPr/>
          </p:nvSpPr>
          <p:spPr>
            <a:xfrm>
              <a:off x="2671571" y="5131308"/>
              <a:ext cx="2312035" cy="1905"/>
            </a:xfrm>
            <a:custGeom>
              <a:avLst/>
              <a:gdLst/>
              <a:ahLst/>
              <a:cxnLst/>
              <a:rect l="l" t="t" r="r" b="b"/>
              <a:pathLst>
                <a:path w="2312035" h="1904">
                  <a:moveTo>
                    <a:pt x="0" y="0"/>
                  </a:moveTo>
                  <a:lnTo>
                    <a:pt x="2311907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9407" y="4885944"/>
              <a:ext cx="76200" cy="23926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981955" y="4885944"/>
              <a:ext cx="1905" cy="239395"/>
            </a:xfrm>
            <a:custGeom>
              <a:avLst/>
              <a:gdLst/>
              <a:ahLst/>
              <a:cxnLst/>
              <a:rect l="l" t="t" r="r" b="b"/>
              <a:pathLst>
                <a:path w="1904" h="239395">
                  <a:moveTo>
                    <a:pt x="0" y="0"/>
                  </a:moveTo>
                  <a:lnTo>
                    <a:pt x="1524" y="239267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2615183" y="5734811"/>
            <a:ext cx="4018915" cy="367665"/>
          </a:xfrm>
          <a:custGeom>
            <a:avLst/>
            <a:gdLst/>
            <a:ahLst/>
            <a:cxnLst/>
            <a:rect l="l" t="t" r="r" b="b"/>
            <a:pathLst>
              <a:path w="4018915" h="367664">
                <a:moveTo>
                  <a:pt x="0" y="61213"/>
                </a:moveTo>
                <a:lnTo>
                  <a:pt x="4814" y="37386"/>
                </a:lnTo>
                <a:lnTo>
                  <a:pt x="17938" y="17929"/>
                </a:lnTo>
                <a:lnTo>
                  <a:pt x="37397" y="4810"/>
                </a:lnTo>
                <a:lnTo>
                  <a:pt x="61214" y="0"/>
                </a:lnTo>
                <a:lnTo>
                  <a:pt x="3957574" y="0"/>
                </a:lnTo>
                <a:lnTo>
                  <a:pt x="3981390" y="4810"/>
                </a:lnTo>
                <a:lnTo>
                  <a:pt x="4000849" y="17929"/>
                </a:lnTo>
                <a:lnTo>
                  <a:pt x="4013973" y="37386"/>
                </a:lnTo>
                <a:lnTo>
                  <a:pt x="4018788" y="61213"/>
                </a:lnTo>
                <a:lnTo>
                  <a:pt x="4018788" y="306069"/>
                </a:lnTo>
                <a:lnTo>
                  <a:pt x="4013973" y="329897"/>
                </a:lnTo>
                <a:lnTo>
                  <a:pt x="4000849" y="349354"/>
                </a:lnTo>
                <a:lnTo>
                  <a:pt x="3981390" y="362473"/>
                </a:lnTo>
                <a:lnTo>
                  <a:pt x="3957574" y="367283"/>
                </a:lnTo>
                <a:lnTo>
                  <a:pt x="61214" y="367283"/>
                </a:lnTo>
                <a:lnTo>
                  <a:pt x="37397" y="362473"/>
                </a:lnTo>
                <a:lnTo>
                  <a:pt x="17938" y="349354"/>
                </a:lnTo>
                <a:lnTo>
                  <a:pt x="4814" y="329897"/>
                </a:lnTo>
                <a:lnTo>
                  <a:pt x="0" y="306069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05815" y="1093723"/>
            <a:ext cx="8380730" cy="497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nếu </a:t>
            </a:r>
            <a:r>
              <a:rPr sz="2400" dirty="0">
                <a:latin typeface="Arial"/>
                <a:cs typeface="Arial"/>
              </a:rPr>
              <a:t>mọi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phụ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đủ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các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R(ABCDEF)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BC.</a:t>
            </a:r>
            <a:endParaRPr sz="2400">
              <a:latin typeface="Arial"/>
              <a:cs typeface="Arial"/>
            </a:endParaRPr>
          </a:p>
          <a:p>
            <a:pPr marL="708025">
              <a:lnSpc>
                <a:spcPct val="100000"/>
              </a:lnSpc>
              <a:spcBef>
                <a:spcPts val="495"/>
              </a:spcBef>
            </a:pPr>
            <a:r>
              <a:rPr sz="1800" spc="-50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800">
              <a:latin typeface="Arial"/>
              <a:cs typeface="Arial"/>
            </a:endParaRPr>
          </a:p>
          <a:p>
            <a:pPr marL="617855" marR="7321550" algn="just">
              <a:lnSpc>
                <a:spcPct val="134900"/>
              </a:lnSpc>
            </a:pPr>
            <a:r>
              <a:rPr sz="1800" spc="-25" dirty="0">
                <a:latin typeface="Arial"/>
                <a:cs typeface="Arial"/>
              </a:rPr>
              <a:t>FD1 FD2 FD3 FD4 FD5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800">
              <a:latin typeface="Arial"/>
              <a:cs typeface="Arial"/>
            </a:endParaRPr>
          </a:p>
          <a:p>
            <a:pPr marL="299085"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  <a:hlinkClick r:id="rId4" action="ppaction://hlinksldjump"/>
              </a:rPr>
              <a:t>Lược</a:t>
            </a:r>
            <a:r>
              <a:rPr sz="18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đồ</a:t>
            </a:r>
            <a:r>
              <a:rPr sz="18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R</a:t>
            </a:r>
            <a:r>
              <a:rPr sz="18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không</a:t>
            </a:r>
            <a:r>
              <a:rPr sz="18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thuộc</a:t>
            </a:r>
            <a:r>
              <a:rPr sz="18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dạng</a:t>
            </a:r>
            <a:r>
              <a:rPr sz="18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4" action="ppaction://hlinksldjump"/>
              </a:rPr>
              <a:t>chuẩn</a:t>
            </a:r>
            <a:r>
              <a:rPr sz="18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1800" spc="-50" dirty="0">
                <a:latin typeface="Arial"/>
                <a:cs typeface="Arial"/>
                <a:hlinkClick r:id="rId4" action="ppaction://hlinksldjump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FDAC9AD-E8F7-0BE7-A950-2E7BA04E34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838200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5">
                <a:moveTo>
                  <a:pt x="0" y="0"/>
                </a:moveTo>
                <a:lnTo>
                  <a:pt x="8534400" y="1524"/>
                </a:lnTo>
              </a:path>
            </a:pathLst>
          </a:custGeom>
          <a:ln w="572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75" dirty="0"/>
              <a:t> </a:t>
            </a:r>
            <a:r>
              <a:rPr dirty="0"/>
              <a:t>chuẩn</a:t>
            </a:r>
            <a:r>
              <a:rPr spc="-70" dirty="0"/>
              <a:t> </a:t>
            </a:r>
            <a:r>
              <a:rPr dirty="0"/>
              <a:t>3</a:t>
            </a:r>
            <a:r>
              <a:rPr spc="-90" dirty="0"/>
              <a:t> </a:t>
            </a:r>
            <a:r>
              <a:rPr dirty="0"/>
              <a:t>tổng</a:t>
            </a:r>
            <a:r>
              <a:rPr spc="-90" dirty="0"/>
              <a:t> </a:t>
            </a:r>
            <a:r>
              <a:rPr spc="-20" dirty="0"/>
              <a:t>quát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815" y="1093723"/>
            <a:ext cx="7989570" cy="229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nếu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hiển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đúng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thì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siêu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hoặc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R1(ABCDE)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BC.</a:t>
            </a:r>
            <a:endParaRPr sz="2400">
              <a:latin typeface="Arial"/>
              <a:cs typeface="Arial"/>
            </a:endParaRPr>
          </a:p>
          <a:p>
            <a:pPr marL="622300">
              <a:lnSpc>
                <a:spcPct val="100000"/>
              </a:lnSpc>
              <a:spcBef>
                <a:spcPts val="680"/>
              </a:spcBef>
            </a:pPr>
            <a:r>
              <a:rPr sz="1800" spc="-25" dirty="0">
                <a:latin typeface="Arial"/>
                <a:cs typeface="Arial"/>
              </a:rPr>
              <a:t>R1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641" y="5214010"/>
            <a:ext cx="8588375" cy="11423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79730" indent="-340360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79730" algn="l"/>
              </a:tabLst>
            </a:pPr>
            <a:r>
              <a:rPr sz="2400" dirty="0">
                <a:latin typeface="Arial"/>
                <a:cs typeface="Arial"/>
              </a:rPr>
              <a:t>Nhận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xét</a:t>
            </a:r>
            <a:endParaRPr sz="2400">
              <a:latin typeface="Arial"/>
              <a:cs typeface="Arial"/>
            </a:endParaRPr>
          </a:p>
          <a:p>
            <a:pPr marL="779145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79145" algn="l"/>
              </a:tabLst>
            </a:pPr>
            <a:r>
              <a:rPr sz="2000" dirty="0">
                <a:latin typeface="Arial"/>
                <a:cs typeface="Arial"/>
              </a:rPr>
              <a:t>Định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nghĩa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tổng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quát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dạng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chuẩn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cần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79145" algn="l"/>
                <a:tab pos="8575040" algn="l"/>
              </a:tabLst>
            </a:pPr>
            <a:r>
              <a:rPr sz="2000" u="heavy" dirty="0">
                <a:uFill>
                  <a:solidFill>
                    <a:srgbClr val="000066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kiểm</a:t>
            </a:r>
            <a:r>
              <a:rPr sz="2000" u="heavy" spc="-4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tra</a:t>
            </a:r>
            <a:r>
              <a:rPr sz="2000" u="heavy" spc="-45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dạng</a:t>
            </a:r>
            <a:r>
              <a:rPr sz="2000" u="heavy" spc="-3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chuẩn</a:t>
            </a:r>
            <a:r>
              <a:rPr sz="2000" u="heavy" spc="-4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5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2.</a:t>
            </a:r>
            <a:r>
              <a:rPr sz="20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31899" y="3419652"/>
          <a:ext cx="595820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25500" y="3727830"/>
            <a:ext cx="458470" cy="1477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20"/>
              </a:spcBef>
            </a:pPr>
            <a:r>
              <a:rPr sz="1800" spc="-25" dirty="0">
                <a:latin typeface="Arial"/>
                <a:cs typeface="Arial"/>
              </a:rPr>
              <a:t>FD1 FD2 FD4 FD5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75967" y="3829608"/>
            <a:ext cx="4758690" cy="255270"/>
            <a:chOff x="1375967" y="3829608"/>
            <a:chExt cx="4758690" cy="255270"/>
          </a:xfrm>
        </p:grpSpPr>
        <p:sp>
          <p:nvSpPr>
            <p:cNvPr id="9" name="object 9"/>
            <p:cNvSpPr/>
            <p:nvPr/>
          </p:nvSpPr>
          <p:spPr>
            <a:xfrm>
              <a:off x="1382267" y="3835908"/>
              <a:ext cx="4701540" cy="242570"/>
            </a:xfrm>
            <a:custGeom>
              <a:avLst/>
              <a:gdLst/>
              <a:ahLst/>
              <a:cxnLst/>
              <a:rect l="l" t="t" r="r" b="b"/>
              <a:pathLst>
                <a:path w="4701540" h="242570">
                  <a:moveTo>
                    <a:pt x="0" y="240792"/>
                  </a:moveTo>
                  <a:lnTo>
                    <a:pt x="4701540" y="242316"/>
                  </a:lnTo>
                </a:path>
                <a:path w="4701540" h="242570">
                  <a:moveTo>
                    <a:pt x="0" y="0"/>
                  </a:moveTo>
                  <a:lnTo>
                    <a:pt x="1523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683" y="3835908"/>
              <a:ext cx="76200" cy="2377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4976" y="3835908"/>
              <a:ext cx="76200" cy="2377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9208" y="3835908"/>
              <a:ext cx="76200" cy="2377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8408" y="3835908"/>
              <a:ext cx="76200" cy="23774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334008" y="4181652"/>
            <a:ext cx="4800600" cy="255270"/>
            <a:chOff x="1334008" y="4181652"/>
            <a:chExt cx="4800600" cy="25527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9875" y="4194048"/>
              <a:ext cx="76200" cy="2377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4008" y="4194048"/>
              <a:ext cx="76200" cy="2377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71600" y="4187952"/>
              <a:ext cx="4726305" cy="242570"/>
            </a:xfrm>
            <a:custGeom>
              <a:avLst/>
              <a:gdLst/>
              <a:ahLst/>
              <a:cxnLst/>
              <a:rect l="l" t="t" r="r" b="b"/>
              <a:pathLst>
                <a:path w="4726305" h="242570">
                  <a:moveTo>
                    <a:pt x="0" y="240792"/>
                  </a:moveTo>
                  <a:lnTo>
                    <a:pt x="4725924" y="242316"/>
                  </a:lnTo>
                </a:path>
                <a:path w="4726305" h="242570">
                  <a:moveTo>
                    <a:pt x="1207008" y="0"/>
                  </a:moveTo>
                  <a:lnTo>
                    <a:pt x="1208532" y="237744"/>
                  </a:lnTo>
                </a:path>
                <a:path w="4726305" h="242570">
                  <a:moveTo>
                    <a:pt x="2400300" y="0"/>
                  </a:moveTo>
                  <a:lnTo>
                    <a:pt x="24018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8408" y="4187952"/>
              <a:ext cx="76200" cy="237744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4882691" y="4527599"/>
            <a:ext cx="1240155" cy="255270"/>
            <a:chOff x="4882691" y="4527599"/>
            <a:chExt cx="1240155" cy="255270"/>
          </a:xfrm>
        </p:grpSpPr>
        <p:sp>
          <p:nvSpPr>
            <p:cNvPr id="20" name="object 20"/>
            <p:cNvSpPr/>
            <p:nvPr/>
          </p:nvSpPr>
          <p:spPr>
            <a:xfrm>
              <a:off x="4888991" y="4533900"/>
              <a:ext cx="1195070" cy="242570"/>
            </a:xfrm>
            <a:custGeom>
              <a:avLst/>
              <a:gdLst/>
              <a:ahLst/>
              <a:cxnLst/>
              <a:rect l="l" t="t" r="r" b="b"/>
              <a:pathLst>
                <a:path w="1195070" h="242570">
                  <a:moveTo>
                    <a:pt x="13716" y="240792"/>
                  </a:moveTo>
                  <a:lnTo>
                    <a:pt x="1194816" y="242316"/>
                  </a:lnTo>
                </a:path>
                <a:path w="1195070" h="242570">
                  <a:moveTo>
                    <a:pt x="0" y="0"/>
                  </a:moveTo>
                  <a:lnTo>
                    <a:pt x="15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6215" y="4533900"/>
              <a:ext cx="76200" cy="237744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7210043" y="3364991"/>
            <a:ext cx="1548765" cy="1740535"/>
          </a:xfrm>
          <a:custGeom>
            <a:avLst/>
            <a:gdLst/>
            <a:ahLst/>
            <a:cxnLst/>
            <a:rect l="l" t="t" r="r" b="b"/>
            <a:pathLst>
              <a:path w="1548765" h="1740535">
                <a:moveTo>
                  <a:pt x="0" y="258064"/>
                </a:moveTo>
                <a:lnTo>
                  <a:pt x="4158" y="211684"/>
                </a:lnTo>
                <a:lnTo>
                  <a:pt x="16148" y="168029"/>
                </a:lnTo>
                <a:lnTo>
                  <a:pt x="35240" y="127827"/>
                </a:lnTo>
                <a:lnTo>
                  <a:pt x="60703" y="91809"/>
                </a:lnTo>
                <a:lnTo>
                  <a:pt x="91809" y="60703"/>
                </a:lnTo>
                <a:lnTo>
                  <a:pt x="127827" y="35240"/>
                </a:lnTo>
                <a:lnTo>
                  <a:pt x="168029" y="16148"/>
                </a:lnTo>
                <a:lnTo>
                  <a:pt x="211684" y="4158"/>
                </a:lnTo>
                <a:lnTo>
                  <a:pt x="258063" y="0"/>
                </a:lnTo>
                <a:lnTo>
                  <a:pt x="1290320" y="0"/>
                </a:lnTo>
                <a:lnTo>
                  <a:pt x="1336699" y="4158"/>
                </a:lnTo>
                <a:lnTo>
                  <a:pt x="1380354" y="16148"/>
                </a:lnTo>
                <a:lnTo>
                  <a:pt x="1420556" y="35240"/>
                </a:lnTo>
                <a:lnTo>
                  <a:pt x="1456574" y="60703"/>
                </a:lnTo>
                <a:lnTo>
                  <a:pt x="1487680" y="91809"/>
                </a:lnTo>
                <a:lnTo>
                  <a:pt x="1513143" y="127827"/>
                </a:lnTo>
                <a:lnTo>
                  <a:pt x="1532235" y="168029"/>
                </a:lnTo>
                <a:lnTo>
                  <a:pt x="1544225" y="211684"/>
                </a:lnTo>
                <a:lnTo>
                  <a:pt x="1548383" y="258064"/>
                </a:lnTo>
                <a:lnTo>
                  <a:pt x="1548383" y="1482344"/>
                </a:lnTo>
                <a:lnTo>
                  <a:pt x="1544225" y="1528723"/>
                </a:lnTo>
                <a:lnTo>
                  <a:pt x="1532235" y="1572378"/>
                </a:lnTo>
                <a:lnTo>
                  <a:pt x="1513143" y="1612580"/>
                </a:lnTo>
                <a:lnTo>
                  <a:pt x="1487680" y="1648598"/>
                </a:lnTo>
                <a:lnTo>
                  <a:pt x="1456574" y="1679704"/>
                </a:lnTo>
                <a:lnTo>
                  <a:pt x="1420556" y="1705167"/>
                </a:lnTo>
                <a:lnTo>
                  <a:pt x="1380354" y="1724259"/>
                </a:lnTo>
                <a:lnTo>
                  <a:pt x="1336699" y="1736249"/>
                </a:lnTo>
                <a:lnTo>
                  <a:pt x="1290320" y="1740408"/>
                </a:lnTo>
                <a:lnTo>
                  <a:pt x="258063" y="1740408"/>
                </a:lnTo>
                <a:lnTo>
                  <a:pt x="211684" y="1736249"/>
                </a:lnTo>
                <a:lnTo>
                  <a:pt x="168029" y="1724259"/>
                </a:lnTo>
                <a:lnTo>
                  <a:pt x="127827" y="1705167"/>
                </a:lnTo>
                <a:lnTo>
                  <a:pt x="91809" y="1679704"/>
                </a:lnTo>
                <a:lnTo>
                  <a:pt x="60703" y="1648598"/>
                </a:lnTo>
                <a:lnTo>
                  <a:pt x="35240" y="1612580"/>
                </a:lnTo>
                <a:lnTo>
                  <a:pt x="16148" y="1572378"/>
                </a:lnTo>
                <a:lnTo>
                  <a:pt x="4158" y="1528723"/>
                </a:lnTo>
                <a:lnTo>
                  <a:pt x="0" y="1482344"/>
                </a:lnTo>
                <a:lnTo>
                  <a:pt x="0" y="258064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364348" y="3394709"/>
            <a:ext cx="137096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  <a:hlinkClick r:id="rId3" action="ppaction://hlinksldjump"/>
              </a:rPr>
              <a:t>Lược</a:t>
            </a:r>
            <a:r>
              <a:rPr sz="18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đồ</a:t>
            </a:r>
            <a:r>
              <a:rPr sz="1800" spc="-1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25" dirty="0">
                <a:latin typeface="Arial"/>
                <a:cs typeface="Arial"/>
                <a:hlinkClick r:id="rId3" action="ppaction://hlinksldjump"/>
              </a:rPr>
              <a:t>bên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thuộc</a:t>
            </a:r>
            <a:r>
              <a:rPr sz="1800" spc="-3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20" dirty="0">
                <a:latin typeface="Arial"/>
                <a:cs typeface="Arial"/>
                <a:hlinkClick r:id="rId3" action="ppaction://hlinksldjump"/>
              </a:rPr>
              <a:t>dạng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chuẩn</a:t>
            </a:r>
            <a:r>
              <a:rPr sz="18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35" dirty="0">
                <a:latin typeface="Arial"/>
                <a:cs typeface="Arial"/>
                <a:hlinkClick r:id="rId3" action="ppaction://hlinksldjump"/>
              </a:rPr>
              <a:t>2,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nhưng</a:t>
            </a:r>
            <a:r>
              <a:rPr sz="1800" spc="-4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20" dirty="0">
                <a:latin typeface="Arial"/>
                <a:cs typeface="Arial"/>
                <a:hlinkClick r:id="rId3" action="ppaction://hlinksldjump"/>
              </a:rPr>
              <a:t>không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thuộc</a:t>
            </a:r>
            <a:r>
              <a:rPr sz="1800" spc="-3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20" dirty="0">
                <a:latin typeface="Arial"/>
                <a:cs typeface="Arial"/>
                <a:hlinkClick r:id="rId3" action="ppaction://hlinksldjump"/>
              </a:rPr>
              <a:t>dạng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chuẩn</a:t>
            </a:r>
            <a:r>
              <a:rPr sz="18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60" dirty="0">
                <a:latin typeface="Arial"/>
                <a:cs typeface="Arial"/>
                <a:hlinkClick r:id="rId3" action="ppaction://hlinksldjump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515107" y="4882691"/>
            <a:ext cx="2369820" cy="256540"/>
            <a:chOff x="2515107" y="4882691"/>
            <a:chExt cx="2369820" cy="256540"/>
          </a:xfrm>
        </p:grpSpPr>
        <p:sp>
          <p:nvSpPr>
            <p:cNvPr id="25" name="object 25"/>
            <p:cNvSpPr/>
            <p:nvPr/>
          </p:nvSpPr>
          <p:spPr>
            <a:xfrm>
              <a:off x="2557271" y="4888991"/>
              <a:ext cx="2321560" cy="243840"/>
            </a:xfrm>
            <a:custGeom>
              <a:avLst/>
              <a:gdLst/>
              <a:ahLst/>
              <a:cxnLst/>
              <a:rect l="l" t="t" r="r" b="b"/>
              <a:pathLst>
                <a:path w="2321560" h="243839">
                  <a:moveTo>
                    <a:pt x="0" y="242315"/>
                  </a:moveTo>
                  <a:lnTo>
                    <a:pt x="2319528" y="243839"/>
                  </a:lnTo>
                </a:path>
                <a:path w="2321560" h="243839">
                  <a:moveTo>
                    <a:pt x="2319528" y="0"/>
                  </a:moveTo>
                  <a:lnTo>
                    <a:pt x="2321052" y="239267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5107" y="4888991"/>
              <a:ext cx="76200" cy="239268"/>
            </a:xfrm>
            <a:prstGeom prst="rect">
              <a:avLst/>
            </a:prstGeom>
          </p:spPr>
        </p:pic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6816F35-4249-AC4E-9BBA-A71B819099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65" dirty="0"/>
              <a:t> </a:t>
            </a:r>
            <a:r>
              <a:rPr dirty="0"/>
              <a:t>chuẩn</a:t>
            </a:r>
            <a:r>
              <a:rPr spc="-65" dirty="0"/>
              <a:t> </a:t>
            </a:r>
            <a:r>
              <a:rPr dirty="0"/>
              <a:t>Boyce</a:t>
            </a:r>
            <a:r>
              <a:rPr spc="-105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dirty="0"/>
              <a:t>Codd</a:t>
            </a:r>
            <a:r>
              <a:rPr spc="-75" dirty="0"/>
              <a:t> </a:t>
            </a:r>
            <a:r>
              <a:rPr spc="-25" dirty="0"/>
              <a:t>(1)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32099" y="3483659"/>
          <a:ext cx="4739005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05815" y="1093723"/>
            <a:ext cx="8442960" cy="3818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nếu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hiển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nhiên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đúng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siêu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khóa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spc="-10" dirty="0">
                <a:latin typeface="Arial"/>
                <a:cs typeface="Arial"/>
              </a:rPr>
              <a:t>R11(ABCD)</a:t>
            </a:r>
            <a:endParaRPr sz="2400">
              <a:latin typeface="Arial"/>
              <a:cs typeface="Arial"/>
            </a:endParaRPr>
          </a:p>
          <a:p>
            <a:pPr marL="2132330" marR="5810250" indent="90170">
              <a:lnSpc>
                <a:spcPct val="266200"/>
              </a:lnSpc>
              <a:spcBef>
                <a:spcPts val="495"/>
              </a:spcBef>
            </a:pPr>
            <a:r>
              <a:rPr sz="1800" spc="-65" dirty="0">
                <a:latin typeface="Arial"/>
                <a:cs typeface="Arial"/>
              </a:rPr>
              <a:t>R11 </a:t>
            </a:r>
            <a:r>
              <a:rPr sz="1800" spc="-25" dirty="0">
                <a:latin typeface="Arial"/>
                <a:cs typeface="Arial"/>
              </a:rPr>
              <a:t>FD1</a:t>
            </a:r>
            <a:endParaRPr sz="1800">
              <a:latin typeface="Arial"/>
              <a:cs typeface="Arial"/>
            </a:endParaRPr>
          </a:p>
          <a:p>
            <a:pPr marL="2132330">
              <a:lnSpc>
                <a:spcPct val="100000"/>
              </a:lnSpc>
              <a:spcBef>
                <a:spcPts val="715"/>
              </a:spcBef>
            </a:pPr>
            <a:r>
              <a:rPr sz="1800" spc="-25" dirty="0">
                <a:latin typeface="Arial"/>
                <a:cs typeface="Arial"/>
              </a:rPr>
              <a:t>FD2</a:t>
            </a:r>
            <a:endParaRPr sz="1800">
              <a:latin typeface="Arial"/>
              <a:cs typeface="Arial"/>
            </a:endParaRPr>
          </a:p>
          <a:p>
            <a:pPr marL="2132330">
              <a:lnSpc>
                <a:spcPct val="100000"/>
              </a:lnSpc>
              <a:spcBef>
                <a:spcPts val="715"/>
              </a:spcBef>
            </a:pPr>
            <a:r>
              <a:rPr sz="1800" spc="-25" dirty="0">
                <a:latin typeface="Arial"/>
                <a:cs typeface="Arial"/>
              </a:rPr>
              <a:t>FD5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76167" y="3905808"/>
            <a:ext cx="3539490" cy="255270"/>
            <a:chOff x="2976167" y="3905808"/>
            <a:chExt cx="3539490" cy="255270"/>
          </a:xfrm>
        </p:grpSpPr>
        <p:sp>
          <p:nvSpPr>
            <p:cNvPr id="6" name="object 6"/>
            <p:cNvSpPr/>
            <p:nvPr/>
          </p:nvSpPr>
          <p:spPr>
            <a:xfrm>
              <a:off x="2982467" y="3912108"/>
              <a:ext cx="3482340" cy="242570"/>
            </a:xfrm>
            <a:custGeom>
              <a:avLst/>
              <a:gdLst/>
              <a:ahLst/>
              <a:cxnLst/>
              <a:rect l="l" t="t" r="r" b="b"/>
              <a:pathLst>
                <a:path w="3482340" h="242570">
                  <a:moveTo>
                    <a:pt x="0" y="240792"/>
                  </a:moveTo>
                  <a:lnTo>
                    <a:pt x="3482340" y="242316"/>
                  </a:lnTo>
                </a:path>
                <a:path w="3482340" h="242570">
                  <a:moveTo>
                    <a:pt x="0" y="0"/>
                  </a:moveTo>
                  <a:lnTo>
                    <a:pt x="15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1883" y="3912108"/>
              <a:ext cx="76200" cy="237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5176" y="3912108"/>
              <a:ext cx="76200" cy="2377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9408" y="3912108"/>
              <a:ext cx="76199" cy="23774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934207" y="4242611"/>
            <a:ext cx="3592195" cy="261620"/>
            <a:chOff x="2934207" y="4242611"/>
            <a:chExt cx="3592195" cy="2616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0075" y="4255007"/>
              <a:ext cx="76200" cy="2377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4207" y="4255007"/>
              <a:ext cx="76200" cy="2377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83991" y="4248911"/>
              <a:ext cx="3495040" cy="248920"/>
            </a:xfrm>
            <a:custGeom>
              <a:avLst/>
              <a:gdLst/>
              <a:ahLst/>
              <a:cxnLst/>
              <a:rect l="l" t="t" r="r" b="b"/>
              <a:pathLst>
                <a:path w="3495040" h="248920">
                  <a:moveTo>
                    <a:pt x="0" y="246887"/>
                  </a:moveTo>
                  <a:lnTo>
                    <a:pt x="3494531" y="248412"/>
                  </a:lnTo>
                </a:path>
                <a:path w="3495040" h="248920">
                  <a:moveTo>
                    <a:pt x="1194816" y="0"/>
                  </a:moveTo>
                  <a:lnTo>
                    <a:pt x="1196340" y="237744"/>
                  </a:lnTo>
                </a:path>
                <a:path w="3495040" h="248920">
                  <a:moveTo>
                    <a:pt x="2388108" y="0"/>
                  </a:moveTo>
                  <a:lnTo>
                    <a:pt x="2389632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125976" y="4603799"/>
            <a:ext cx="2348230" cy="262890"/>
            <a:chOff x="4125976" y="4603799"/>
            <a:chExt cx="2348230" cy="26289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5976" y="4616196"/>
              <a:ext cx="76200" cy="2377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77284" y="4610100"/>
              <a:ext cx="2291080" cy="250190"/>
            </a:xfrm>
            <a:custGeom>
              <a:avLst/>
              <a:gdLst/>
              <a:ahLst/>
              <a:cxnLst/>
              <a:rect l="l" t="t" r="r" b="b"/>
              <a:pathLst>
                <a:path w="2291079" h="250189">
                  <a:moveTo>
                    <a:pt x="0" y="248412"/>
                  </a:moveTo>
                  <a:lnTo>
                    <a:pt x="2290571" y="249936"/>
                  </a:lnTo>
                </a:path>
                <a:path w="2291079" h="250189">
                  <a:moveTo>
                    <a:pt x="2287524" y="0"/>
                  </a:moveTo>
                  <a:lnTo>
                    <a:pt x="2289048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018032" y="5658611"/>
            <a:ext cx="7252970" cy="367665"/>
          </a:xfrm>
          <a:custGeom>
            <a:avLst/>
            <a:gdLst/>
            <a:ahLst/>
            <a:cxnLst/>
            <a:rect l="l" t="t" r="r" b="b"/>
            <a:pathLst>
              <a:path w="7252970" h="367664">
                <a:moveTo>
                  <a:pt x="0" y="61213"/>
                </a:moveTo>
                <a:lnTo>
                  <a:pt x="4810" y="37386"/>
                </a:lnTo>
                <a:lnTo>
                  <a:pt x="17929" y="17929"/>
                </a:lnTo>
                <a:lnTo>
                  <a:pt x="37386" y="4810"/>
                </a:lnTo>
                <a:lnTo>
                  <a:pt x="61214" y="0"/>
                </a:lnTo>
                <a:lnTo>
                  <a:pt x="7191502" y="0"/>
                </a:lnTo>
                <a:lnTo>
                  <a:pt x="7215318" y="4810"/>
                </a:lnTo>
                <a:lnTo>
                  <a:pt x="7234777" y="17929"/>
                </a:lnTo>
                <a:lnTo>
                  <a:pt x="7247901" y="37386"/>
                </a:lnTo>
                <a:lnTo>
                  <a:pt x="7252716" y="61213"/>
                </a:lnTo>
                <a:lnTo>
                  <a:pt x="7252716" y="306069"/>
                </a:lnTo>
                <a:lnTo>
                  <a:pt x="7247901" y="329897"/>
                </a:lnTo>
                <a:lnTo>
                  <a:pt x="7234777" y="349354"/>
                </a:lnTo>
                <a:lnTo>
                  <a:pt x="7215318" y="362473"/>
                </a:lnTo>
                <a:lnTo>
                  <a:pt x="7191502" y="367284"/>
                </a:lnTo>
                <a:lnTo>
                  <a:pt x="61214" y="367284"/>
                </a:lnTo>
                <a:lnTo>
                  <a:pt x="37386" y="362473"/>
                </a:lnTo>
                <a:lnTo>
                  <a:pt x="17929" y="349354"/>
                </a:lnTo>
                <a:lnTo>
                  <a:pt x="4810" y="329897"/>
                </a:lnTo>
                <a:lnTo>
                  <a:pt x="0" y="306069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2926" y="5687059"/>
            <a:ext cx="7091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  <a:hlinkClick r:id="rId3" action="ppaction://hlinksldjump"/>
              </a:rPr>
              <a:t>Lược</a:t>
            </a:r>
            <a:r>
              <a:rPr sz="1800" spc="-5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đồ</a:t>
            </a:r>
            <a:r>
              <a:rPr sz="1800" spc="-5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10" dirty="0">
                <a:latin typeface="Arial"/>
                <a:cs typeface="Arial"/>
                <a:hlinkClick r:id="rId3" action="ppaction://hlinksldjump"/>
              </a:rPr>
              <a:t>R11</a:t>
            </a:r>
            <a:r>
              <a:rPr sz="1800" spc="-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thuộc</a:t>
            </a:r>
            <a:r>
              <a:rPr sz="1800" spc="-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dạng</a:t>
            </a:r>
            <a:r>
              <a:rPr sz="1800" spc="-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chuẩn</a:t>
            </a:r>
            <a:r>
              <a:rPr sz="1800" spc="-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3,nhưng</a:t>
            </a:r>
            <a:r>
              <a:rPr sz="1800" spc="-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không</a:t>
            </a:r>
            <a:r>
              <a:rPr sz="1800" spc="-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thuộc</a:t>
            </a:r>
            <a:r>
              <a:rPr sz="1800" spc="-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dạng</a:t>
            </a:r>
            <a:r>
              <a:rPr sz="1800" spc="-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chuẩn</a:t>
            </a:r>
            <a:r>
              <a:rPr sz="1800" spc="-3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25" dirty="0">
                <a:latin typeface="Arial"/>
                <a:cs typeface="Arial"/>
                <a:hlinkClick r:id="rId3" action="ppaction://hlinksldjump"/>
              </a:rPr>
              <a:t>BC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3B909D2-C6BE-49B4-69E1-BAC9420B8C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65" dirty="0"/>
              <a:t> </a:t>
            </a:r>
            <a:r>
              <a:rPr dirty="0"/>
              <a:t>chuẩn</a:t>
            </a:r>
            <a:r>
              <a:rPr spc="-65" dirty="0"/>
              <a:t> </a:t>
            </a:r>
            <a:r>
              <a:rPr dirty="0"/>
              <a:t>Boyce</a:t>
            </a:r>
            <a:r>
              <a:rPr spc="-105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dirty="0"/>
              <a:t>Codd</a:t>
            </a:r>
            <a:r>
              <a:rPr spc="-75" dirty="0"/>
              <a:t> </a:t>
            </a:r>
            <a:r>
              <a:rPr spc="-25" dirty="0"/>
              <a:t>(2)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84299" y="1350059"/>
          <a:ext cx="4739005" cy="182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4692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4826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4826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826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826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78204" y="1017523"/>
            <a:ext cx="427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R11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84299" y="4263947"/>
          <a:ext cx="3519804" cy="182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4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78204" y="3932935"/>
            <a:ext cx="536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Arial"/>
                <a:cs typeface="Arial"/>
              </a:rPr>
              <a:t>R111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60338" y="4263947"/>
          <a:ext cx="2395855" cy="1094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tc>
                  <a:txBody>
                    <a:bodyPr/>
                    <a:lstStyle/>
                    <a:p>
                      <a:pPr marL="4394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148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14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855589" y="3932935"/>
            <a:ext cx="55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R112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80859" y="2205227"/>
            <a:ext cx="1906905" cy="368935"/>
          </a:xfrm>
          <a:custGeom>
            <a:avLst/>
            <a:gdLst/>
            <a:ahLst/>
            <a:cxnLst/>
            <a:rect l="l" t="t" r="r" b="b"/>
            <a:pathLst>
              <a:path w="1906904" h="368935">
                <a:moveTo>
                  <a:pt x="0" y="61468"/>
                </a:moveTo>
                <a:lnTo>
                  <a:pt x="4835" y="37558"/>
                </a:lnTo>
                <a:lnTo>
                  <a:pt x="18018" y="18018"/>
                </a:lnTo>
                <a:lnTo>
                  <a:pt x="37558" y="4835"/>
                </a:lnTo>
                <a:lnTo>
                  <a:pt x="61468" y="0"/>
                </a:lnTo>
                <a:lnTo>
                  <a:pt x="1845056" y="0"/>
                </a:lnTo>
                <a:lnTo>
                  <a:pt x="1868965" y="4835"/>
                </a:lnTo>
                <a:lnTo>
                  <a:pt x="1888505" y="18018"/>
                </a:lnTo>
                <a:lnTo>
                  <a:pt x="1901688" y="37558"/>
                </a:lnTo>
                <a:lnTo>
                  <a:pt x="1906524" y="61468"/>
                </a:lnTo>
                <a:lnTo>
                  <a:pt x="1906524" y="307339"/>
                </a:lnTo>
                <a:lnTo>
                  <a:pt x="1901688" y="331249"/>
                </a:lnTo>
                <a:lnTo>
                  <a:pt x="1888505" y="350789"/>
                </a:lnTo>
                <a:lnTo>
                  <a:pt x="1868965" y="363972"/>
                </a:lnTo>
                <a:lnTo>
                  <a:pt x="1845056" y="368808"/>
                </a:lnTo>
                <a:lnTo>
                  <a:pt x="61468" y="368808"/>
                </a:lnTo>
                <a:lnTo>
                  <a:pt x="37558" y="363972"/>
                </a:lnTo>
                <a:lnTo>
                  <a:pt x="18018" y="350789"/>
                </a:lnTo>
                <a:lnTo>
                  <a:pt x="4835" y="331249"/>
                </a:lnTo>
                <a:lnTo>
                  <a:pt x="0" y="307339"/>
                </a:lnTo>
                <a:lnTo>
                  <a:pt x="0" y="61468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76618" y="2233929"/>
            <a:ext cx="1743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  <a:hlinkClick r:id="rId2" action="ppaction://hlinksldjump"/>
              </a:rPr>
              <a:t>Trùng</a:t>
            </a:r>
            <a:r>
              <a:rPr sz="1800" spc="-4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2" action="ppaction://hlinksldjump"/>
              </a:rPr>
              <a:t>lặp</a:t>
            </a:r>
            <a:r>
              <a:rPr sz="1800" spc="-4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2" action="ppaction://hlinksldjump"/>
              </a:rPr>
              <a:t>dữ</a:t>
            </a:r>
            <a:r>
              <a:rPr sz="1800" spc="-4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1800" spc="-20" dirty="0">
                <a:latin typeface="Arial"/>
                <a:cs typeface="Arial"/>
                <a:hlinkClick r:id="rId2" action="ppaction://hlinksldjump"/>
              </a:rPr>
              <a:t>liệu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88152" y="2109596"/>
            <a:ext cx="1075690" cy="715010"/>
          </a:xfrm>
          <a:custGeom>
            <a:avLst/>
            <a:gdLst/>
            <a:ahLst/>
            <a:cxnLst/>
            <a:rect l="l" t="t" r="r" b="b"/>
            <a:pathLst>
              <a:path w="1075690" h="715010">
                <a:moveTo>
                  <a:pt x="93980" y="676656"/>
                </a:moveTo>
                <a:lnTo>
                  <a:pt x="89027" y="664972"/>
                </a:lnTo>
                <a:lnTo>
                  <a:pt x="67589" y="674090"/>
                </a:lnTo>
                <a:lnTo>
                  <a:pt x="55118" y="644906"/>
                </a:lnTo>
                <a:lnTo>
                  <a:pt x="0" y="709803"/>
                </a:lnTo>
                <a:lnTo>
                  <a:pt x="85090" y="715010"/>
                </a:lnTo>
                <a:lnTo>
                  <a:pt x="74714" y="690753"/>
                </a:lnTo>
                <a:lnTo>
                  <a:pt x="72593" y="685787"/>
                </a:lnTo>
                <a:lnTo>
                  <a:pt x="93980" y="676656"/>
                </a:lnTo>
                <a:close/>
              </a:path>
              <a:path w="1075690" h="715010">
                <a:moveTo>
                  <a:pt x="118999" y="40513"/>
                </a:moveTo>
                <a:lnTo>
                  <a:pt x="75768" y="31013"/>
                </a:lnTo>
                <a:lnTo>
                  <a:pt x="76085" y="29591"/>
                </a:lnTo>
                <a:lnTo>
                  <a:pt x="82550" y="0"/>
                </a:lnTo>
                <a:lnTo>
                  <a:pt x="0" y="20955"/>
                </a:lnTo>
                <a:lnTo>
                  <a:pt x="66294" y="74422"/>
                </a:lnTo>
                <a:lnTo>
                  <a:pt x="73050" y="43459"/>
                </a:lnTo>
                <a:lnTo>
                  <a:pt x="116205" y="52832"/>
                </a:lnTo>
                <a:lnTo>
                  <a:pt x="118999" y="40513"/>
                </a:lnTo>
                <a:close/>
              </a:path>
              <a:path w="1075690" h="715010">
                <a:moveTo>
                  <a:pt x="175768" y="641858"/>
                </a:moveTo>
                <a:lnTo>
                  <a:pt x="170815" y="630174"/>
                </a:lnTo>
                <a:lnTo>
                  <a:pt x="124079" y="649986"/>
                </a:lnTo>
                <a:lnTo>
                  <a:pt x="129032" y="661670"/>
                </a:lnTo>
                <a:lnTo>
                  <a:pt x="175768" y="641858"/>
                </a:lnTo>
                <a:close/>
              </a:path>
              <a:path w="1075690" h="715010">
                <a:moveTo>
                  <a:pt x="205740" y="59436"/>
                </a:moveTo>
                <a:lnTo>
                  <a:pt x="156210" y="48641"/>
                </a:lnTo>
                <a:lnTo>
                  <a:pt x="153416" y="60960"/>
                </a:lnTo>
                <a:lnTo>
                  <a:pt x="203073" y="71882"/>
                </a:lnTo>
                <a:lnTo>
                  <a:pt x="205740" y="59436"/>
                </a:lnTo>
                <a:close/>
              </a:path>
              <a:path w="1075690" h="715010">
                <a:moveTo>
                  <a:pt x="257556" y="606933"/>
                </a:moveTo>
                <a:lnTo>
                  <a:pt x="252603" y="595249"/>
                </a:lnTo>
                <a:lnTo>
                  <a:pt x="205867" y="615188"/>
                </a:lnTo>
                <a:lnTo>
                  <a:pt x="210820" y="626872"/>
                </a:lnTo>
                <a:lnTo>
                  <a:pt x="257556" y="606933"/>
                </a:lnTo>
                <a:close/>
              </a:path>
              <a:path w="1075690" h="715010">
                <a:moveTo>
                  <a:pt x="292608" y="78486"/>
                </a:moveTo>
                <a:lnTo>
                  <a:pt x="242951" y="67564"/>
                </a:lnTo>
                <a:lnTo>
                  <a:pt x="240284" y="80010"/>
                </a:lnTo>
                <a:lnTo>
                  <a:pt x="289941" y="90932"/>
                </a:lnTo>
                <a:lnTo>
                  <a:pt x="292608" y="78486"/>
                </a:lnTo>
                <a:close/>
              </a:path>
              <a:path w="1075690" h="715010">
                <a:moveTo>
                  <a:pt x="339344" y="572135"/>
                </a:moveTo>
                <a:lnTo>
                  <a:pt x="334391" y="560451"/>
                </a:lnTo>
                <a:lnTo>
                  <a:pt x="287655" y="580390"/>
                </a:lnTo>
                <a:lnTo>
                  <a:pt x="292608" y="592074"/>
                </a:lnTo>
                <a:lnTo>
                  <a:pt x="339344" y="572135"/>
                </a:lnTo>
                <a:close/>
              </a:path>
              <a:path w="1075690" h="715010">
                <a:moveTo>
                  <a:pt x="379476" y="97409"/>
                </a:moveTo>
                <a:lnTo>
                  <a:pt x="329819" y="86614"/>
                </a:lnTo>
                <a:lnTo>
                  <a:pt x="327152" y="99060"/>
                </a:lnTo>
                <a:lnTo>
                  <a:pt x="376809" y="109855"/>
                </a:lnTo>
                <a:lnTo>
                  <a:pt x="379476" y="97409"/>
                </a:lnTo>
                <a:close/>
              </a:path>
              <a:path w="1075690" h="715010">
                <a:moveTo>
                  <a:pt x="421132" y="537210"/>
                </a:moveTo>
                <a:lnTo>
                  <a:pt x="416179" y="525526"/>
                </a:lnTo>
                <a:lnTo>
                  <a:pt x="369443" y="545465"/>
                </a:lnTo>
                <a:lnTo>
                  <a:pt x="374396" y="557149"/>
                </a:lnTo>
                <a:lnTo>
                  <a:pt x="421132" y="537210"/>
                </a:lnTo>
                <a:close/>
              </a:path>
              <a:path w="1075690" h="715010">
                <a:moveTo>
                  <a:pt x="466344" y="116459"/>
                </a:moveTo>
                <a:lnTo>
                  <a:pt x="416687" y="105664"/>
                </a:lnTo>
                <a:lnTo>
                  <a:pt x="414020" y="117983"/>
                </a:lnTo>
                <a:lnTo>
                  <a:pt x="463550" y="128905"/>
                </a:lnTo>
                <a:lnTo>
                  <a:pt x="466344" y="116459"/>
                </a:lnTo>
                <a:close/>
              </a:path>
              <a:path w="1075690" h="715010">
                <a:moveTo>
                  <a:pt x="502920" y="502412"/>
                </a:moveTo>
                <a:lnTo>
                  <a:pt x="497967" y="490728"/>
                </a:lnTo>
                <a:lnTo>
                  <a:pt x="451231" y="510667"/>
                </a:lnTo>
                <a:lnTo>
                  <a:pt x="456184" y="522351"/>
                </a:lnTo>
                <a:lnTo>
                  <a:pt x="502920" y="502412"/>
                </a:lnTo>
                <a:close/>
              </a:path>
              <a:path w="1075690" h="715010">
                <a:moveTo>
                  <a:pt x="553212" y="135509"/>
                </a:moveTo>
                <a:lnTo>
                  <a:pt x="503555" y="124587"/>
                </a:lnTo>
                <a:lnTo>
                  <a:pt x="500888" y="137033"/>
                </a:lnTo>
                <a:lnTo>
                  <a:pt x="550418" y="147828"/>
                </a:lnTo>
                <a:lnTo>
                  <a:pt x="553212" y="135509"/>
                </a:lnTo>
                <a:close/>
              </a:path>
              <a:path w="1075690" h="715010">
                <a:moveTo>
                  <a:pt x="584708" y="467487"/>
                </a:moveTo>
                <a:lnTo>
                  <a:pt x="579755" y="455803"/>
                </a:lnTo>
                <a:lnTo>
                  <a:pt x="533019" y="475742"/>
                </a:lnTo>
                <a:lnTo>
                  <a:pt x="537972" y="487426"/>
                </a:lnTo>
                <a:lnTo>
                  <a:pt x="584708" y="467487"/>
                </a:lnTo>
                <a:close/>
              </a:path>
              <a:path w="1075690" h="715010">
                <a:moveTo>
                  <a:pt x="640080" y="154432"/>
                </a:moveTo>
                <a:lnTo>
                  <a:pt x="590423" y="143637"/>
                </a:lnTo>
                <a:lnTo>
                  <a:pt x="587629" y="155956"/>
                </a:lnTo>
                <a:lnTo>
                  <a:pt x="637286" y="166878"/>
                </a:lnTo>
                <a:lnTo>
                  <a:pt x="640080" y="154432"/>
                </a:lnTo>
                <a:close/>
              </a:path>
              <a:path w="1075690" h="715010">
                <a:moveTo>
                  <a:pt x="666496" y="432689"/>
                </a:moveTo>
                <a:lnTo>
                  <a:pt x="661543" y="421005"/>
                </a:lnTo>
                <a:lnTo>
                  <a:pt x="614807" y="440944"/>
                </a:lnTo>
                <a:lnTo>
                  <a:pt x="619760" y="452628"/>
                </a:lnTo>
                <a:lnTo>
                  <a:pt x="666496" y="432689"/>
                </a:lnTo>
                <a:close/>
              </a:path>
              <a:path w="1075690" h="715010">
                <a:moveTo>
                  <a:pt x="726821" y="173482"/>
                </a:moveTo>
                <a:lnTo>
                  <a:pt x="677291" y="162560"/>
                </a:lnTo>
                <a:lnTo>
                  <a:pt x="674497" y="175006"/>
                </a:lnTo>
                <a:lnTo>
                  <a:pt x="724154" y="185801"/>
                </a:lnTo>
                <a:lnTo>
                  <a:pt x="726821" y="173482"/>
                </a:lnTo>
                <a:close/>
              </a:path>
              <a:path w="1075690" h="715010">
                <a:moveTo>
                  <a:pt x="748271" y="397891"/>
                </a:moveTo>
                <a:lnTo>
                  <a:pt x="743318" y="386207"/>
                </a:lnTo>
                <a:lnTo>
                  <a:pt x="696595" y="406019"/>
                </a:lnTo>
                <a:lnTo>
                  <a:pt x="701548" y="417703"/>
                </a:lnTo>
                <a:lnTo>
                  <a:pt x="748271" y="397891"/>
                </a:lnTo>
                <a:close/>
              </a:path>
              <a:path w="1075690" h="715010">
                <a:moveTo>
                  <a:pt x="813689" y="192405"/>
                </a:moveTo>
                <a:lnTo>
                  <a:pt x="764019" y="181610"/>
                </a:lnTo>
                <a:lnTo>
                  <a:pt x="761365" y="194056"/>
                </a:lnTo>
                <a:lnTo>
                  <a:pt x="811022" y="204851"/>
                </a:lnTo>
                <a:lnTo>
                  <a:pt x="813689" y="192405"/>
                </a:lnTo>
                <a:close/>
              </a:path>
              <a:path w="1075690" h="715010">
                <a:moveTo>
                  <a:pt x="830072" y="362966"/>
                </a:moveTo>
                <a:lnTo>
                  <a:pt x="824992" y="351282"/>
                </a:lnTo>
                <a:lnTo>
                  <a:pt x="778370" y="371221"/>
                </a:lnTo>
                <a:lnTo>
                  <a:pt x="783336" y="382905"/>
                </a:lnTo>
                <a:lnTo>
                  <a:pt x="830072" y="362966"/>
                </a:lnTo>
                <a:close/>
              </a:path>
              <a:path w="1075690" h="715010">
                <a:moveTo>
                  <a:pt x="900557" y="211455"/>
                </a:moveTo>
                <a:lnTo>
                  <a:pt x="850900" y="200533"/>
                </a:lnTo>
                <a:lnTo>
                  <a:pt x="848220" y="212979"/>
                </a:lnTo>
                <a:lnTo>
                  <a:pt x="897890" y="223901"/>
                </a:lnTo>
                <a:lnTo>
                  <a:pt x="900557" y="211455"/>
                </a:lnTo>
                <a:close/>
              </a:path>
              <a:path w="1075690" h="715010">
                <a:moveTo>
                  <a:pt x="911860" y="328168"/>
                </a:moveTo>
                <a:lnTo>
                  <a:pt x="906780" y="316484"/>
                </a:lnTo>
                <a:lnTo>
                  <a:pt x="860044" y="336423"/>
                </a:lnTo>
                <a:lnTo>
                  <a:pt x="865124" y="348107"/>
                </a:lnTo>
                <a:lnTo>
                  <a:pt x="911860" y="328168"/>
                </a:lnTo>
                <a:close/>
              </a:path>
              <a:path w="1075690" h="715010">
                <a:moveTo>
                  <a:pt x="987425" y="230505"/>
                </a:moveTo>
                <a:lnTo>
                  <a:pt x="937768" y="219583"/>
                </a:lnTo>
                <a:lnTo>
                  <a:pt x="935101" y="232029"/>
                </a:lnTo>
                <a:lnTo>
                  <a:pt x="984631" y="242824"/>
                </a:lnTo>
                <a:lnTo>
                  <a:pt x="987425" y="230505"/>
                </a:lnTo>
                <a:close/>
              </a:path>
              <a:path w="1075690" h="715010">
                <a:moveTo>
                  <a:pt x="993648" y="293243"/>
                </a:moveTo>
                <a:lnTo>
                  <a:pt x="988568" y="281559"/>
                </a:lnTo>
                <a:lnTo>
                  <a:pt x="941832" y="301498"/>
                </a:lnTo>
                <a:lnTo>
                  <a:pt x="946912" y="313182"/>
                </a:lnTo>
                <a:lnTo>
                  <a:pt x="993648" y="293243"/>
                </a:lnTo>
                <a:close/>
              </a:path>
              <a:path w="1075690" h="715010">
                <a:moveTo>
                  <a:pt x="1075436" y="258445"/>
                </a:moveTo>
                <a:lnTo>
                  <a:pt x="1073340" y="253644"/>
                </a:lnTo>
                <a:lnTo>
                  <a:pt x="1074293" y="249428"/>
                </a:lnTo>
                <a:lnTo>
                  <a:pt x="1071219" y="248767"/>
                </a:lnTo>
                <a:lnTo>
                  <a:pt x="1070356" y="246761"/>
                </a:lnTo>
                <a:lnTo>
                  <a:pt x="1067536" y="247967"/>
                </a:lnTo>
                <a:lnTo>
                  <a:pt x="1024636" y="238633"/>
                </a:lnTo>
                <a:lnTo>
                  <a:pt x="1021969" y="250952"/>
                </a:lnTo>
                <a:lnTo>
                  <a:pt x="1047381" y="256565"/>
                </a:lnTo>
                <a:lnTo>
                  <a:pt x="1023620" y="266700"/>
                </a:lnTo>
                <a:lnTo>
                  <a:pt x="1028700" y="278384"/>
                </a:lnTo>
                <a:lnTo>
                  <a:pt x="1068793" y="261289"/>
                </a:lnTo>
                <a:lnTo>
                  <a:pt x="1071499" y="261874"/>
                </a:lnTo>
                <a:lnTo>
                  <a:pt x="1071930" y="259943"/>
                </a:lnTo>
                <a:lnTo>
                  <a:pt x="1075436" y="2584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A673A6-4CCB-07F2-47B5-EA7C1F7176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Dạng</a:t>
            </a:r>
            <a:r>
              <a:rPr spc="-65" dirty="0"/>
              <a:t> </a:t>
            </a:r>
            <a:r>
              <a:rPr dirty="0"/>
              <a:t>chuẩn</a:t>
            </a:r>
            <a:r>
              <a:rPr spc="-65" dirty="0"/>
              <a:t> </a:t>
            </a:r>
            <a:r>
              <a:rPr dirty="0"/>
              <a:t>Boyce</a:t>
            </a:r>
            <a:r>
              <a:rPr spc="-105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dirty="0"/>
              <a:t>Codd</a:t>
            </a:r>
            <a:r>
              <a:rPr spc="-75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404" y="1828927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60499" y="1430831"/>
          <a:ext cx="343154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44320" y="1099820"/>
            <a:ext cx="544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02835" algn="l"/>
              </a:tabLst>
            </a:pPr>
            <a:r>
              <a:rPr sz="1800" spc="-20" dirty="0">
                <a:latin typeface="Arial"/>
                <a:cs typeface="Arial"/>
              </a:rPr>
              <a:t>R111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2700" spc="-44" baseline="1543" dirty="0">
                <a:latin typeface="Arial"/>
                <a:cs typeface="Arial"/>
              </a:rPr>
              <a:t>R112</a:t>
            </a:r>
            <a:endParaRPr sz="2700" baseline="1543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04567" y="1848407"/>
            <a:ext cx="2230755" cy="255270"/>
            <a:chOff x="1604567" y="1848407"/>
            <a:chExt cx="2230755" cy="255270"/>
          </a:xfrm>
        </p:grpSpPr>
        <p:sp>
          <p:nvSpPr>
            <p:cNvPr id="7" name="object 7"/>
            <p:cNvSpPr/>
            <p:nvPr/>
          </p:nvSpPr>
          <p:spPr>
            <a:xfrm>
              <a:off x="1610867" y="1854707"/>
              <a:ext cx="2186940" cy="242570"/>
            </a:xfrm>
            <a:custGeom>
              <a:avLst/>
              <a:gdLst/>
              <a:ahLst/>
              <a:cxnLst/>
              <a:rect l="l" t="t" r="r" b="b"/>
              <a:pathLst>
                <a:path w="2186940" h="242569">
                  <a:moveTo>
                    <a:pt x="0" y="240791"/>
                  </a:moveTo>
                  <a:lnTo>
                    <a:pt x="2186940" y="242315"/>
                  </a:lnTo>
                </a:path>
                <a:path w="2186940" h="242569">
                  <a:moveTo>
                    <a:pt x="0" y="0"/>
                  </a:moveTo>
                  <a:lnTo>
                    <a:pt x="1523" y="237743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1975" y="1854707"/>
              <a:ext cx="76200" cy="237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8691" y="1854707"/>
              <a:ext cx="76200" cy="23774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944615" y="1823669"/>
            <a:ext cx="4578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34961" y="1433322"/>
            <a:ext cx="11430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6553" y="1433322"/>
            <a:ext cx="97853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800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63791" y="1848407"/>
            <a:ext cx="1060450" cy="255270"/>
            <a:chOff x="6463791" y="1848407"/>
            <a:chExt cx="1060450" cy="255270"/>
          </a:xfrm>
        </p:grpSpPr>
        <p:sp>
          <p:nvSpPr>
            <p:cNvPr id="14" name="object 14"/>
            <p:cNvSpPr/>
            <p:nvPr/>
          </p:nvSpPr>
          <p:spPr>
            <a:xfrm>
              <a:off x="6501383" y="2095499"/>
              <a:ext cx="1016635" cy="1905"/>
            </a:xfrm>
            <a:custGeom>
              <a:avLst/>
              <a:gdLst/>
              <a:ahLst/>
              <a:cxnLst/>
              <a:rect l="l" t="t" r="r" b="b"/>
              <a:pathLst>
                <a:path w="1016634" h="1905">
                  <a:moveTo>
                    <a:pt x="0" y="0"/>
                  </a:moveTo>
                  <a:lnTo>
                    <a:pt x="1016508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3791" y="1854707"/>
              <a:ext cx="76200" cy="23774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16367" y="1854707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4" h="238125">
                  <a:moveTo>
                    <a:pt x="0" y="0"/>
                  </a:moveTo>
                  <a:lnTo>
                    <a:pt x="1524" y="237743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2767583" y="2534411"/>
            <a:ext cx="3868420" cy="367665"/>
          </a:xfrm>
          <a:custGeom>
            <a:avLst/>
            <a:gdLst/>
            <a:ahLst/>
            <a:cxnLst/>
            <a:rect l="l" t="t" r="r" b="b"/>
            <a:pathLst>
              <a:path w="3868420" h="367664">
                <a:moveTo>
                  <a:pt x="0" y="61213"/>
                </a:moveTo>
                <a:lnTo>
                  <a:pt x="4814" y="37397"/>
                </a:lnTo>
                <a:lnTo>
                  <a:pt x="17938" y="17938"/>
                </a:lnTo>
                <a:lnTo>
                  <a:pt x="37397" y="4814"/>
                </a:lnTo>
                <a:lnTo>
                  <a:pt x="61214" y="0"/>
                </a:lnTo>
                <a:lnTo>
                  <a:pt x="3806698" y="0"/>
                </a:lnTo>
                <a:lnTo>
                  <a:pt x="3830514" y="4814"/>
                </a:lnTo>
                <a:lnTo>
                  <a:pt x="3849973" y="17938"/>
                </a:lnTo>
                <a:lnTo>
                  <a:pt x="3863097" y="37397"/>
                </a:lnTo>
                <a:lnTo>
                  <a:pt x="3867912" y="61213"/>
                </a:lnTo>
                <a:lnTo>
                  <a:pt x="3867912" y="306070"/>
                </a:lnTo>
                <a:lnTo>
                  <a:pt x="3863097" y="329886"/>
                </a:lnTo>
                <a:lnTo>
                  <a:pt x="3849973" y="349345"/>
                </a:lnTo>
                <a:lnTo>
                  <a:pt x="3830514" y="362469"/>
                </a:lnTo>
                <a:lnTo>
                  <a:pt x="3806698" y="367284"/>
                </a:lnTo>
                <a:lnTo>
                  <a:pt x="61214" y="367284"/>
                </a:lnTo>
                <a:lnTo>
                  <a:pt x="37397" y="362469"/>
                </a:lnTo>
                <a:lnTo>
                  <a:pt x="17938" y="349345"/>
                </a:lnTo>
                <a:lnTo>
                  <a:pt x="4814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5815" y="2562605"/>
            <a:ext cx="8488045" cy="325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  <a:hlinkClick r:id="rId3" action="ppaction://hlinksldjump"/>
              </a:rPr>
              <a:t>2</a:t>
            </a:r>
            <a:r>
              <a:rPr sz="18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lược</a:t>
            </a:r>
            <a:r>
              <a:rPr sz="18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đồ</a:t>
            </a:r>
            <a:r>
              <a:rPr sz="18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trên</a:t>
            </a:r>
            <a:r>
              <a:rPr sz="18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thuộc</a:t>
            </a:r>
            <a:r>
              <a:rPr sz="1800" spc="-1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dạng</a:t>
            </a:r>
            <a:r>
              <a:rPr sz="1800" spc="-1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dirty="0">
                <a:latin typeface="Arial"/>
                <a:cs typeface="Arial"/>
                <a:hlinkClick r:id="rId3" action="ppaction://hlinksldjump"/>
              </a:rPr>
              <a:t>chuẩn</a:t>
            </a:r>
            <a:r>
              <a:rPr sz="18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1800" spc="-25" dirty="0">
                <a:latin typeface="Arial"/>
                <a:cs typeface="Arial"/>
                <a:hlinkClick r:id="rId3" action="ppaction://hlinksldjump"/>
              </a:rPr>
              <a:t>BC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751840" marR="321945" lvl="1" indent="-281940">
              <a:lnSpc>
                <a:spcPct val="100000"/>
              </a:lnSpc>
              <a:spcBef>
                <a:spcPts val="62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Mọi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cũng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thuộc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3.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Dạng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giản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chặt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chẽ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3.</a:t>
            </a:r>
            <a:endParaRPr sz="2400">
              <a:latin typeface="Arial"/>
              <a:cs typeface="Arial"/>
            </a:endParaRPr>
          </a:p>
          <a:p>
            <a:pPr marL="751840" marR="5613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Mục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tiêu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hóa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đồ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AE741CD-34B1-DB98-C64D-3F1DCE661B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Thiết</a:t>
            </a:r>
            <a:r>
              <a:rPr spc="-5" dirty="0"/>
              <a:t> </a:t>
            </a:r>
            <a:r>
              <a:rPr dirty="0"/>
              <a:t>kế</a:t>
            </a:r>
            <a:r>
              <a:rPr spc="-5" dirty="0"/>
              <a:t> </a:t>
            </a:r>
            <a:r>
              <a:rPr spc="-20" dirty="0"/>
              <a:t>Top-Down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350884" cy="30454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Các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bước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hiện</a:t>
            </a:r>
            <a:endParaRPr sz="28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niệm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cấp </a:t>
            </a:r>
            <a:r>
              <a:rPr sz="2400" dirty="0">
                <a:latin typeface="Arial"/>
                <a:cs typeface="Arial"/>
              </a:rPr>
              <a:t>cao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(EER).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Chuyển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niệm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Với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PTH.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Áp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tắc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hóa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loại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bỏ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bộ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phận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bắt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132FD-9313-09D4-520B-93F557EF26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90" dirty="0"/>
              <a:t> </a:t>
            </a:r>
            <a:r>
              <a:rPr dirty="0"/>
              <a:t>dung</a:t>
            </a:r>
            <a:r>
              <a:rPr spc="-70" dirty="0"/>
              <a:t> </a:t>
            </a:r>
            <a:r>
              <a:rPr dirty="0"/>
              <a:t>trình</a:t>
            </a:r>
            <a:r>
              <a:rPr spc="-75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7783830" cy="23831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Nguyên</a:t>
            </a:r>
            <a:r>
              <a:rPr sz="3200" spc="-4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tắc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thiết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kế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các</a:t>
            </a:r>
            <a:r>
              <a:rPr sz="3200" spc="-1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lược</a:t>
            </a:r>
            <a:r>
              <a:rPr sz="3200" spc="-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đồ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quan</a:t>
            </a:r>
            <a:r>
              <a:rPr sz="3200" spc="-25" dirty="0">
                <a:solidFill>
                  <a:srgbClr val="A6A6A6"/>
                </a:solidFill>
                <a:latin typeface="Arial"/>
                <a:cs typeface="Arial"/>
              </a:rPr>
              <a:t> hệ.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Phụ</a:t>
            </a:r>
            <a:r>
              <a:rPr sz="3200" spc="-4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thuộc</a:t>
            </a:r>
            <a:r>
              <a:rPr sz="3200" spc="-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hàm.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Các</a:t>
            </a:r>
            <a:r>
              <a:rPr sz="3200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A6A6A6"/>
                </a:solidFill>
                <a:latin typeface="Arial"/>
                <a:cs typeface="Arial"/>
              </a:rPr>
              <a:t>dạng</a:t>
            </a:r>
            <a:r>
              <a:rPr sz="3200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A6A6A6"/>
                </a:solidFill>
                <a:latin typeface="Arial"/>
                <a:cs typeface="Arial"/>
              </a:rPr>
              <a:t>chuẩn.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Một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số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thuật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toán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chuẩn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hóa.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4677B-5073-2CE6-3986-B2971D57D8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Phân</a:t>
            </a:r>
            <a:r>
              <a:rPr spc="-45" dirty="0"/>
              <a:t> </a:t>
            </a:r>
            <a:r>
              <a:rPr dirty="0"/>
              <a:t>rã</a:t>
            </a:r>
            <a:r>
              <a:rPr spc="-50" dirty="0"/>
              <a:t> </a:t>
            </a:r>
            <a:r>
              <a:rPr dirty="0"/>
              <a:t>lược</a:t>
            </a:r>
            <a:r>
              <a:rPr spc="-5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quan</a:t>
            </a:r>
            <a:r>
              <a:rPr spc="-40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00941"/>
            <a:ext cx="8313420" cy="42265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Lược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chung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R(A</a:t>
            </a:r>
            <a:r>
              <a:rPr sz="2775" baseline="-21021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…,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A</a:t>
            </a:r>
            <a:r>
              <a:rPr sz="2775" spc="-37" baseline="-21021" dirty="0">
                <a:latin typeface="Arial"/>
                <a:cs typeface="Arial"/>
              </a:rPr>
              <a:t>n</a:t>
            </a:r>
            <a:r>
              <a:rPr sz="2800" spc="-25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thể.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Xác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PTH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Phân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rã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Sử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thuật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hóa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tách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tập</a:t>
            </a:r>
            <a:endParaRPr sz="2400">
              <a:latin typeface="Arial"/>
              <a:cs typeface="Arial"/>
            </a:endParaRPr>
          </a:p>
          <a:p>
            <a:pPr marL="77724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{R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</a:t>
            </a:r>
            <a:r>
              <a:rPr sz="2400" spc="-30" baseline="-20833" dirty="0">
                <a:latin typeface="Arial"/>
                <a:cs typeface="Arial"/>
              </a:rPr>
              <a:t>m</a:t>
            </a:r>
            <a:r>
              <a:rPr sz="2400" spc="-20" dirty="0">
                <a:latin typeface="Arial"/>
                <a:cs typeface="Arial"/>
              </a:rPr>
              <a:t>}.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Yêu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cầu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Bảo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toàn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20" dirty="0">
                <a:latin typeface="Arial"/>
                <a:cs typeface="Arial"/>
              </a:rPr>
              <a:t> tính.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i</a:t>
            </a:r>
            <a:r>
              <a:rPr sz="2400" spc="262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Boyce-</a:t>
            </a:r>
            <a:r>
              <a:rPr sz="2400" spc="-10" dirty="0">
                <a:latin typeface="Arial"/>
                <a:cs typeface="Arial"/>
              </a:rPr>
              <a:t>Codd.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D8F90-5934-DE66-7A19-2C6C6FC47B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rã</a:t>
            </a:r>
            <a:r>
              <a:rPr spc="-50" dirty="0"/>
              <a:t> </a:t>
            </a:r>
            <a:r>
              <a:rPr dirty="0"/>
              <a:t>bảo</a:t>
            </a:r>
            <a:r>
              <a:rPr spc="-35" dirty="0"/>
              <a:t> </a:t>
            </a:r>
            <a:r>
              <a:rPr dirty="0"/>
              <a:t>toàn</a:t>
            </a:r>
            <a:r>
              <a:rPr spc="-30" dirty="0"/>
              <a:t> </a:t>
            </a:r>
            <a:r>
              <a:rPr dirty="0"/>
              <a:t>PTH</a:t>
            </a:r>
            <a:r>
              <a:rPr spc="-5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4705984"/>
            <a:ext cx="45847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31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FD1 FD2 FD5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99" y="4398059"/>
          <a:ext cx="3596004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375967" y="4820208"/>
            <a:ext cx="2548890" cy="255270"/>
            <a:chOff x="1375967" y="4820208"/>
            <a:chExt cx="2548890" cy="255270"/>
          </a:xfrm>
        </p:grpSpPr>
        <p:sp>
          <p:nvSpPr>
            <p:cNvPr id="6" name="object 6"/>
            <p:cNvSpPr/>
            <p:nvPr/>
          </p:nvSpPr>
          <p:spPr>
            <a:xfrm>
              <a:off x="1382267" y="4826508"/>
              <a:ext cx="2506980" cy="242570"/>
            </a:xfrm>
            <a:custGeom>
              <a:avLst/>
              <a:gdLst/>
              <a:ahLst/>
              <a:cxnLst/>
              <a:rect l="l" t="t" r="r" b="b"/>
              <a:pathLst>
                <a:path w="2506979" h="242570">
                  <a:moveTo>
                    <a:pt x="0" y="240792"/>
                  </a:moveTo>
                  <a:lnTo>
                    <a:pt x="2506980" y="242316"/>
                  </a:lnTo>
                </a:path>
                <a:path w="2506979" h="242570">
                  <a:moveTo>
                    <a:pt x="0" y="0"/>
                  </a:moveTo>
                  <a:lnTo>
                    <a:pt x="1523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2207" y="4826508"/>
              <a:ext cx="76200" cy="237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6607" y="4826508"/>
              <a:ext cx="76200" cy="2377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607" y="4826508"/>
              <a:ext cx="76200" cy="23774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346200" y="5157011"/>
            <a:ext cx="2578735" cy="261620"/>
            <a:chOff x="1346200" y="5157011"/>
            <a:chExt cx="2578735" cy="2616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607" y="5169407"/>
              <a:ext cx="76200" cy="2377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6200" y="5169407"/>
              <a:ext cx="76200" cy="2377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83792" y="5163311"/>
              <a:ext cx="2494915" cy="248920"/>
            </a:xfrm>
            <a:custGeom>
              <a:avLst/>
              <a:gdLst/>
              <a:ahLst/>
              <a:cxnLst/>
              <a:rect l="l" t="t" r="r" b="b"/>
              <a:pathLst>
                <a:path w="2494915" h="248920">
                  <a:moveTo>
                    <a:pt x="0" y="246887"/>
                  </a:moveTo>
                  <a:lnTo>
                    <a:pt x="2494788" y="248412"/>
                  </a:lnTo>
                </a:path>
                <a:path w="2494915" h="248920">
                  <a:moveTo>
                    <a:pt x="826008" y="0"/>
                  </a:moveTo>
                  <a:lnTo>
                    <a:pt x="827532" y="237744"/>
                  </a:lnTo>
                </a:path>
                <a:path w="2494915" h="248920">
                  <a:moveTo>
                    <a:pt x="1740408" y="0"/>
                  </a:moveTo>
                  <a:lnTo>
                    <a:pt x="1741932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172207" y="5518199"/>
            <a:ext cx="1710055" cy="262890"/>
            <a:chOff x="2172207" y="5518199"/>
            <a:chExt cx="1710055" cy="26289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2207" y="5530596"/>
              <a:ext cx="76200" cy="2377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209799" y="5524500"/>
              <a:ext cx="1666239" cy="250190"/>
            </a:xfrm>
            <a:custGeom>
              <a:avLst/>
              <a:gdLst/>
              <a:ahLst/>
              <a:cxnLst/>
              <a:rect l="l" t="t" r="r" b="b"/>
              <a:pathLst>
                <a:path w="1666239" h="250189">
                  <a:moveTo>
                    <a:pt x="0" y="248412"/>
                  </a:moveTo>
                  <a:lnTo>
                    <a:pt x="1664208" y="249936"/>
                  </a:lnTo>
                </a:path>
                <a:path w="1666239" h="250189">
                  <a:moveTo>
                    <a:pt x="1664208" y="0"/>
                  </a:moveTo>
                  <a:lnTo>
                    <a:pt x="1665732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60389" y="4568190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165899" y="4169459"/>
          <a:ext cx="2148205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3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255015" y="1000941"/>
            <a:ext cx="8091805" cy="33655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4032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403225" algn="l"/>
              </a:tabLst>
            </a:pPr>
            <a:r>
              <a:rPr sz="2800" dirty="0">
                <a:latin typeface="Arial"/>
                <a:cs typeface="Arial"/>
              </a:rPr>
              <a:t>Tính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chất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toàn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PTH</a:t>
            </a:r>
            <a:endParaRPr sz="2800">
              <a:latin typeface="Arial"/>
              <a:cs typeface="Arial"/>
            </a:endParaRPr>
          </a:p>
          <a:p>
            <a:pPr marL="802640" marR="189865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802640" algn="l"/>
              </a:tabLst>
            </a:pPr>
            <a:r>
              <a:rPr sz="2400" dirty="0">
                <a:latin typeface="Arial"/>
                <a:cs typeface="Arial"/>
              </a:rPr>
              <a:t>Xét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phân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rã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{R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</a:t>
            </a:r>
            <a:r>
              <a:rPr sz="2400" spc="-30" baseline="-20833" dirty="0">
                <a:latin typeface="Arial"/>
                <a:cs typeface="Arial"/>
              </a:rPr>
              <a:t>m</a:t>
            </a:r>
            <a:r>
              <a:rPr sz="2400" spc="-20" dirty="0">
                <a:latin typeface="Arial"/>
                <a:cs typeface="Arial"/>
              </a:rPr>
              <a:t>}.</a:t>
            </a:r>
            <a:endParaRPr sz="2400">
              <a:latin typeface="Arial"/>
              <a:cs typeface="Arial"/>
            </a:endParaRPr>
          </a:p>
          <a:p>
            <a:pPr marL="12065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206500" algn="l"/>
              </a:tabLst>
            </a:pPr>
            <a:r>
              <a:rPr sz="2000" dirty="0">
                <a:latin typeface="Arial"/>
                <a:cs typeface="Arial"/>
              </a:rPr>
              <a:t>Đặt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Ri</a:t>
            </a:r>
            <a:r>
              <a:rPr sz="2000" dirty="0">
                <a:latin typeface="Arial"/>
                <a:cs typeface="Arial"/>
              </a:rPr>
              <a:t>(F)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1950" baseline="25641" dirty="0">
                <a:latin typeface="Arial"/>
                <a:cs typeface="Arial"/>
              </a:rPr>
              <a:t>+</a:t>
            </a:r>
            <a:r>
              <a:rPr sz="1950" spc="15" baseline="25641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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R</a:t>
            </a:r>
            <a:r>
              <a:rPr sz="1950" spc="-30" baseline="-21367" dirty="0">
                <a:latin typeface="Arial"/>
                <a:cs typeface="Arial"/>
              </a:rPr>
              <a:t>i</a:t>
            </a:r>
            <a:r>
              <a:rPr sz="2000" spc="-20" dirty="0">
                <a:latin typeface="Arial"/>
                <a:cs typeface="Arial"/>
              </a:rPr>
              <a:t>}.</a:t>
            </a:r>
            <a:endParaRPr sz="2000">
              <a:latin typeface="Arial"/>
              <a:cs typeface="Arial"/>
            </a:endParaRPr>
          </a:p>
          <a:p>
            <a:pPr marL="1206500" marR="55880" lvl="2" indent="-228600">
              <a:lnSpc>
                <a:spcPct val="100499"/>
              </a:lnSpc>
              <a:spcBef>
                <a:spcPts val="480"/>
              </a:spcBef>
              <a:buChar char="-"/>
              <a:tabLst>
                <a:tab pos="1206500" algn="l"/>
              </a:tabLst>
            </a:pPr>
            <a:r>
              <a:rPr sz="2000" dirty="0">
                <a:latin typeface="Arial"/>
                <a:cs typeface="Arial"/>
              </a:rPr>
              <a:t>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phân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bảo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toàn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phụ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hàm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đối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nếu </a:t>
            </a:r>
            <a:r>
              <a:rPr sz="2000" dirty="0">
                <a:latin typeface="Arial"/>
                <a:cs typeface="Arial"/>
              </a:rPr>
              <a:t>(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R1</a:t>
            </a:r>
            <a:r>
              <a:rPr sz="2000" dirty="0">
                <a:latin typeface="Arial"/>
                <a:cs typeface="Arial"/>
              </a:rPr>
              <a:t>(F)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…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Rm</a:t>
            </a:r>
            <a:r>
              <a:rPr sz="2000" dirty="0">
                <a:latin typeface="Arial"/>
                <a:cs typeface="Arial"/>
              </a:rPr>
              <a:t>(F))</a:t>
            </a:r>
            <a:r>
              <a:rPr sz="1950" baseline="25641" dirty="0">
                <a:latin typeface="Arial"/>
                <a:cs typeface="Arial"/>
              </a:rPr>
              <a:t>+</a:t>
            </a:r>
            <a:r>
              <a:rPr sz="1950" spc="262" baseline="25641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</a:t>
            </a:r>
            <a:r>
              <a:rPr sz="1950" spc="-37" baseline="25641" dirty="0">
                <a:latin typeface="Arial"/>
                <a:cs typeface="Arial"/>
              </a:rPr>
              <a:t>+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03225" indent="-339725">
              <a:lnSpc>
                <a:spcPts val="3180"/>
              </a:lnSpc>
              <a:spcBef>
                <a:spcPts val="680"/>
              </a:spcBef>
              <a:buFont typeface="Wingdings"/>
              <a:buChar char=""/>
              <a:tabLst>
                <a:tab pos="403225" algn="l"/>
              </a:tabLst>
            </a:pPr>
            <a:r>
              <a:rPr sz="2800" dirty="0">
                <a:latin typeface="Arial"/>
                <a:cs typeface="Arial"/>
              </a:rPr>
              <a:t>Ví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dụ</a:t>
            </a:r>
            <a:endParaRPr sz="2800">
              <a:latin typeface="Arial"/>
              <a:cs typeface="Arial"/>
            </a:endParaRPr>
          </a:p>
          <a:p>
            <a:pPr marR="1564005" algn="r">
              <a:lnSpc>
                <a:spcPts val="1795"/>
              </a:lnSpc>
            </a:pPr>
            <a:r>
              <a:rPr sz="1800" spc="-20" dirty="0">
                <a:latin typeface="Arial"/>
                <a:cs typeface="Arial"/>
              </a:rPr>
              <a:t>R111</a:t>
            </a:r>
            <a:endParaRPr sz="1800">
              <a:latin typeface="Arial"/>
              <a:cs typeface="Arial"/>
            </a:endParaRPr>
          </a:p>
          <a:p>
            <a:pPr marL="673100">
              <a:lnSpc>
                <a:spcPts val="1975"/>
              </a:lnSpc>
            </a:pPr>
            <a:r>
              <a:rPr sz="1800" spc="-25" dirty="0">
                <a:latin typeface="Arial"/>
                <a:cs typeface="Arial"/>
              </a:rPr>
              <a:t>R11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23684" y="4587035"/>
            <a:ext cx="1202055" cy="255270"/>
            <a:chOff x="6723684" y="4587035"/>
            <a:chExt cx="1202055" cy="255270"/>
          </a:xfrm>
        </p:grpSpPr>
        <p:sp>
          <p:nvSpPr>
            <p:cNvPr id="21" name="object 21"/>
            <p:cNvSpPr/>
            <p:nvPr/>
          </p:nvSpPr>
          <p:spPr>
            <a:xfrm>
              <a:off x="6729984" y="4593335"/>
              <a:ext cx="1152525" cy="242570"/>
            </a:xfrm>
            <a:custGeom>
              <a:avLst/>
              <a:gdLst/>
              <a:ahLst/>
              <a:cxnLst/>
              <a:rect l="l" t="t" r="r" b="b"/>
              <a:pathLst>
                <a:path w="1152525" h="242570">
                  <a:moveTo>
                    <a:pt x="0" y="240791"/>
                  </a:moveTo>
                  <a:lnTo>
                    <a:pt x="1152144" y="242315"/>
                  </a:lnTo>
                </a:path>
                <a:path w="1152525" h="242570">
                  <a:moveTo>
                    <a:pt x="0" y="0"/>
                  </a:moveTo>
                  <a:lnTo>
                    <a:pt x="15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1408" y="4593335"/>
              <a:ext cx="76200" cy="2377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9108" y="4593335"/>
              <a:ext cx="76200" cy="23774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160389" y="5911392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FD5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34961" y="5519165"/>
            <a:ext cx="6096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72961" y="5519165"/>
            <a:ext cx="7620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800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50685" y="5182361"/>
            <a:ext cx="55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R112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78676" y="5934252"/>
            <a:ext cx="594360" cy="255270"/>
            <a:chOff x="6678676" y="5934252"/>
            <a:chExt cx="594360" cy="255270"/>
          </a:xfrm>
        </p:grpSpPr>
        <p:sp>
          <p:nvSpPr>
            <p:cNvPr id="29" name="object 29"/>
            <p:cNvSpPr/>
            <p:nvPr/>
          </p:nvSpPr>
          <p:spPr>
            <a:xfrm>
              <a:off x="6716268" y="6181344"/>
              <a:ext cx="550545" cy="1905"/>
            </a:xfrm>
            <a:custGeom>
              <a:avLst/>
              <a:gdLst/>
              <a:ahLst/>
              <a:cxnLst/>
              <a:rect l="l" t="t" r="r" b="b"/>
              <a:pathLst>
                <a:path w="550545" h="1904">
                  <a:moveTo>
                    <a:pt x="0" y="0"/>
                  </a:moveTo>
                  <a:lnTo>
                    <a:pt x="550163" y="1523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8676" y="5940552"/>
              <a:ext cx="76200" cy="23778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264908" y="5940552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4" h="238125">
                  <a:moveTo>
                    <a:pt x="0" y="0"/>
                  </a:moveTo>
                  <a:lnTo>
                    <a:pt x="1524" y="23774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4725161" y="4974082"/>
            <a:ext cx="1066800" cy="114935"/>
          </a:xfrm>
          <a:custGeom>
            <a:avLst/>
            <a:gdLst/>
            <a:ahLst/>
            <a:cxnLst/>
            <a:rect l="l" t="t" r="r" b="b"/>
            <a:pathLst>
              <a:path w="1066800" h="114935">
                <a:moveTo>
                  <a:pt x="152653" y="36957"/>
                </a:moveTo>
                <a:lnTo>
                  <a:pt x="0" y="36957"/>
                </a:lnTo>
                <a:lnTo>
                  <a:pt x="0" y="74930"/>
                </a:lnTo>
                <a:lnTo>
                  <a:pt x="152653" y="75184"/>
                </a:lnTo>
                <a:lnTo>
                  <a:pt x="152653" y="36957"/>
                </a:lnTo>
                <a:close/>
              </a:path>
              <a:path w="1066800" h="114935">
                <a:moveTo>
                  <a:pt x="419735" y="37338"/>
                </a:moveTo>
                <a:lnTo>
                  <a:pt x="267207" y="37338"/>
                </a:lnTo>
                <a:lnTo>
                  <a:pt x="267080" y="75311"/>
                </a:lnTo>
                <a:lnTo>
                  <a:pt x="419735" y="75565"/>
                </a:lnTo>
                <a:lnTo>
                  <a:pt x="419735" y="37338"/>
                </a:lnTo>
                <a:close/>
              </a:path>
              <a:path w="1066800" h="114935">
                <a:moveTo>
                  <a:pt x="686942" y="37719"/>
                </a:moveTo>
                <a:lnTo>
                  <a:pt x="534288" y="37719"/>
                </a:lnTo>
                <a:lnTo>
                  <a:pt x="534162" y="75692"/>
                </a:lnTo>
                <a:lnTo>
                  <a:pt x="686815" y="75946"/>
                </a:lnTo>
                <a:lnTo>
                  <a:pt x="686942" y="37719"/>
                </a:lnTo>
                <a:close/>
              </a:path>
              <a:path w="1066800" h="114935">
                <a:moveTo>
                  <a:pt x="952373" y="0"/>
                </a:moveTo>
                <a:lnTo>
                  <a:pt x="952246" y="114427"/>
                </a:lnTo>
                <a:lnTo>
                  <a:pt x="1028785" y="76327"/>
                </a:lnTo>
                <a:lnTo>
                  <a:pt x="954024" y="76327"/>
                </a:lnTo>
                <a:lnTo>
                  <a:pt x="954024" y="38100"/>
                </a:lnTo>
                <a:lnTo>
                  <a:pt x="1028320" y="38100"/>
                </a:lnTo>
                <a:lnTo>
                  <a:pt x="952373" y="0"/>
                </a:lnTo>
                <a:close/>
              </a:path>
              <a:path w="1066800" h="114935">
                <a:moveTo>
                  <a:pt x="952330" y="38100"/>
                </a:moveTo>
                <a:lnTo>
                  <a:pt x="801370" y="38100"/>
                </a:lnTo>
                <a:lnTo>
                  <a:pt x="801370" y="76073"/>
                </a:lnTo>
                <a:lnTo>
                  <a:pt x="954023" y="76327"/>
                </a:lnTo>
                <a:lnTo>
                  <a:pt x="952288" y="76327"/>
                </a:lnTo>
                <a:lnTo>
                  <a:pt x="952330" y="38100"/>
                </a:lnTo>
                <a:close/>
              </a:path>
              <a:path w="1066800" h="114935">
                <a:moveTo>
                  <a:pt x="1028320" y="38100"/>
                </a:moveTo>
                <a:lnTo>
                  <a:pt x="954024" y="38100"/>
                </a:lnTo>
                <a:lnTo>
                  <a:pt x="954024" y="76327"/>
                </a:lnTo>
                <a:lnTo>
                  <a:pt x="1028785" y="76327"/>
                </a:lnTo>
                <a:lnTo>
                  <a:pt x="1066800" y="57404"/>
                </a:lnTo>
                <a:lnTo>
                  <a:pt x="102832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C34C7575-0B0D-6D3E-7C28-9566703565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rã</a:t>
            </a:r>
            <a:r>
              <a:rPr spc="-50" dirty="0"/>
              <a:t> </a:t>
            </a:r>
            <a:r>
              <a:rPr dirty="0"/>
              <a:t>bảo</a:t>
            </a:r>
            <a:r>
              <a:rPr spc="-35" dirty="0"/>
              <a:t> </a:t>
            </a:r>
            <a:r>
              <a:rPr dirty="0"/>
              <a:t>toàn</a:t>
            </a:r>
            <a:r>
              <a:rPr spc="-30" dirty="0"/>
              <a:t> </a:t>
            </a:r>
            <a:r>
              <a:rPr dirty="0"/>
              <a:t>PTH</a:t>
            </a:r>
            <a:r>
              <a:rPr spc="-55" dirty="0"/>
              <a:t> </a:t>
            </a:r>
            <a:r>
              <a:rPr spc="-25" dirty="0"/>
              <a:t>(2)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13099" y="972108"/>
          <a:ext cx="3596004" cy="145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R11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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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91208" y="2660699"/>
          <a:ext cx="2960370" cy="1823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R111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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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56299" y="2660699"/>
          <a:ext cx="2358390" cy="145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R112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65299" y="4718099"/>
          <a:ext cx="2992120" cy="145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i="1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i="1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343144" y="4840223"/>
            <a:ext cx="2973705" cy="1191895"/>
          </a:xfrm>
          <a:custGeom>
            <a:avLst/>
            <a:gdLst/>
            <a:ahLst/>
            <a:cxnLst/>
            <a:rect l="l" t="t" r="r" b="b"/>
            <a:pathLst>
              <a:path w="2973704" h="1191895">
                <a:moveTo>
                  <a:pt x="0" y="198627"/>
                </a:moveTo>
                <a:lnTo>
                  <a:pt x="5244" y="153075"/>
                </a:lnTo>
                <a:lnTo>
                  <a:pt x="20183" y="111263"/>
                </a:lnTo>
                <a:lnTo>
                  <a:pt x="43627" y="74384"/>
                </a:lnTo>
                <a:lnTo>
                  <a:pt x="74384" y="43627"/>
                </a:lnTo>
                <a:lnTo>
                  <a:pt x="111263" y="20183"/>
                </a:lnTo>
                <a:lnTo>
                  <a:pt x="153075" y="5244"/>
                </a:lnTo>
                <a:lnTo>
                  <a:pt x="198627" y="0"/>
                </a:lnTo>
                <a:lnTo>
                  <a:pt x="2774696" y="0"/>
                </a:lnTo>
                <a:lnTo>
                  <a:pt x="2820248" y="5244"/>
                </a:lnTo>
                <a:lnTo>
                  <a:pt x="2862060" y="20183"/>
                </a:lnTo>
                <a:lnTo>
                  <a:pt x="2898939" y="43627"/>
                </a:lnTo>
                <a:lnTo>
                  <a:pt x="2929696" y="74384"/>
                </a:lnTo>
                <a:lnTo>
                  <a:pt x="2953140" y="111263"/>
                </a:lnTo>
                <a:lnTo>
                  <a:pt x="2968079" y="153075"/>
                </a:lnTo>
                <a:lnTo>
                  <a:pt x="2973324" y="198627"/>
                </a:lnTo>
                <a:lnTo>
                  <a:pt x="2973324" y="993139"/>
                </a:lnTo>
                <a:lnTo>
                  <a:pt x="2968079" y="1038684"/>
                </a:lnTo>
                <a:lnTo>
                  <a:pt x="2953140" y="1080493"/>
                </a:lnTo>
                <a:lnTo>
                  <a:pt x="2929696" y="1117373"/>
                </a:lnTo>
                <a:lnTo>
                  <a:pt x="2898939" y="1148132"/>
                </a:lnTo>
                <a:lnTo>
                  <a:pt x="2862060" y="1171579"/>
                </a:lnTo>
                <a:lnTo>
                  <a:pt x="2820248" y="1186522"/>
                </a:lnTo>
                <a:lnTo>
                  <a:pt x="2774696" y="1191767"/>
                </a:lnTo>
                <a:lnTo>
                  <a:pt x="198627" y="1191767"/>
                </a:lnTo>
                <a:lnTo>
                  <a:pt x="153075" y="1186522"/>
                </a:lnTo>
                <a:lnTo>
                  <a:pt x="111263" y="1171579"/>
                </a:lnTo>
                <a:lnTo>
                  <a:pt x="74384" y="1148132"/>
                </a:lnTo>
                <a:lnTo>
                  <a:pt x="43627" y="1117373"/>
                </a:lnTo>
                <a:lnTo>
                  <a:pt x="20183" y="1080493"/>
                </a:lnTo>
                <a:lnTo>
                  <a:pt x="5244" y="1038684"/>
                </a:lnTo>
                <a:lnTo>
                  <a:pt x="0" y="993139"/>
                </a:lnTo>
                <a:lnTo>
                  <a:pt x="0" y="198627"/>
                </a:lnTo>
                <a:close/>
              </a:path>
            </a:pathLst>
          </a:custGeom>
          <a:ln w="936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79796" y="4857832"/>
            <a:ext cx="2783205" cy="1135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20"/>
              </a:lnSpc>
              <a:spcBef>
                <a:spcPts val="95"/>
              </a:spcBef>
            </a:pPr>
            <a:r>
              <a:rPr sz="1800" dirty="0">
                <a:latin typeface="Arial"/>
                <a:cs typeface="Arial"/>
              </a:rPr>
              <a:t>Thêm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(4,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900" dirty="0">
                <a:latin typeface="Symbol"/>
                <a:cs typeface="Symbol"/>
              </a:rPr>
              <a:t>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4)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R111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210"/>
              </a:lnSpc>
            </a:pPr>
            <a:r>
              <a:rPr sz="1800" dirty="0">
                <a:latin typeface="Arial"/>
                <a:cs typeface="Arial"/>
              </a:rPr>
              <a:t>và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(4,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900" dirty="0">
                <a:latin typeface="Symbol"/>
                <a:cs typeface="Symbol"/>
              </a:rPr>
              <a:t>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R112</a:t>
            </a:r>
            <a:endParaRPr sz="1800">
              <a:latin typeface="Arial"/>
              <a:cs typeface="Arial"/>
            </a:endParaRPr>
          </a:p>
          <a:p>
            <a:pPr marL="12700" marR="33655">
              <a:lnSpc>
                <a:spcPts val="2160"/>
              </a:lnSpc>
              <a:spcBef>
                <a:spcPts val="65"/>
              </a:spcBef>
            </a:pPr>
            <a:r>
              <a:rPr sz="1800" dirty="0">
                <a:latin typeface="Arial"/>
                <a:cs typeface="Arial"/>
              </a:rPr>
              <a:t>thì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trạng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thái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csdl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sẽ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không </a:t>
            </a:r>
            <a:r>
              <a:rPr sz="1800" dirty="0">
                <a:latin typeface="Arial"/>
                <a:cs typeface="Arial"/>
              </a:rPr>
              <a:t>thỏa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FD2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E69DA2-F4D2-CA38-9207-C0197833E2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rã</a:t>
            </a:r>
            <a:r>
              <a:rPr spc="-50" dirty="0"/>
              <a:t> </a:t>
            </a:r>
            <a:r>
              <a:rPr dirty="0"/>
              <a:t>bảo</a:t>
            </a:r>
            <a:r>
              <a:rPr spc="-35" dirty="0"/>
              <a:t> </a:t>
            </a:r>
            <a:r>
              <a:rPr dirty="0"/>
              <a:t>toàn</a:t>
            </a:r>
            <a:r>
              <a:rPr spc="-30" dirty="0"/>
              <a:t> </a:t>
            </a:r>
            <a:r>
              <a:rPr dirty="0"/>
              <a:t>PTH</a:t>
            </a:r>
            <a:r>
              <a:rPr spc="-55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00941"/>
            <a:ext cx="8537575" cy="504571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Định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lý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7.1</a:t>
            </a:r>
            <a:endParaRPr sz="2800">
              <a:latin typeface="Arial"/>
              <a:cs typeface="Arial"/>
            </a:endParaRPr>
          </a:p>
          <a:p>
            <a:pPr marL="777240" marR="34798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Tồn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phân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toàn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{R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}</a:t>
            </a:r>
            <a:r>
              <a:rPr sz="2400" spc="-25" dirty="0">
                <a:latin typeface="Arial"/>
                <a:cs typeface="Arial"/>
              </a:rPr>
              <a:t> của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đối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i</a:t>
            </a:r>
            <a:r>
              <a:rPr sz="2400" spc="30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dạng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3.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Thuật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7.4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Nhập: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R(U),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{A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}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25" dirty="0">
                <a:latin typeface="Arial"/>
                <a:cs typeface="Arial"/>
              </a:rPr>
              <a:t> F.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Xuất: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{R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},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i</a:t>
            </a:r>
            <a:r>
              <a:rPr sz="2400" spc="300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3.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B1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Tìm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phủ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tối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thiểu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F.</a:t>
            </a:r>
            <a:endParaRPr sz="20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B2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Với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mỗi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9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G,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xây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dựng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(U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),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7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{A</a:t>
            </a:r>
            <a:r>
              <a:rPr sz="1950" baseline="-21367" dirty="0">
                <a:latin typeface="Arial"/>
                <a:cs typeface="Arial"/>
              </a:rPr>
              <a:t>j</a:t>
            </a:r>
            <a:r>
              <a:rPr sz="2000" dirty="0">
                <a:latin typeface="Arial"/>
                <a:cs typeface="Arial"/>
              </a:rPr>
              <a:t>}.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Khóa</a:t>
            </a:r>
            <a:endParaRPr sz="2000">
              <a:latin typeface="Arial"/>
              <a:cs typeface="Arial"/>
            </a:endParaRPr>
          </a:p>
          <a:p>
            <a:pPr marL="11811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chính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54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X.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8CA40-F0C9-01A3-8487-F86D574470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rã</a:t>
            </a:r>
            <a:r>
              <a:rPr spc="-50" dirty="0"/>
              <a:t> </a:t>
            </a:r>
            <a:r>
              <a:rPr dirty="0"/>
              <a:t>bảo</a:t>
            </a:r>
            <a:r>
              <a:rPr spc="-35" dirty="0"/>
              <a:t> </a:t>
            </a:r>
            <a:r>
              <a:rPr dirty="0"/>
              <a:t>toàn</a:t>
            </a:r>
            <a:r>
              <a:rPr spc="-30" dirty="0"/>
              <a:t> </a:t>
            </a:r>
            <a:r>
              <a:rPr dirty="0"/>
              <a:t>PTH</a:t>
            </a:r>
            <a:r>
              <a:rPr spc="-55" dirty="0"/>
              <a:t> </a:t>
            </a:r>
            <a:r>
              <a:rPr spc="-25" dirty="0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920" y="1017067"/>
            <a:ext cx="8054975" cy="22567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19405" indent="-28130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19405" algn="l"/>
              </a:tabLst>
            </a:pPr>
            <a:r>
              <a:rPr sz="2400" i="1" spc="-25" dirty="0">
                <a:latin typeface="Arial"/>
                <a:cs typeface="Arial"/>
              </a:rPr>
              <a:t>B3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23265" lvl="1" indent="-227965">
              <a:lnSpc>
                <a:spcPct val="100000"/>
              </a:lnSpc>
              <a:spcBef>
                <a:spcPts val="509"/>
              </a:spcBef>
              <a:buChar char="-"/>
              <a:tabLst>
                <a:tab pos="723265" algn="l"/>
              </a:tabLst>
            </a:pPr>
            <a:r>
              <a:rPr sz="2000" dirty="0">
                <a:latin typeface="Arial"/>
                <a:cs typeface="Arial"/>
              </a:rPr>
              <a:t>Giả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xong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B2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1950" spc="26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…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U</a:t>
            </a:r>
            <a:r>
              <a:rPr sz="1950" spc="-37" baseline="-21367" dirty="0">
                <a:latin typeface="Arial"/>
                <a:cs typeface="Arial"/>
              </a:rPr>
              <a:t>m</a:t>
            </a:r>
            <a:endParaRPr sz="1950" baseline="-21367">
              <a:latin typeface="Arial"/>
              <a:cs typeface="Arial"/>
            </a:endParaRPr>
          </a:p>
          <a:p>
            <a:pPr marL="723265">
              <a:lnSpc>
                <a:spcPct val="100000"/>
              </a:lnSpc>
            </a:pPr>
            <a:r>
              <a:rPr sz="2000" dirty="0">
                <a:latin typeface="Symbol"/>
                <a:cs typeface="Symbol"/>
              </a:rPr>
              <a:t>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thì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xây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dựng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thêm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m+1</a:t>
            </a:r>
            <a:r>
              <a:rPr sz="2000" dirty="0">
                <a:latin typeface="Arial"/>
                <a:cs typeface="Arial"/>
              </a:rPr>
              <a:t>(U</a:t>
            </a:r>
            <a:r>
              <a:rPr sz="1950" baseline="-21367" dirty="0">
                <a:latin typeface="Arial"/>
                <a:cs typeface="Arial"/>
              </a:rPr>
              <a:t>m+1</a:t>
            </a:r>
            <a:r>
              <a:rPr sz="2000" dirty="0">
                <a:latin typeface="Arial"/>
                <a:cs typeface="Arial"/>
              </a:rPr>
              <a:t>),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1950" baseline="-21367" dirty="0">
                <a:latin typeface="Arial"/>
                <a:cs typeface="Arial"/>
              </a:rPr>
              <a:t>m+1</a:t>
            </a:r>
            <a:r>
              <a:rPr sz="1950" spc="27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(U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1950" spc="27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…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0" dirty="0">
                <a:latin typeface="Symbol"/>
                <a:cs typeface="Symbol"/>
              </a:rPr>
              <a:t></a:t>
            </a:r>
            <a:endParaRPr sz="2000">
              <a:latin typeface="Symbol"/>
              <a:cs typeface="Symbol"/>
            </a:endParaRPr>
          </a:p>
          <a:p>
            <a:pPr marL="72326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U</a:t>
            </a:r>
            <a:r>
              <a:rPr sz="1950" baseline="-21367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).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chính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m+1</a:t>
            </a:r>
            <a:r>
              <a:rPr sz="1950" spc="27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</a:t>
            </a:r>
            <a:r>
              <a:rPr sz="1950" spc="-15" baseline="-21367" dirty="0">
                <a:latin typeface="Arial"/>
                <a:cs typeface="Arial"/>
              </a:rPr>
              <a:t>m+1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19405" indent="-281305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319405" algn="l"/>
              </a:tabLst>
            </a:pPr>
            <a:r>
              <a:rPr sz="2400" i="1" spc="-25" dirty="0">
                <a:latin typeface="Arial"/>
                <a:cs typeface="Arial"/>
              </a:rPr>
              <a:t>B4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23265" lvl="1" indent="-227965">
              <a:lnSpc>
                <a:spcPct val="100000"/>
              </a:lnSpc>
              <a:spcBef>
                <a:spcPts val="509"/>
              </a:spcBef>
              <a:buChar char="-"/>
              <a:tabLst>
                <a:tab pos="723265" algn="l"/>
              </a:tabLst>
            </a:pPr>
            <a:r>
              <a:rPr sz="2000" dirty="0">
                <a:latin typeface="Arial"/>
                <a:cs typeface="Arial"/>
              </a:rPr>
              <a:t>Xuất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 </a:t>
            </a:r>
            <a:r>
              <a:rPr sz="2000" spc="-25" dirty="0">
                <a:latin typeface="Arial"/>
                <a:cs typeface="Arial"/>
              </a:rPr>
              <a:t>R</a:t>
            </a:r>
            <a:r>
              <a:rPr sz="1950" spc="-37" baseline="-21367" dirty="0">
                <a:latin typeface="Arial"/>
                <a:cs typeface="Arial"/>
              </a:rPr>
              <a:t>i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CA1DA-CD8C-6615-821D-BE5699C7ED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55" dirty="0"/>
              <a:t> </a:t>
            </a:r>
            <a:r>
              <a:rPr dirty="0"/>
              <a:t>dụ</a:t>
            </a:r>
            <a:r>
              <a:rPr spc="-40" dirty="0"/>
              <a:t> </a:t>
            </a:r>
            <a:r>
              <a:rPr dirty="0"/>
              <a:t>phân</a:t>
            </a:r>
            <a:r>
              <a:rPr spc="-45" dirty="0"/>
              <a:t> </a:t>
            </a:r>
            <a:r>
              <a:rPr dirty="0"/>
              <a:t>rã</a:t>
            </a:r>
            <a:r>
              <a:rPr spc="-35" dirty="0"/>
              <a:t> </a:t>
            </a:r>
            <a:r>
              <a:rPr dirty="0"/>
              <a:t>bảo</a:t>
            </a:r>
            <a:r>
              <a:rPr spc="-45" dirty="0"/>
              <a:t> </a:t>
            </a:r>
            <a:r>
              <a:rPr dirty="0"/>
              <a:t>toàn</a:t>
            </a:r>
            <a:r>
              <a:rPr spc="-60" dirty="0"/>
              <a:t> </a:t>
            </a:r>
            <a:r>
              <a:rPr dirty="0"/>
              <a:t>PTH</a:t>
            </a:r>
            <a:r>
              <a:rPr spc="-3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30325"/>
            <a:ext cx="7179945" cy="28784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spc="-25" dirty="0">
                <a:latin typeface="Arial"/>
                <a:cs typeface="Arial"/>
              </a:rPr>
              <a:t>Cho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spc="-10" dirty="0">
                <a:latin typeface="Arial"/>
                <a:cs typeface="Arial"/>
              </a:rPr>
              <a:t>R(ABCDEFG)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EB,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G}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Tách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toàn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PTH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751840" algn="l"/>
              </a:tabLst>
            </a:pPr>
            <a:r>
              <a:rPr sz="2000" i="1" spc="-25" dirty="0">
                <a:latin typeface="Arial"/>
                <a:cs typeface="Arial"/>
              </a:rPr>
              <a:t>B1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  <a:tabLst>
                <a:tab pos="11557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Phủ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tối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thiểu 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{B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G}.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ts val="2230"/>
              </a:lnSpc>
              <a:spcBef>
                <a:spcPts val="484"/>
              </a:spcBef>
              <a:buFont typeface="Arial"/>
              <a:buChar char="•"/>
              <a:tabLst>
                <a:tab pos="751840" algn="l"/>
              </a:tabLst>
            </a:pPr>
            <a:r>
              <a:rPr sz="2000" i="1" spc="-25" dirty="0">
                <a:latin typeface="Arial"/>
                <a:cs typeface="Arial"/>
              </a:rPr>
              <a:t>B2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591185" algn="ctr">
              <a:lnSpc>
                <a:spcPts val="1989"/>
              </a:lnSpc>
            </a:pPr>
            <a:r>
              <a:rPr sz="1800" spc="-10" dirty="0">
                <a:latin typeface="Arial"/>
                <a:cs typeface="Arial"/>
              </a:rPr>
              <a:t>R(ABC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800" spc="-10" dirty="0">
                <a:latin typeface="Arial"/>
                <a:cs typeface="Arial"/>
              </a:rPr>
              <a:t>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220" y="5243247"/>
            <a:ext cx="4072254" cy="9842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43180" algn="r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(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BCE)</a:t>
            </a:r>
            <a:endParaRPr sz="1800">
              <a:latin typeface="Arial"/>
              <a:cs typeface="Arial"/>
            </a:endParaRPr>
          </a:p>
          <a:p>
            <a:pPr marL="332105" indent="-28130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332105" algn="l"/>
              </a:tabLst>
            </a:pPr>
            <a:r>
              <a:rPr sz="2000" i="1" spc="-25" dirty="0">
                <a:latin typeface="Arial"/>
                <a:cs typeface="Arial"/>
              </a:rPr>
              <a:t>B3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508000">
              <a:lnSpc>
                <a:spcPct val="100000"/>
              </a:lnSpc>
              <a:spcBef>
                <a:spcPts val="515"/>
              </a:spcBef>
              <a:tabLst>
                <a:tab pos="735965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Xuất 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{R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</a:t>
            </a:r>
            <a:r>
              <a:rPr sz="1800" spc="-30" baseline="-20833" dirty="0">
                <a:latin typeface="Arial"/>
                <a:cs typeface="Arial"/>
              </a:rPr>
              <a:t>3</a:t>
            </a:r>
            <a:r>
              <a:rPr sz="1800" spc="-20" dirty="0">
                <a:latin typeface="Arial"/>
                <a:cs typeface="Arial"/>
              </a:rPr>
              <a:t>}.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8610" y="4569714"/>
            <a:ext cx="783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(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1800" spc="-10" dirty="0">
                <a:latin typeface="Arial"/>
                <a:cs typeface="Arial"/>
              </a:rPr>
              <a:t>A)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1800" y="4546091"/>
            <a:ext cx="2819400" cy="381000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4381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345"/>
              </a:spcBef>
              <a:tabLst>
                <a:tab pos="1102360" algn="l"/>
                <a:tab pos="2016760" algn="l"/>
              </a:tabLst>
            </a:pPr>
            <a:r>
              <a:rPr sz="2700" spc="-15" baseline="1543" dirty="0">
                <a:latin typeface="Arial"/>
                <a:cs typeface="Arial"/>
              </a:rPr>
              <a:t>R(</a:t>
            </a:r>
            <a:r>
              <a:rPr sz="2700" u="sng" spc="-15" baseline="154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2700" spc="-15" baseline="1543" dirty="0">
                <a:latin typeface="Arial"/>
                <a:cs typeface="Arial"/>
              </a:rPr>
              <a:t>C)</a:t>
            </a:r>
            <a:r>
              <a:rPr sz="2700" baseline="1543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R(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800" spc="-20" dirty="0">
                <a:latin typeface="Arial"/>
                <a:cs typeface="Arial"/>
              </a:rPr>
              <a:t>B)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R(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800" spc="-20" dirty="0">
                <a:latin typeface="Arial"/>
                <a:cs typeface="Arial"/>
              </a:rPr>
              <a:t>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9594" y="4577588"/>
            <a:ext cx="962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(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DF</a:t>
            </a:r>
            <a:r>
              <a:rPr sz="1800" spc="-10" dirty="0">
                <a:latin typeface="Arial"/>
                <a:cs typeface="Arial"/>
              </a:rPr>
              <a:t>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44673" y="4014851"/>
            <a:ext cx="1703070" cy="509905"/>
          </a:xfrm>
          <a:custGeom>
            <a:avLst/>
            <a:gdLst/>
            <a:ahLst/>
            <a:cxnLst/>
            <a:rect l="l" t="t" r="r" b="b"/>
            <a:pathLst>
              <a:path w="1703070" h="509904">
                <a:moveTo>
                  <a:pt x="95250" y="399288"/>
                </a:moveTo>
                <a:lnTo>
                  <a:pt x="0" y="484759"/>
                </a:lnTo>
                <a:lnTo>
                  <a:pt x="125602" y="509650"/>
                </a:lnTo>
                <a:lnTo>
                  <a:pt x="116870" y="477900"/>
                </a:lnTo>
                <a:lnTo>
                  <a:pt x="97027" y="477900"/>
                </a:lnTo>
                <a:lnTo>
                  <a:pt x="86994" y="441071"/>
                </a:lnTo>
                <a:lnTo>
                  <a:pt x="105354" y="436027"/>
                </a:lnTo>
                <a:lnTo>
                  <a:pt x="95250" y="399288"/>
                </a:lnTo>
                <a:close/>
              </a:path>
              <a:path w="1703070" h="509904">
                <a:moveTo>
                  <a:pt x="105354" y="436027"/>
                </a:moveTo>
                <a:lnTo>
                  <a:pt x="86994" y="441071"/>
                </a:lnTo>
                <a:lnTo>
                  <a:pt x="97027" y="477900"/>
                </a:lnTo>
                <a:lnTo>
                  <a:pt x="115477" y="472833"/>
                </a:lnTo>
                <a:lnTo>
                  <a:pt x="105354" y="436027"/>
                </a:lnTo>
                <a:close/>
              </a:path>
              <a:path w="1703070" h="509904">
                <a:moveTo>
                  <a:pt x="115477" y="472833"/>
                </a:moveTo>
                <a:lnTo>
                  <a:pt x="97027" y="477900"/>
                </a:lnTo>
                <a:lnTo>
                  <a:pt x="116870" y="477900"/>
                </a:lnTo>
                <a:lnTo>
                  <a:pt x="115477" y="472833"/>
                </a:lnTo>
                <a:close/>
              </a:path>
              <a:path w="1703070" h="509904">
                <a:moveTo>
                  <a:pt x="1692655" y="0"/>
                </a:moveTo>
                <a:lnTo>
                  <a:pt x="105354" y="436027"/>
                </a:lnTo>
                <a:lnTo>
                  <a:pt x="115477" y="472833"/>
                </a:lnTo>
                <a:lnTo>
                  <a:pt x="1702815" y="36830"/>
                </a:lnTo>
                <a:lnTo>
                  <a:pt x="1692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85920" y="4033265"/>
            <a:ext cx="114935" cy="472440"/>
          </a:xfrm>
          <a:custGeom>
            <a:avLst/>
            <a:gdLst/>
            <a:ahLst/>
            <a:cxnLst/>
            <a:rect l="l" t="t" r="r" b="b"/>
            <a:pathLst>
              <a:path w="114935" h="472439">
                <a:moveTo>
                  <a:pt x="76389" y="357885"/>
                </a:moveTo>
                <a:lnTo>
                  <a:pt x="0" y="358139"/>
                </a:lnTo>
                <a:lnTo>
                  <a:pt x="57658" y="472439"/>
                </a:lnTo>
                <a:lnTo>
                  <a:pt x="104976" y="377062"/>
                </a:lnTo>
                <a:lnTo>
                  <a:pt x="38227" y="377062"/>
                </a:lnTo>
                <a:lnTo>
                  <a:pt x="38169" y="358139"/>
                </a:lnTo>
                <a:lnTo>
                  <a:pt x="76390" y="358139"/>
                </a:lnTo>
                <a:lnTo>
                  <a:pt x="76389" y="357885"/>
                </a:lnTo>
                <a:close/>
              </a:path>
              <a:path w="114935" h="472439">
                <a:moveTo>
                  <a:pt x="75184" y="0"/>
                </a:moveTo>
                <a:lnTo>
                  <a:pt x="37084" y="0"/>
                </a:lnTo>
                <a:lnTo>
                  <a:pt x="38168" y="357885"/>
                </a:lnTo>
                <a:lnTo>
                  <a:pt x="38227" y="377062"/>
                </a:lnTo>
                <a:lnTo>
                  <a:pt x="76454" y="376935"/>
                </a:lnTo>
                <a:lnTo>
                  <a:pt x="76390" y="358139"/>
                </a:lnTo>
                <a:lnTo>
                  <a:pt x="0" y="358139"/>
                </a:lnTo>
                <a:lnTo>
                  <a:pt x="76389" y="357885"/>
                </a:lnTo>
                <a:lnTo>
                  <a:pt x="75184" y="0"/>
                </a:lnTo>
                <a:close/>
              </a:path>
              <a:path w="114935" h="472439">
                <a:moveTo>
                  <a:pt x="114491" y="357885"/>
                </a:moveTo>
                <a:lnTo>
                  <a:pt x="76389" y="357885"/>
                </a:lnTo>
                <a:lnTo>
                  <a:pt x="76454" y="376935"/>
                </a:lnTo>
                <a:lnTo>
                  <a:pt x="38227" y="377062"/>
                </a:lnTo>
                <a:lnTo>
                  <a:pt x="104976" y="377062"/>
                </a:lnTo>
                <a:lnTo>
                  <a:pt x="114364" y="358139"/>
                </a:lnTo>
                <a:lnTo>
                  <a:pt x="114491" y="357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15282" y="4014851"/>
            <a:ext cx="1681480" cy="501015"/>
          </a:xfrm>
          <a:custGeom>
            <a:avLst/>
            <a:gdLst/>
            <a:ahLst/>
            <a:cxnLst/>
            <a:rect l="l" t="t" r="r" b="b"/>
            <a:pathLst>
              <a:path w="1681479" h="501014">
                <a:moveTo>
                  <a:pt x="1566054" y="463867"/>
                </a:moveTo>
                <a:lnTo>
                  <a:pt x="1556003" y="500761"/>
                </a:lnTo>
                <a:lnTo>
                  <a:pt x="1681479" y="475615"/>
                </a:lnTo>
                <a:lnTo>
                  <a:pt x="1673957" y="468884"/>
                </a:lnTo>
                <a:lnTo>
                  <a:pt x="1584452" y="468884"/>
                </a:lnTo>
                <a:lnTo>
                  <a:pt x="1566054" y="463867"/>
                </a:lnTo>
                <a:close/>
              </a:path>
              <a:path w="1681479" h="501014">
                <a:moveTo>
                  <a:pt x="1576087" y="427036"/>
                </a:moveTo>
                <a:lnTo>
                  <a:pt x="1566054" y="463867"/>
                </a:lnTo>
                <a:lnTo>
                  <a:pt x="1584452" y="468884"/>
                </a:lnTo>
                <a:lnTo>
                  <a:pt x="1594484" y="432054"/>
                </a:lnTo>
                <a:lnTo>
                  <a:pt x="1576087" y="427036"/>
                </a:lnTo>
                <a:close/>
              </a:path>
              <a:path w="1681479" h="501014">
                <a:moveTo>
                  <a:pt x="1586102" y="390271"/>
                </a:moveTo>
                <a:lnTo>
                  <a:pt x="1576087" y="427036"/>
                </a:lnTo>
                <a:lnTo>
                  <a:pt x="1594484" y="432054"/>
                </a:lnTo>
                <a:lnTo>
                  <a:pt x="1584452" y="468884"/>
                </a:lnTo>
                <a:lnTo>
                  <a:pt x="1673957" y="468884"/>
                </a:lnTo>
                <a:lnTo>
                  <a:pt x="1586102" y="390271"/>
                </a:lnTo>
                <a:close/>
              </a:path>
              <a:path w="1681479" h="501014">
                <a:moveTo>
                  <a:pt x="10159" y="0"/>
                </a:moveTo>
                <a:lnTo>
                  <a:pt x="0" y="36830"/>
                </a:lnTo>
                <a:lnTo>
                  <a:pt x="1566054" y="463867"/>
                </a:lnTo>
                <a:lnTo>
                  <a:pt x="1576087" y="427036"/>
                </a:lnTo>
                <a:lnTo>
                  <a:pt x="101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85665" y="4991734"/>
            <a:ext cx="114935" cy="282575"/>
          </a:xfrm>
          <a:custGeom>
            <a:avLst/>
            <a:gdLst/>
            <a:ahLst/>
            <a:cxnLst/>
            <a:rect l="l" t="t" r="r" b="b"/>
            <a:pathLst>
              <a:path w="114935" h="282575">
                <a:moveTo>
                  <a:pt x="38249" y="167681"/>
                </a:moveTo>
                <a:lnTo>
                  <a:pt x="0" y="167894"/>
                </a:lnTo>
                <a:lnTo>
                  <a:pt x="57912" y="282066"/>
                </a:lnTo>
                <a:lnTo>
                  <a:pt x="104904" y="186816"/>
                </a:lnTo>
                <a:lnTo>
                  <a:pt x="38354" y="186816"/>
                </a:lnTo>
                <a:lnTo>
                  <a:pt x="38249" y="167681"/>
                </a:lnTo>
                <a:close/>
              </a:path>
              <a:path w="114935" h="282575">
                <a:moveTo>
                  <a:pt x="76350" y="167470"/>
                </a:moveTo>
                <a:lnTo>
                  <a:pt x="38249" y="167681"/>
                </a:lnTo>
                <a:lnTo>
                  <a:pt x="38354" y="186816"/>
                </a:lnTo>
                <a:lnTo>
                  <a:pt x="76454" y="186562"/>
                </a:lnTo>
                <a:lnTo>
                  <a:pt x="76350" y="167470"/>
                </a:lnTo>
                <a:close/>
              </a:path>
              <a:path w="114935" h="282575">
                <a:moveTo>
                  <a:pt x="114554" y="167258"/>
                </a:moveTo>
                <a:lnTo>
                  <a:pt x="76350" y="167470"/>
                </a:lnTo>
                <a:lnTo>
                  <a:pt x="76454" y="186562"/>
                </a:lnTo>
                <a:lnTo>
                  <a:pt x="38354" y="186816"/>
                </a:lnTo>
                <a:lnTo>
                  <a:pt x="104904" y="186816"/>
                </a:lnTo>
                <a:lnTo>
                  <a:pt x="114240" y="167894"/>
                </a:lnTo>
                <a:lnTo>
                  <a:pt x="114345" y="167681"/>
                </a:lnTo>
                <a:lnTo>
                  <a:pt x="114449" y="167470"/>
                </a:lnTo>
                <a:lnTo>
                  <a:pt x="114554" y="167258"/>
                </a:lnTo>
                <a:close/>
              </a:path>
              <a:path w="114935" h="282575">
                <a:moveTo>
                  <a:pt x="75437" y="0"/>
                </a:moveTo>
                <a:lnTo>
                  <a:pt x="37337" y="253"/>
                </a:lnTo>
                <a:lnTo>
                  <a:pt x="38247" y="167258"/>
                </a:lnTo>
                <a:lnTo>
                  <a:pt x="38249" y="167681"/>
                </a:lnTo>
                <a:lnTo>
                  <a:pt x="76350" y="167470"/>
                </a:lnTo>
                <a:lnTo>
                  <a:pt x="75439" y="253"/>
                </a:lnTo>
                <a:lnTo>
                  <a:pt x="75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8B2BE5E-4D44-2A31-0DE1-1ADCC61730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55" dirty="0"/>
              <a:t> </a:t>
            </a:r>
            <a:r>
              <a:rPr dirty="0"/>
              <a:t>dụ</a:t>
            </a:r>
            <a:r>
              <a:rPr spc="-40" dirty="0"/>
              <a:t> </a:t>
            </a:r>
            <a:r>
              <a:rPr dirty="0"/>
              <a:t>phân</a:t>
            </a:r>
            <a:r>
              <a:rPr spc="-45" dirty="0"/>
              <a:t> </a:t>
            </a:r>
            <a:r>
              <a:rPr dirty="0"/>
              <a:t>rã</a:t>
            </a:r>
            <a:r>
              <a:rPr spc="-35" dirty="0"/>
              <a:t> </a:t>
            </a:r>
            <a:r>
              <a:rPr dirty="0"/>
              <a:t>bảo</a:t>
            </a:r>
            <a:r>
              <a:rPr spc="-45" dirty="0"/>
              <a:t> </a:t>
            </a:r>
            <a:r>
              <a:rPr dirty="0"/>
              <a:t>toàn</a:t>
            </a:r>
            <a:r>
              <a:rPr spc="-60" dirty="0"/>
              <a:t> </a:t>
            </a:r>
            <a:r>
              <a:rPr dirty="0"/>
              <a:t>PTH</a:t>
            </a:r>
            <a:r>
              <a:rPr spc="-3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30325"/>
            <a:ext cx="7179945" cy="22809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spc="-25" dirty="0">
                <a:latin typeface="Arial"/>
                <a:cs typeface="Arial"/>
              </a:rPr>
              <a:t>Cho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spc="-10" dirty="0">
                <a:latin typeface="Arial"/>
                <a:cs typeface="Arial"/>
              </a:rPr>
              <a:t>R(ABCDEFGHI)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EB,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G}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Tách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toàn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PTH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751840" algn="l"/>
              </a:tabLst>
            </a:pPr>
            <a:r>
              <a:rPr sz="2000" i="1" spc="-25" dirty="0">
                <a:latin typeface="Arial"/>
                <a:cs typeface="Arial"/>
              </a:rPr>
              <a:t>B1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  <a:tabLst>
                <a:tab pos="11557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Phủ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tối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thiểu 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{B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B,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G}.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320" y="3346144"/>
            <a:ext cx="6896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4005" algn="l"/>
              </a:tabLst>
            </a:pPr>
            <a:r>
              <a:rPr sz="2000" i="1" spc="-25" dirty="0">
                <a:latin typeface="Arial"/>
                <a:cs typeface="Arial"/>
              </a:rPr>
              <a:t>B2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5220" y="4388570"/>
            <a:ext cx="5829300" cy="180848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448435">
              <a:lnSpc>
                <a:spcPct val="100000"/>
              </a:lnSpc>
              <a:spcBef>
                <a:spcPts val="685"/>
              </a:spcBef>
              <a:tabLst>
                <a:tab pos="2983865" algn="l"/>
                <a:tab pos="4853940" algn="l"/>
              </a:tabLst>
            </a:pPr>
            <a:r>
              <a:rPr sz="2700" spc="-15" baseline="1543" dirty="0">
                <a:latin typeface="Arial"/>
                <a:cs typeface="Arial"/>
              </a:rPr>
              <a:t>R</a:t>
            </a:r>
            <a:r>
              <a:rPr sz="1800" spc="-15" baseline="-18518" dirty="0">
                <a:latin typeface="Arial"/>
                <a:cs typeface="Arial"/>
              </a:rPr>
              <a:t>1</a:t>
            </a:r>
            <a:r>
              <a:rPr sz="2700" spc="-15" baseline="1543" dirty="0">
                <a:latin typeface="Arial"/>
                <a:cs typeface="Arial"/>
              </a:rPr>
              <a:t>(</a:t>
            </a:r>
            <a:r>
              <a:rPr sz="2700" u="sng" spc="-15" baseline="154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2700" spc="-15" baseline="1543" dirty="0">
                <a:latin typeface="Arial"/>
                <a:cs typeface="Arial"/>
              </a:rPr>
              <a:t>A)</a:t>
            </a:r>
            <a:r>
              <a:rPr sz="2700" baseline="1543" dirty="0">
                <a:latin typeface="Arial"/>
                <a:cs typeface="Arial"/>
              </a:rPr>
              <a:t>	</a:t>
            </a:r>
            <a:r>
              <a:rPr sz="2700" spc="-15" baseline="3086" dirty="0">
                <a:latin typeface="Arial"/>
                <a:cs typeface="Arial"/>
              </a:rPr>
              <a:t>R</a:t>
            </a:r>
            <a:r>
              <a:rPr sz="1800" spc="-15" baseline="-16203" dirty="0">
                <a:latin typeface="Arial"/>
                <a:cs typeface="Arial"/>
              </a:rPr>
              <a:t>2</a:t>
            </a:r>
            <a:r>
              <a:rPr sz="2700" spc="-15" baseline="3086" dirty="0">
                <a:latin typeface="Arial"/>
                <a:cs typeface="Arial"/>
              </a:rPr>
              <a:t>(</a:t>
            </a:r>
            <a:r>
              <a:rPr sz="2700" u="sng" spc="-15" baseline="308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2700" spc="-15" baseline="3086" dirty="0">
                <a:latin typeface="Arial"/>
                <a:cs typeface="Arial"/>
              </a:rPr>
              <a:t>BCE)</a:t>
            </a:r>
            <a:r>
              <a:rPr sz="2700" baseline="3086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(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DF</a:t>
            </a:r>
            <a:r>
              <a:rPr sz="1800" spc="-10" dirty="0">
                <a:latin typeface="Arial"/>
                <a:cs typeface="Arial"/>
              </a:rPr>
              <a:t>G)</a:t>
            </a:r>
            <a:endParaRPr sz="1800">
              <a:latin typeface="Arial"/>
              <a:cs typeface="Arial"/>
            </a:endParaRPr>
          </a:p>
          <a:p>
            <a:pPr marL="332105" indent="-28130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32105" algn="l"/>
              </a:tabLst>
            </a:pPr>
            <a:r>
              <a:rPr sz="2000" i="1" spc="-25" dirty="0">
                <a:latin typeface="Arial"/>
                <a:cs typeface="Arial"/>
              </a:rPr>
              <a:t>B3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508000">
              <a:lnSpc>
                <a:spcPct val="100000"/>
              </a:lnSpc>
              <a:spcBef>
                <a:spcPts val="515"/>
              </a:spcBef>
              <a:tabLst>
                <a:tab pos="735965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Vì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spc="21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3</a:t>
            </a:r>
            <a:r>
              <a:rPr sz="1800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{ABCDEFG}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nên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đặt</a:t>
            </a:r>
            <a:r>
              <a:rPr sz="1800" spc="-10" dirty="0">
                <a:latin typeface="Arial"/>
                <a:cs typeface="Arial"/>
              </a:rPr>
              <a:t> R</a:t>
            </a:r>
            <a:r>
              <a:rPr sz="1800" spc="-15" baseline="-20833" dirty="0">
                <a:latin typeface="Arial"/>
                <a:cs typeface="Arial"/>
              </a:rPr>
              <a:t>4</a:t>
            </a:r>
            <a:r>
              <a:rPr sz="1800" spc="-10" dirty="0">
                <a:latin typeface="Arial"/>
                <a:cs typeface="Arial"/>
              </a:rPr>
              <a:t>(HI).</a:t>
            </a:r>
            <a:endParaRPr sz="1800">
              <a:latin typeface="Arial"/>
              <a:cs typeface="Arial"/>
            </a:endParaRPr>
          </a:p>
          <a:p>
            <a:pPr marL="332105" indent="-28130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32105" algn="l"/>
              </a:tabLst>
            </a:pPr>
            <a:r>
              <a:rPr sz="2000" i="1" spc="-25" dirty="0">
                <a:latin typeface="Arial"/>
                <a:cs typeface="Arial"/>
              </a:rPr>
              <a:t>B4</a:t>
            </a:r>
            <a:r>
              <a:rPr sz="2000" spc="-2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508000">
              <a:lnSpc>
                <a:spcPct val="100000"/>
              </a:lnSpc>
              <a:spcBef>
                <a:spcPts val="515"/>
              </a:spcBef>
              <a:tabLst>
                <a:tab pos="735965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{R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baseline="-20833" dirty="0">
                <a:latin typeface="Arial"/>
                <a:cs typeface="Arial"/>
              </a:rPr>
              <a:t>3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</a:t>
            </a:r>
            <a:r>
              <a:rPr sz="1800" spc="-30" baseline="-20833" dirty="0">
                <a:latin typeface="Arial"/>
                <a:cs typeface="Arial"/>
              </a:rPr>
              <a:t>4</a:t>
            </a:r>
            <a:r>
              <a:rPr sz="1800" spc="-20" dirty="0">
                <a:latin typeface="Arial"/>
                <a:cs typeface="Arial"/>
              </a:rPr>
              <a:t>}.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7480" y="3534282"/>
            <a:ext cx="144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R(ABC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800" spc="-10" dirty="0">
                <a:latin typeface="Arial"/>
                <a:cs typeface="Arial"/>
              </a:rPr>
              <a:t>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12542" y="3938651"/>
            <a:ext cx="1235075" cy="381635"/>
          </a:xfrm>
          <a:custGeom>
            <a:avLst/>
            <a:gdLst/>
            <a:ahLst/>
            <a:cxnLst/>
            <a:rect l="l" t="t" r="r" b="b"/>
            <a:pathLst>
              <a:path w="1235075" h="381635">
                <a:moveTo>
                  <a:pt x="95250" y="271144"/>
                </a:moveTo>
                <a:lnTo>
                  <a:pt x="0" y="356743"/>
                </a:lnTo>
                <a:lnTo>
                  <a:pt x="125602" y="381507"/>
                </a:lnTo>
                <a:lnTo>
                  <a:pt x="116905" y="349885"/>
                </a:lnTo>
                <a:lnTo>
                  <a:pt x="97027" y="349885"/>
                </a:lnTo>
                <a:lnTo>
                  <a:pt x="86868" y="313055"/>
                </a:lnTo>
                <a:lnTo>
                  <a:pt x="105376" y="307963"/>
                </a:lnTo>
                <a:lnTo>
                  <a:pt x="95250" y="271144"/>
                </a:lnTo>
                <a:close/>
              </a:path>
              <a:path w="1235075" h="381635">
                <a:moveTo>
                  <a:pt x="105376" y="307963"/>
                </a:moveTo>
                <a:lnTo>
                  <a:pt x="86868" y="313055"/>
                </a:lnTo>
                <a:lnTo>
                  <a:pt x="97027" y="349885"/>
                </a:lnTo>
                <a:lnTo>
                  <a:pt x="115507" y="344801"/>
                </a:lnTo>
                <a:lnTo>
                  <a:pt x="105376" y="307963"/>
                </a:lnTo>
                <a:close/>
              </a:path>
              <a:path w="1235075" h="381635">
                <a:moveTo>
                  <a:pt x="115507" y="344801"/>
                </a:moveTo>
                <a:lnTo>
                  <a:pt x="97027" y="349885"/>
                </a:lnTo>
                <a:lnTo>
                  <a:pt x="116905" y="349885"/>
                </a:lnTo>
                <a:lnTo>
                  <a:pt x="115507" y="344801"/>
                </a:lnTo>
                <a:close/>
              </a:path>
              <a:path w="1235075" h="381635">
                <a:moveTo>
                  <a:pt x="1224787" y="0"/>
                </a:moveTo>
                <a:lnTo>
                  <a:pt x="105376" y="307963"/>
                </a:lnTo>
                <a:lnTo>
                  <a:pt x="115507" y="344801"/>
                </a:lnTo>
                <a:lnTo>
                  <a:pt x="1234947" y="36830"/>
                </a:lnTo>
                <a:lnTo>
                  <a:pt x="12247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85920" y="3956939"/>
            <a:ext cx="114935" cy="414655"/>
          </a:xfrm>
          <a:custGeom>
            <a:avLst/>
            <a:gdLst/>
            <a:ahLst/>
            <a:cxnLst/>
            <a:rect l="l" t="t" r="r" b="b"/>
            <a:pathLst>
              <a:path w="114935" h="414654">
                <a:moveTo>
                  <a:pt x="38158" y="300227"/>
                </a:moveTo>
                <a:lnTo>
                  <a:pt x="0" y="300355"/>
                </a:lnTo>
                <a:lnTo>
                  <a:pt x="57657" y="414655"/>
                </a:lnTo>
                <a:lnTo>
                  <a:pt x="104871" y="319278"/>
                </a:lnTo>
                <a:lnTo>
                  <a:pt x="38226" y="319278"/>
                </a:lnTo>
                <a:lnTo>
                  <a:pt x="38158" y="300227"/>
                </a:lnTo>
                <a:close/>
              </a:path>
              <a:path w="114935" h="414654">
                <a:moveTo>
                  <a:pt x="75183" y="0"/>
                </a:moveTo>
                <a:lnTo>
                  <a:pt x="37083" y="254"/>
                </a:lnTo>
                <a:lnTo>
                  <a:pt x="38157" y="299974"/>
                </a:lnTo>
                <a:lnTo>
                  <a:pt x="38226" y="319278"/>
                </a:lnTo>
                <a:lnTo>
                  <a:pt x="76326" y="319150"/>
                </a:lnTo>
                <a:lnTo>
                  <a:pt x="75184" y="254"/>
                </a:lnTo>
                <a:lnTo>
                  <a:pt x="75183" y="0"/>
                </a:lnTo>
                <a:close/>
              </a:path>
              <a:path w="114935" h="414654">
                <a:moveTo>
                  <a:pt x="114301" y="300227"/>
                </a:moveTo>
                <a:lnTo>
                  <a:pt x="76259" y="300227"/>
                </a:lnTo>
                <a:lnTo>
                  <a:pt x="76326" y="319150"/>
                </a:lnTo>
                <a:lnTo>
                  <a:pt x="38226" y="319278"/>
                </a:lnTo>
                <a:lnTo>
                  <a:pt x="104871" y="319278"/>
                </a:lnTo>
                <a:lnTo>
                  <a:pt x="114238" y="300355"/>
                </a:lnTo>
                <a:lnTo>
                  <a:pt x="114301" y="300227"/>
                </a:lnTo>
                <a:close/>
              </a:path>
              <a:path w="114935" h="414654">
                <a:moveTo>
                  <a:pt x="114426" y="299974"/>
                </a:moveTo>
                <a:lnTo>
                  <a:pt x="38158" y="300227"/>
                </a:lnTo>
                <a:lnTo>
                  <a:pt x="114301" y="300227"/>
                </a:lnTo>
                <a:lnTo>
                  <a:pt x="114426" y="299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14901" y="3938778"/>
            <a:ext cx="1113790" cy="372745"/>
          </a:xfrm>
          <a:custGeom>
            <a:avLst/>
            <a:gdLst/>
            <a:ahLst/>
            <a:cxnLst/>
            <a:rect l="l" t="t" r="r" b="b"/>
            <a:pathLst>
              <a:path w="1113789" h="372745">
                <a:moveTo>
                  <a:pt x="998265" y="335905"/>
                </a:moveTo>
                <a:lnTo>
                  <a:pt x="987298" y="372491"/>
                </a:lnTo>
                <a:lnTo>
                  <a:pt x="1113409" y="350520"/>
                </a:lnTo>
                <a:lnTo>
                  <a:pt x="1103695" y="341376"/>
                </a:lnTo>
                <a:lnTo>
                  <a:pt x="1016508" y="341376"/>
                </a:lnTo>
                <a:lnTo>
                  <a:pt x="998265" y="335905"/>
                </a:lnTo>
                <a:close/>
              </a:path>
              <a:path w="1113789" h="372745">
                <a:moveTo>
                  <a:pt x="1009236" y="299307"/>
                </a:moveTo>
                <a:lnTo>
                  <a:pt x="998265" y="335905"/>
                </a:lnTo>
                <a:lnTo>
                  <a:pt x="1016508" y="341376"/>
                </a:lnTo>
                <a:lnTo>
                  <a:pt x="1027557" y="304800"/>
                </a:lnTo>
                <a:lnTo>
                  <a:pt x="1009236" y="299307"/>
                </a:lnTo>
                <a:close/>
              </a:path>
              <a:path w="1113789" h="372745">
                <a:moveTo>
                  <a:pt x="1020190" y="262763"/>
                </a:moveTo>
                <a:lnTo>
                  <a:pt x="1009236" y="299307"/>
                </a:lnTo>
                <a:lnTo>
                  <a:pt x="1027557" y="304800"/>
                </a:lnTo>
                <a:lnTo>
                  <a:pt x="1016508" y="341376"/>
                </a:lnTo>
                <a:lnTo>
                  <a:pt x="1103695" y="341376"/>
                </a:lnTo>
                <a:lnTo>
                  <a:pt x="1020190" y="262763"/>
                </a:lnTo>
                <a:close/>
              </a:path>
              <a:path w="1113789" h="372745">
                <a:moveTo>
                  <a:pt x="10922" y="0"/>
                </a:moveTo>
                <a:lnTo>
                  <a:pt x="0" y="36576"/>
                </a:lnTo>
                <a:lnTo>
                  <a:pt x="998265" y="335905"/>
                </a:lnTo>
                <a:lnTo>
                  <a:pt x="1009236" y="299307"/>
                </a:lnTo>
                <a:lnTo>
                  <a:pt x="10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BF98B5-86A4-F94C-AD6C-0727A40BB9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Phân</a:t>
            </a:r>
            <a:r>
              <a:rPr spc="-60" dirty="0"/>
              <a:t> </a:t>
            </a:r>
            <a:r>
              <a:rPr dirty="0"/>
              <a:t>rã</a:t>
            </a:r>
            <a:r>
              <a:rPr spc="-75" dirty="0"/>
              <a:t> </a:t>
            </a:r>
            <a:r>
              <a:rPr dirty="0"/>
              <a:t>không</a:t>
            </a:r>
            <a:r>
              <a:rPr spc="-55" dirty="0"/>
              <a:t> </a:t>
            </a:r>
            <a:r>
              <a:rPr dirty="0"/>
              <a:t>mất</a:t>
            </a:r>
            <a:r>
              <a:rPr spc="-55" dirty="0"/>
              <a:t> </a:t>
            </a:r>
            <a:r>
              <a:rPr dirty="0"/>
              <a:t>thông</a:t>
            </a:r>
            <a:r>
              <a:rPr spc="-40" dirty="0"/>
              <a:t> </a:t>
            </a:r>
            <a:r>
              <a:rPr dirty="0"/>
              <a:t>tin</a:t>
            </a:r>
            <a:r>
              <a:rPr spc="-7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015" y="1017067"/>
            <a:ext cx="8555990" cy="52705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032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403225" algn="l"/>
              </a:tabLst>
            </a:pP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chất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mất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tin</a:t>
            </a:r>
            <a:endParaRPr sz="2400">
              <a:latin typeface="Arial"/>
              <a:cs typeface="Arial"/>
            </a:endParaRPr>
          </a:p>
          <a:p>
            <a:pPr marL="8026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02640" algn="l"/>
              </a:tabLst>
            </a:pPr>
            <a:r>
              <a:rPr sz="2000" dirty="0">
                <a:latin typeface="Arial"/>
                <a:cs typeface="Arial"/>
              </a:rPr>
              <a:t>Xét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PTH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F.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phân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rã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{R</a:t>
            </a:r>
            <a:r>
              <a:rPr sz="1950" spc="-30" baseline="-21367" dirty="0">
                <a:latin typeface="Arial"/>
                <a:cs typeface="Arial"/>
              </a:rPr>
              <a:t>1</a:t>
            </a:r>
            <a:r>
              <a:rPr sz="2000" spc="-2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8026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…,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</a:t>
            </a:r>
            <a:r>
              <a:rPr sz="1950" spc="-30" baseline="-21367" dirty="0">
                <a:latin typeface="Arial"/>
                <a:cs typeface="Arial"/>
              </a:rPr>
              <a:t>m</a:t>
            </a:r>
            <a:r>
              <a:rPr sz="2000" spc="-20" dirty="0">
                <a:latin typeface="Arial"/>
                <a:cs typeface="Arial"/>
              </a:rPr>
              <a:t>}.</a:t>
            </a:r>
            <a:endParaRPr sz="2000">
              <a:latin typeface="Arial"/>
              <a:cs typeface="Arial"/>
            </a:endParaRPr>
          </a:p>
          <a:p>
            <a:pPr marL="1206500" marR="266065" indent="-228600">
              <a:lnSpc>
                <a:spcPct val="100600"/>
              </a:lnSpc>
              <a:spcBef>
                <a:spcPts val="490"/>
              </a:spcBef>
              <a:tabLst>
                <a:tab pos="1206500" algn="l"/>
                <a:tab pos="2298065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rã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mất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thông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đối với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nếu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mọi</a:t>
            </a:r>
            <a:r>
              <a:rPr sz="1800" spc="-10" dirty="0">
                <a:latin typeface="Arial"/>
                <a:cs typeface="Arial"/>
              </a:rPr>
              <a:t> trạng </a:t>
            </a:r>
            <a:r>
              <a:rPr sz="1800" dirty="0">
                <a:latin typeface="Arial"/>
                <a:cs typeface="Arial"/>
              </a:rPr>
              <a:t>thái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R</a:t>
            </a:r>
            <a:r>
              <a:rPr sz="1800" dirty="0">
                <a:latin typeface="Arial"/>
                <a:cs typeface="Arial"/>
              </a:rPr>
              <a:t>	thì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dirty="0">
                <a:latin typeface="Symbol"/>
                <a:cs typeface="Symbol"/>
              </a:rPr>
              <a:t></a:t>
            </a:r>
            <a:r>
              <a:rPr sz="1800" baseline="-20833" dirty="0">
                <a:latin typeface="Arial"/>
                <a:cs typeface="Arial"/>
              </a:rPr>
              <a:t>R1</a:t>
            </a:r>
            <a:r>
              <a:rPr sz="1800" dirty="0">
                <a:latin typeface="Arial"/>
                <a:cs typeface="Arial"/>
              </a:rPr>
              <a:t>(r)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*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*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</a:t>
            </a:r>
            <a:r>
              <a:rPr sz="1800" baseline="-20833" dirty="0">
                <a:latin typeface="Arial"/>
                <a:cs typeface="Arial"/>
              </a:rPr>
              <a:t>Rm</a:t>
            </a:r>
            <a:r>
              <a:rPr sz="1800" dirty="0">
                <a:latin typeface="Arial"/>
                <a:cs typeface="Arial"/>
              </a:rPr>
              <a:t>(r))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r.</a:t>
            </a:r>
            <a:endParaRPr sz="1800">
              <a:latin typeface="Arial"/>
              <a:cs typeface="Arial"/>
            </a:endParaRPr>
          </a:p>
          <a:p>
            <a:pPr marL="403225" indent="-33972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403225" algn="l"/>
              </a:tabLst>
            </a:pPr>
            <a:r>
              <a:rPr sz="2400" dirty="0">
                <a:latin typeface="Arial"/>
                <a:cs typeface="Arial"/>
              </a:rPr>
              <a:t>Định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7.2</a:t>
            </a:r>
            <a:endParaRPr sz="2400">
              <a:latin typeface="Arial"/>
              <a:cs typeface="Arial"/>
            </a:endParaRPr>
          </a:p>
          <a:p>
            <a:pPr marL="8026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02640" algn="l"/>
              </a:tabLst>
            </a:pPr>
            <a:r>
              <a:rPr sz="2000" dirty="0">
                <a:latin typeface="Arial"/>
                <a:cs typeface="Arial"/>
              </a:rPr>
              <a:t>Phân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rã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{R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(U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),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2000" dirty="0">
                <a:latin typeface="Arial"/>
                <a:cs typeface="Arial"/>
              </a:rPr>
              <a:t>(U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2000" dirty="0">
                <a:latin typeface="Arial"/>
                <a:cs typeface="Arial"/>
              </a:rPr>
              <a:t>)}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R(U)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đối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với</a:t>
            </a:r>
            <a:endParaRPr sz="2000">
              <a:latin typeface="Arial"/>
              <a:cs typeface="Arial"/>
            </a:endParaRPr>
          </a:p>
          <a:p>
            <a:pPr marL="8026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tập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PTH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chỉ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nếu:</a:t>
            </a:r>
            <a:endParaRPr sz="2000">
              <a:latin typeface="Arial"/>
              <a:cs typeface="Arial"/>
            </a:endParaRPr>
          </a:p>
          <a:p>
            <a:pPr marL="977900">
              <a:lnSpc>
                <a:spcPct val="100000"/>
              </a:lnSpc>
              <a:spcBef>
                <a:spcPts val="515"/>
              </a:spcBef>
              <a:tabLst>
                <a:tab pos="12065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(U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spc="21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(U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F</a:t>
            </a:r>
            <a:r>
              <a:rPr sz="1800" baseline="25462" dirty="0">
                <a:latin typeface="Arial"/>
                <a:cs typeface="Arial"/>
              </a:rPr>
              <a:t>+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hoặc</a:t>
            </a:r>
            <a:endParaRPr sz="1800">
              <a:latin typeface="Arial"/>
              <a:cs typeface="Arial"/>
            </a:endParaRPr>
          </a:p>
          <a:p>
            <a:pPr marL="977900">
              <a:lnSpc>
                <a:spcPct val="100000"/>
              </a:lnSpc>
              <a:spcBef>
                <a:spcPts val="500"/>
              </a:spcBef>
              <a:tabLst>
                <a:tab pos="12065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(U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spc="21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(U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F</a:t>
            </a:r>
            <a:r>
              <a:rPr sz="1800" spc="-37" baseline="25462" dirty="0">
                <a:latin typeface="Arial"/>
                <a:cs typeface="Arial"/>
              </a:rPr>
              <a:t>+</a:t>
            </a:r>
            <a:r>
              <a:rPr sz="1800" spc="-2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403225" indent="-33972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403225" algn="l"/>
              </a:tabLst>
            </a:pPr>
            <a:r>
              <a:rPr sz="2400" dirty="0">
                <a:latin typeface="Arial"/>
                <a:cs typeface="Arial"/>
              </a:rPr>
              <a:t>Định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7.3</a:t>
            </a:r>
            <a:endParaRPr sz="2400">
              <a:latin typeface="Arial"/>
              <a:cs typeface="Arial"/>
            </a:endParaRPr>
          </a:p>
          <a:p>
            <a:pPr marL="802640" marR="6858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02640" algn="l"/>
              </a:tabLst>
            </a:pPr>
            <a:r>
              <a:rPr sz="2000" dirty="0">
                <a:latin typeface="Arial"/>
                <a:cs typeface="Arial"/>
              </a:rPr>
              <a:t>Nếu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phân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rã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{R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}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mất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đối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và </a:t>
            </a:r>
            <a:r>
              <a:rPr sz="2000" dirty="0">
                <a:latin typeface="Arial"/>
                <a:cs typeface="Arial"/>
              </a:rPr>
              <a:t>phân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7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{Q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}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6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đối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Ri</a:t>
            </a:r>
            <a:r>
              <a:rPr sz="2000" dirty="0">
                <a:latin typeface="Arial"/>
                <a:cs typeface="Arial"/>
              </a:rPr>
              <a:t>(F)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thì </a:t>
            </a:r>
            <a:r>
              <a:rPr sz="2000" dirty="0">
                <a:latin typeface="Arial"/>
                <a:cs typeface="Arial"/>
              </a:rPr>
              <a:t>D’ 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{R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</a:t>
            </a:r>
            <a:r>
              <a:rPr sz="1950" spc="-15" baseline="-21367" dirty="0">
                <a:latin typeface="Arial"/>
                <a:cs typeface="Arial"/>
              </a:rPr>
              <a:t>i-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i+1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} của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cũng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mất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tin.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6255E-6324-6FF8-84F9-0A16AC3FF2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Phân</a:t>
            </a:r>
            <a:r>
              <a:rPr spc="-60" dirty="0"/>
              <a:t> </a:t>
            </a:r>
            <a:r>
              <a:rPr dirty="0"/>
              <a:t>rã</a:t>
            </a:r>
            <a:r>
              <a:rPr spc="-75" dirty="0"/>
              <a:t> </a:t>
            </a:r>
            <a:r>
              <a:rPr dirty="0"/>
              <a:t>không</a:t>
            </a:r>
            <a:r>
              <a:rPr spc="-55" dirty="0"/>
              <a:t> </a:t>
            </a:r>
            <a:r>
              <a:rPr dirty="0"/>
              <a:t>mất</a:t>
            </a:r>
            <a:r>
              <a:rPr spc="-55" dirty="0"/>
              <a:t> </a:t>
            </a:r>
            <a:r>
              <a:rPr dirty="0"/>
              <a:t>thông</a:t>
            </a:r>
            <a:r>
              <a:rPr spc="-40" dirty="0"/>
              <a:t> </a:t>
            </a:r>
            <a:r>
              <a:rPr dirty="0"/>
              <a:t>tin</a:t>
            </a:r>
            <a:r>
              <a:rPr spc="-7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00941"/>
            <a:ext cx="8505190" cy="524383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Thuật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7.5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Nhập: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R(U),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{A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}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PTH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Xuất: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{R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i</a:t>
            </a:r>
            <a:r>
              <a:rPr sz="2400" spc="315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Boyce-Codd.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B1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09"/>
              </a:spcBef>
              <a:tabLst>
                <a:tab pos="11811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{R};</a:t>
            </a:r>
            <a:endParaRPr sz="20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B2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20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Nếu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Q(U</a:t>
            </a:r>
            <a:r>
              <a:rPr sz="1950" baseline="-21367" dirty="0">
                <a:latin typeface="Arial"/>
                <a:cs typeface="Arial"/>
              </a:rPr>
              <a:t>Q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D không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ở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dạng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chuẩn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BC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thì</a:t>
            </a:r>
            <a:endParaRPr sz="2000">
              <a:latin typeface="Arial"/>
              <a:cs typeface="Arial"/>
            </a:endParaRPr>
          </a:p>
          <a:p>
            <a:pPr marL="1409700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latin typeface="Arial"/>
                <a:cs typeface="Arial"/>
              </a:rPr>
              <a:t>+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Tìm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</a:t>
            </a:r>
            <a:r>
              <a:rPr sz="1800" baseline="-20833" dirty="0">
                <a:latin typeface="Arial"/>
                <a:cs typeface="Arial"/>
              </a:rPr>
              <a:t>Q</a:t>
            </a:r>
            <a:r>
              <a:rPr sz="1800" dirty="0">
                <a:latin typeface="Arial"/>
                <a:cs typeface="Arial"/>
              </a:rPr>
              <a:t>(F) làm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phạm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điều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kiện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BC.</a:t>
            </a:r>
            <a:endParaRPr sz="1800">
              <a:latin typeface="Arial"/>
              <a:cs typeface="Arial"/>
            </a:endParaRPr>
          </a:p>
          <a:p>
            <a:pPr marL="1409700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latin typeface="Arial"/>
                <a:cs typeface="Arial"/>
              </a:rPr>
              <a:t>+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{Q})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Q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(U</a:t>
            </a:r>
            <a:r>
              <a:rPr sz="1800" baseline="-20833" dirty="0">
                <a:latin typeface="Arial"/>
                <a:cs typeface="Arial"/>
              </a:rPr>
              <a:t>Q1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Q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(U</a:t>
            </a:r>
            <a:r>
              <a:rPr sz="1800" baseline="-20833" dirty="0">
                <a:latin typeface="Arial"/>
                <a:cs typeface="Arial"/>
              </a:rPr>
              <a:t>Q2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Q1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 U</a:t>
            </a:r>
            <a:r>
              <a:rPr sz="1800" baseline="-20833" dirty="0">
                <a:latin typeface="Arial"/>
                <a:cs typeface="Arial"/>
              </a:rPr>
              <a:t>Q</a:t>
            </a:r>
            <a:r>
              <a:rPr sz="1800" spc="24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baseline="-20833" dirty="0">
                <a:latin typeface="Arial"/>
                <a:cs typeface="Arial"/>
              </a:rPr>
              <a:t>Q2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 X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Y.</a:t>
            </a:r>
            <a:endParaRPr sz="1800">
              <a:latin typeface="Arial"/>
              <a:cs typeface="Arial"/>
            </a:endParaRPr>
          </a:p>
          <a:p>
            <a:pPr marL="14097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latin typeface="Arial"/>
                <a:cs typeface="Arial"/>
              </a:rPr>
              <a:t>+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lại </a:t>
            </a:r>
            <a:r>
              <a:rPr sz="1800" spc="-25" dirty="0">
                <a:latin typeface="Arial"/>
                <a:cs typeface="Arial"/>
              </a:rPr>
              <a:t>B2.</a:t>
            </a:r>
            <a:endParaRPr sz="18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95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Ngược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lại,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chuyển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B3.</a:t>
            </a:r>
            <a:endParaRPr sz="20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777240" algn="l"/>
              </a:tabLst>
            </a:pPr>
            <a:r>
              <a:rPr sz="2400" i="1" spc="-25" dirty="0">
                <a:latin typeface="Arial"/>
                <a:cs typeface="Arial"/>
              </a:rPr>
              <a:t>B3</a:t>
            </a:r>
            <a:r>
              <a:rPr sz="2400" spc="-2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Xuất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FE51D-6DF4-429C-731B-89386DF85C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70" dirty="0"/>
              <a:t> </a:t>
            </a:r>
            <a:r>
              <a:rPr dirty="0"/>
              <a:t>dụ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rã</a:t>
            </a:r>
            <a:r>
              <a:rPr spc="-55" dirty="0"/>
              <a:t> </a:t>
            </a:r>
            <a:r>
              <a:rPr dirty="0"/>
              <a:t>không</a:t>
            </a:r>
            <a:r>
              <a:rPr spc="-55" dirty="0"/>
              <a:t> </a:t>
            </a:r>
            <a:r>
              <a:rPr dirty="0"/>
              <a:t>mất</a:t>
            </a:r>
            <a:r>
              <a:rPr spc="-55" dirty="0"/>
              <a:t> </a:t>
            </a:r>
            <a:r>
              <a:rPr dirty="0"/>
              <a:t>thông</a:t>
            </a:r>
            <a:r>
              <a:rPr spc="-55" dirty="0"/>
              <a:t> </a:t>
            </a:r>
            <a:r>
              <a:rPr dirty="0"/>
              <a:t>tin</a:t>
            </a:r>
            <a:r>
              <a:rPr spc="-6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6566534" cy="16465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spc="-20" dirty="0">
                <a:latin typeface="Arial"/>
                <a:cs typeface="Arial"/>
              </a:rPr>
              <a:t>Cho: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spc="-10" dirty="0">
                <a:latin typeface="Arial"/>
                <a:cs typeface="Arial"/>
              </a:rPr>
              <a:t>R(ABCDEFG)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EB,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G}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Tách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BC,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mất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tin.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2185" y="4760214"/>
            <a:ext cx="1014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BCE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0630" y="3439159"/>
            <a:ext cx="670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B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19729" y="2906725"/>
            <a:ext cx="1447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R(ABCDEFG)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1133" y="4054551"/>
            <a:ext cx="853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15" baseline="-20833" dirty="0">
                <a:latin typeface="Verdana"/>
                <a:cs typeface="Verdana"/>
              </a:rPr>
              <a:t>1</a:t>
            </a:r>
            <a:r>
              <a:rPr sz="1800" spc="-10" dirty="0">
                <a:latin typeface="Verdana"/>
                <a:cs typeface="Verdana"/>
              </a:rPr>
              <a:t>(BA)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8963" y="4049979"/>
            <a:ext cx="1430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(BCDEFG)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7258" y="5345633"/>
            <a:ext cx="1113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(DBCE)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03494" y="5345633"/>
            <a:ext cx="961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4</a:t>
            </a:r>
            <a:r>
              <a:rPr sz="1800" spc="-10" dirty="0">
                <a:latin typeface="Arial"/>
                <a:cs typeface="Arial"/>
              </a:rPr>
              <a:t>(DFG)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47722" y="3237102"/>
            <a:ext cx="1160145" cy="777875"/>
          </a:xfrm>
          <a:custGeom>
            <a:avLst/>
            <a:gdLst/>
            <a:ahLst/>
            <a:cxnLst/>
            <a:rect l="l" t="t" r="r" b="b"/>
            <a:pathLst>
              <a:path w="1160145" h="777875">
                <a:moveTo>
                  <a:pt x="63753" y="666877"/>
                </a:moveTo>
                <a:lnTo>
                  <a:pt x="0" y="777875"/>
                </a:lnTo>
                <a:lnTo>
                  <a:pt x="127000" y="762254"/>
                </a:lnTo>
                <a:lnTo>
                  <a:pt x="112935" y="741045"/>
                </a:lnTo>
                <a:lnTo>
                  <a:pt x="90042" y="741045"/>
                </a:lnTo>
                <a:lnTo>
                  <a:pt x="68960" y="709295"/>
                </a:lnTo>
                <a:lnTo>
                  <a:pt x="84881" y="698737"/>
                </a:lnTo>
                <a:lnTo>
                  <a:pt x="63753" y="666877"/>
                </a:lnTo>
                <a:close/>
              </a:path>
              <a:path w="1160145" h="777875">
                <a:moveTo>
                  <a:pt x="84881" y="698737"/>
                </a:moveTo>
                <a:lnTo>
                  <a:pt x="68960" y="709295"/>
                </a:lnTo>
                <a:lnTo>
                  <a:pt x="90042" y="741045"/>
                </a:lnTo>
                <a:lnTo>
                  <a:pt x="105943" y="730500"/>
                </a:lnTo>
                <a:lnTo>
                  <a:pt x="84881" y="698737"/>
                </a:lnTo>
                <a:close/>
              </a:path>
              <a:path w="1160145" h="777875">
                <a:moveTo>
                  <a:pt x="105943" y="730500"/>
                </a:moveTo>
                <a:lnTo>
                  <a:pt x="90042" y="741045"/>
                </a:lnTo>
                <a:lnTo>
                  <a:pt x="112935" y="741045"/>
                </a:lnTo>
                <a:lnTo>
                  <a:pt x="105943" y="730500"/>
                </a:lnTo>
                <a:close/>
              </a:path>
              <a:path w="1160145" h="777875">
                <a:moveTo>
                  <a:pt x="1138554" y="0"/>
                </a:moveTo>
                <a:lnTo>
                  <a:pt x="84881" y="698737"/>
                </a:lnTo>
                <a:lnTo>
                  <a:pt x="105943" y="730500"/>
                </a:lnTo>
                <a:lnTo>
                  <a:pt x="1159637" y="31750"/>
                </a:lnTo>
                <a:lnTo>
                  <a:pt x="11385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36771" y="3236341"/>
            <a:ext cx="1228725" cy="702945"/>
          </a:xfrm>
          <a:custGeom>
            <a:avLst/>
            <a:gdLst/>
            <a:ahLst/>
            <a:cxnLst/>
            <a:rect l="l" t="t" r="r" b="b"/>
            <a:pathLst>
              <a:path w="1228725" h="702945">
                <a:moveTo>
                  <a:pt x="1119423" y="662934"/>
                </a:moveTo>
                <a:lnTo>
                  <a:pt x="1100708" y="696214"/>
                </a:lnTo>
                <a:lnTo>
                  <a:pt x="1228598" y="702437"/>
                </a:lnTo>
                <a:lnTo>
                  <a:pt x="1208231" y="672338"/>
                </a:lnTo>
                <a:lnTo>
                  <a:pt x="1136141" y="672338"/>
                </a:lnTo>
                <a:lnTo>
                  <a:pt x="1119423" y="662934"/>
                </a:lnTo>
                <a:close/>
              </a:path>
              <a:path w="1228725" h="702945">
                <a:moveTo>
                  <a:pt x="1138125" y="629677"/>
                </a:moveTo>
                <a:lnTo>
                  <a:pt x="1119423" y="662934"/>
                </a:lnTo>
                <a:lnTo>
                  <a:pt x="1136141" y="672338"/>
                </a:lnTo>
                <a:lnTo>
                  <a:pt x="1154811" y="639064"/>
                </a:lnTo>
                <a:lnTo>
                  <a:pt x="1138125" y="629677"/>
                </a:lnTo>
                <a:close/>
              </a:path>
              <a:path w="1228725" h="702945">
                <a:moveTo>
                  <a:pt x="1156842" y="596392"/>
                </a:moveTo>
                <a:lnTo>
                  <a:pt x="1138125" y="629677"/>
                </a:lnTo>
                <a:lnTo>
                  <a:pt x="1154811" y="639064"/>
                </a:lnTo>
                <a:lnTo>
                  <a:pt x="1136141" y="672338"/>
                </a:lnTo>
                <a:lnTo>
                  <a:pt x="1208231" y="672338"/>
                </a:lnTo>
                <a:lnTo>
                  <a:pt x="1156842" y="596392"/>
                </a:lnTo>
                <a:close/>
              </a:path>
              <a:path w="1228725" h="702945">
                <a:moveTo>
                  <a:pt x="18795" y="0"/>
                </a:moveTo>
                <a:lnTo>
                  <a:pt x="0" y="33274"/>
                </a:lnTo>
                <a:lnTo>
                  <a:pt x="1119423" y="662934"/>
                </a:lnTo>
                <a:lnTo>
                  <a:pt x="1138125" y="629677"/>
                </a:lnTo>
                <a:lnTo>
                  <a:pt x="187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62121" y="4379848"/>
            <a:ext cx="1464310" cy="930910"/>
          </a:xfrm>
          <a:custGeom>
            <a:avLst/>
            <a:gdLst/>
            <a:ahLst/>
            <a:cxnLst/>
            <a:rect l="l" t="t" r="r" b="b"/>
            <a:pathLst>
              <a:path w="1464310" h="930910">
                <a:moveTo>
                  <a:pt x="66420" y="821182"/>
                </a:moveTo>
                <a:lnTo>
                  <a:pt x="0" y="930529"/>
                </a:lnTo>
                <a:lnTo>
                  <a:pt x="127380" y="918082"/>
                </a:lnTo>
                <a:lnTo>
                  <a:pt x="113399" y="895857"/>
                </a:lnTo>
                <a:lnTo>
                  <a:pt x="90931" y="895857"/>
                </a:lnTo>
                <a:lnTo>
                  <a:pt x="70612" y="863600"/>
                </a:lnTo>
                <a:lnTo>
                  <a:pt x="86729" y="853463"/>
                </a:lnTo>
                <a:lnTo>
                  <a:pt x="66420" y="821182"/>
                </a:lnTo>
                <a:close/>
              </a:path>
              <a:path w="1464310" h="930910">
                <a:moveTo>
                  <a:pt x="86729" y="853463"/>
                </a:moveTo>
                <a:lnTo>
                  <a:pt x="70612" y="863600"/>
                </a:lnTo>
                <a:lnTo>
                  <a:pt x="90931" y="895857"/>
                </a:lnTo>
                <a:lnTo>
                  <a:pt x="107030" y="885733"/>
                </a:lnTo>
                <a:lnTo>
                  <a:pt x="86729" y="853463"/>
                </a:lnTo>
                <a:close/>
              </a:path>
              <a:path w="1464310" h="930910">
                <a:moveTo>
                  <a:pt x="107030" y="885733"/>
                </a:moveTo>
                <a:lnTo>
                  <a:pt x="90931" y="895857"/>
                </a:lnTo>
                <a:lnTo>
                  <a:pt x="113399" y="895857"/>
                </a:lnTo>
                <a:lnTo>
                  <a:pt x="107030" y="885733"/>
                </a:lnTo>
                <a:close/>
              </a:path>
              <a:path w="1464310" h="930910">
                <a:moveTo>
                  <a:pt x="1443736" y="0"/>
                </a:moveTo>
                <a:lnTo>
                  <a:pt x="86729" y="853463"/>
                </a:lnTo>
                <a:lnTo>
                  <a:pt x="107030" y="885733"/>
                </a:lnTo>
                <a:lnTo>
                  <a:pt x="1464055" y="32257"/>
                </a:lnTo>
                <a:lnTo>
                  <a:pt x="1443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05323" y="4381500"/>
            <a:ext cx="1079500" cy="929005"/>
          </a:xfrm>
          <a:custGeom>
            <a:avLst/>
            <a:gdLst/>
            <a:ahLst/>
            <a:cxnLst/>
            <a:rect l="l" t="t" r="r" b="b"/>
            <a:pathLst>
              <a:path w="1079500" h="929004">
                <a:moveTo>
                  <a:pt x="979931" y="868843"/>
                </a:moveTo>
                <a:lnTo>
                  <a:pt x="955039" y="897890"/>
                </a:lnTo>
                <a:lnTo>
                  <a:pt x="1079246" y="928878"/>
                </a:lnTo>
                <a:lnTo>
                  <a:pt x="1059201" y="881253"/>
                </a:lnTo>
                <a:lnTo>
                  <a:pt x="994410" y="881253"/>
                </a:lnTo>
                <a:lnTo>
                  <a:pt x="979931" y="868843"/>
                </a:lnTo>
                <a:close/>
              </a:path>
              <a:path w="1079500" h="929004">
                <a:moveTo>
                  <a:pt x="1004724" y="839910"/>
                </a:moveTo>
                <a:lnTo>
                  <a:pt x="979931" y="868843"/>
                </a:lnTo>
                <a:lnTo>
                  <a:pt x="994410" y="881253"/>
                </a:lnTo>
                <a:lnTo>
                  <a:pt x="1019175" y="852297"/>
                </a:lnTo>
                <a:lnTo>
                  <a:pt x="1004724" y="839910"/>
                </a:lnTo>
                <a:close/>
              </a:path>
              <a:path w="1079500" h="929004">
                <a:moveTo>
                  <a:pt x="1029588" y="810894"/>
                </a:moveTo>
                <a:lnTo>
                  <a:pt x="1004724" y="839910"/>
                </a:lnTo>
                <a:lnTo>
                  <a:pt x="1019175" y="852297"/>
                </a:lnTo>
                <a:lnTo>
                  <a:pt x="994410" y="881253"/>
                </a:lnTo>
                <a:lnTo>
                  <a:pt x="1059201" y="881253"/>
                </a:lnTo>
                <a:lnTo>
                  <a:pt x="1029588" y="810894"/>
                </a:lnTo>
                <a:close/>
              </a:path>
              <a:path w="1079500" h="929004">
                <a:moveTo>
                  <a:pt x="24891" y="0"/>
                </a:moveTo>
                <a:lnTo>
                  <a:pt x="0" y="28956"/>
                </a:lnTo>
                <a:lnTo>
                  <a:pt x="979931" y="868843"/>
                </a:lnTo>
                <a:lnTo>
                  <a:pt x="1004724" y="839910"/>
                </a:lnTo>
                <a:lnTo>
                  <a:pt x="24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23232" y="2859023"/>
            <a:ext cx="1264920" cy="407034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0325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475"/>
              </a:spcBef>
            </a:pPr>
            <a:r>
              <a:rPr sz="1800" spc="-90" dirty="0">
                <a:latin typeface="Arial"/>
                <a:cs typeface="Arial"/>
              </a:rPr>
              <a:t>F,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</a:t>
            </a:r>
            <a:r>
              <a:rPr sz="1800" spc="225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8200" y="3988308"/>
            <a:ext cx="1056640" cy="681355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0325" rIns="0" bIns="0" rtlCol="0">
            <a:spAutoFit/>
          </a:bodyPr>
          <a:lstStyle/>
          <a:p>
            <a:pPr marL="147955" marR="90805" indent="-52069">
              <a:lnSpc>
                <a:spcPct val="100000"/>
              </a:lnSpc>
              <a:spcBef>
                <a:spcPts val="475"/>
              </a:spcBef>
            </a:pPr>
            <a:r>
              <a:rPr sz="1800" dirty="0">
                <a:latin typeface="Arial"/>
                <a:cs typeface="Arial"/>
              </a:rPr>
              <a:t>{B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A},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R1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78423" y="3988308"/>
            <a:ext cx="2931160" cy="681355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0325" rIns="0" bIns="0" rtlCol="0">
            <a:spAutoFit/>
          </a:bodyPr>
          <a:lstStyle/>
          <a:p>
            <a:pPr marL="90170" marR="83820">
              <a:lnSpc>
                <a:spcPct val="100000"/>
              </a:lnSpc>
              <a:spcBef>
                <a:spcPts val="475"/>
              </a:spcBef>
            </a:pPr>
            <a:r>
              <a:rPr sz="1800" dirty="0">
                <a:latin typeface="Arial"/>
                <a:cs typeface="Arial"/>
              </a:rPr>
              <a:t>{D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ahoma"/>
                <a:cs typeface="Tahoma"/>
              </a:rPr>
              <a:t>EB,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DF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ahoma"/>
                <a:cs typeface="Tahoma"/>
              </a:rPr>
              <a:t>G</a:t>
            </a:r>
            <a:r>
              <a:rPr sz="1800" spc="-25" dirty="0">
                <a:latin typeface="Arial"/>
                <a:cs typeface="Arial"/>
              </a:rPr>
              <a:t>},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R2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25" dirty="0">
                <a:latin typeface="Arial"/>
                <a:cs typeface="Arial"/>
              </a:rPr>
              <a:t>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123" y="5283708"/>
            <a:ext cx="1995170" cy="681355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0960" rIns="0" bIns="0" rtlCol="0">
            <a:spAutoFit/>
          </a:bodyPr>
          <a:lstStyle/>
          <a:p>
            <a:pPr marL="90170" marR="85090">
              <a:lnSpc>
                <a:spcPct val="100000"/>
              </a:lnSpc>
              <a:spcBef>
                <a:spcPts val="480"/>
              </a:spcBef>
            </a:pPr>
            <a:r>
              <a:rPr sz="1800" dirty="0">
                <a:latin typeface="Arial"/>
                <a:cs typeface="Arial"/>
              </a:rPr>
              <a:t>{D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D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EB</a:t>
            </a:r>
            <a:r>
              <a:rPr sz="1800" spc="-20" dirty="0">
                <a:latin typeface="Arial"/>
                <a:cs typeface="Arial"/>
              </a:rPr>
              <a:t>},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R3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90359" y="5283708"/>
            <a:ext cx="1234440" cy="681355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0960" rIns="0" bIns="0" rtlCol="0">
            <a:spAutoFit/>
          </a:bodyPr>
          <a:lstStyle/>
          <a:p>
            <a:pPr marL="90170" marR="85090">
              <a:lnSpc>
                <a:spcPct val="100000"/>
              </a:lnSpc>
              <a:spcBef>
                <a:spcPts val="480"/>
              </a:spcBef>
            </a:pPr>
            <a:r>
              <a:rPr sz="1800" dirty="0">
                <a:latin typeface="Arial"/>
                <a:cs typeface="Arial"/>
              </a:rPr>
              <a:t>{DF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G},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R4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164BAFE-8504-7C6F-C93A-0091DF67F6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70" dirty="0"/>
              <a:t> </a:t>
            </a:r>
            <a:r>
              <a:rPr dirty="0"/>
              <a:t>dụ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rã</a:t>
            </a:r>
            <a:r>
              <a:rPr spc="-55" dirty="0"/>
              <a:t> </a:t>
            </a:r>
            <a:r>
              <a:rPr dirty="0"/>
              <a:t>không</a:t>
            </a:r>
            <a:r>
              <a:rPr spc="-55" dirty="0"/>
              <a:t> </a:t>
            </a:r>
            <a:r>
              <a:rPr dirty="0"/>
              <a:t>mất</a:t>
            </a:r>
            <a:r>
              <a:rPr spc="-55" dirty="0"/>
              <a:t> </a:t>
            </a:r>
            <a:r>
              <a:rPr dirty="0"/>
              <a:t>thông</a:t>
            </a:r>
            <a:r>
              <a:rPr spc="-55" dirty="0"/>
              <a:t> </a:t>
            </a:r>
            <a:r>
              <a:rPr dirty="0"/>
              <a:t>tin</a:t>
            </a:r>
            <a:r>
              <a:rPr spc="-6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9204" y="3081909"/>
            <a:ext cx="683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8635" y="1938654"/>
            <a:ext cx="1014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BCE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8357" y="1330197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R(ABCDEFG)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69210" y="2473578"/>
            <a:ext cx="1112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(DBCE)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45964" y="2472944"/>
            <a:ext cx="1113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(ADFG)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02735" y="3769232"/>
            <a:ext cx="796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(DA)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0494" y="3769232"/>
            <a:ext cx="961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</a:t>
            </a:r>
            <a:r>
              <a:rPr sz="1800" spc="-15" baseline="-20833" dirty="0">
                <a:latin typeface="Arial"/>
                <a:cs typeface="Arial"/>
              </a:rPr>
              <a:t>4</a:t>
            </a:r>
            <a:r>
              <a:rPr sz="1800" spc="-10" dirty="0">
                <a:latin typeface="Arial"/>
                <a:cs typeface="Arial"/>
              </a:rPr>
              <a:t>(DFG)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5714" y="1661286"/>
            <a:ext cx="1160145" cy="777875"/>
          </a:xfrm>
          <a:custGeom>
            <a:avLst/>
            <a:gdLst/>
            <a:ahLst/>
            <a:cxnLst/>
            <a:rect l="l" t="t" r="r" b="b"/>
            <a:pathLst>
              <a:path w="1160145" h="777875">
                <a:moveTo>
                  <a:pt x="63754" y="666876"/>
                </a:moveTo>
                <a:lnTo>
                  <a:pt x="0" y="777875"/>
                </a:lnTo>
                <a:lnTo>
                  <a:pt x="127000" y="762253"/>
                </a:lnTo>
                <a:lnTo>
                  <a:pt x="112935" y="741045"/>
                </a:lnTo>
                <a:lnTo>
                  <a:pt x="90043" y="741045"/>
                </a:lnTo>
                <a:lnTo>
                  <a:pt x="68961" y="709295"/>
                </a:lnTo>
                <a:lnTo>
                  <a:pt x="84881" y="698737"/>
                </a:lnTo>
                <a:lnTo>
                  <a:pt x="63754" y="666876"/>
                </a:lnTo>
                <a:close/>
              </a:path>
              <a:path w="1160145" h="777875">
                <a:moveTo>
                  <a:pt x="84881" y="698737"/>
                </a:moveTo>
                <a:lnTo>
                  <a:pt x="68961" y="709295"/>
                </a:lnTo>
                <a:lnTo>
                  <a:pt x="90043" y="741045"/>
                </a:lnTo>
                <a:lnTo>
                  <a:pt x="105943" y="730500"/>
                </a:lnTo>
                <a:lnTo>
                  <a:pt x="84881" y="698737"/>
                </a:lnTo>
                <a:close/>
              </a:path>
              <a:path w="1160145" h="777875">
                <a:moveTo>
                  <a:pt x="105943" y="730500"/>
                </a:moveTo>
                <a:lnTo>
                  <a:pt x="90043" y="741045"/>
                </a:lnTo>
                <a:lnTo>
                  <a:pt x="112935" y="741045"/>
                </a:lnTo>
                <a:lnTo>
                  <a:pt x="105943" y="730500"/>
                </a:lnTo>
                <a:close/>
              </a:path>
              <a:path w="1160145" h="777875">
                <a:moveTo>
                  <a:pt x="1138555" y="0"/>
                </a:moveTo>
                <a:lnTo>
                  <a:pt x="84881" y="698737"/>
                </a:lnTo>
                <a:lnTo>
                  <a:pt x="105943" y="730500"/>
                </a:lnTo>
                <a:lnTo>
                  <a:pt x="1159637" y="31750"/>
                </a:lnTo>
                <a:lnTo>
                  <a:pt x="11385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34764" y="1660525"/>
            <a:ext cx="1228725" cy="702945"/>
          </a:xfrm>
          <a:custGeom>
            <a:avLst/>
            <a:gdLst/>
            <a:ahLst/>
            <a:cxnLst/>
            <a:rect l="l" t="t" r="r" b="b"/>
            <a:pathLst>
              <a:path w="1228725" h="702944">
                <a:moveTo>
                  <a:pt x="1119423" y="662934"/>
                </a:moveTo>
                <a:lnTo>
                  <a:pt x="1100709" y="696213"/>
                </a:lnTo>
                <a:lnTo>
                  <a:pt x="1228598" y="702437"/>
                </a:lnTo>
                <a:lnTo>
                  <a:pt x="1208231" y="672338"/>
                </a:lnTo>
                <a:lnTo>
                  <a:pt x="1136141" y="672338"/>
                </a:lnTo>
                <a:lnTo>
                  <a:pt x="1119423" y="662934"/>
                </a:lnTo>
                <a:close/>
              </a:path>
              <a:path w="1228725" h="702944">
                <a:moveTo>
                  <a:pt x="1138125" y="629677"/>
                </a:moveTo>
                <a:lnTo>
                  <a:pt x="1119423" y="662934"/>
                </a:lnTo>
                <a:lnTo>
                  <a:pt x="1136141" y="672338"/>
                </a:lnTo>
                <a:lnTo>
                  <a:pt x="1154811" y="639063"/>
                </a:lnTo>
                <a:lnTo>
                  <a:pt x="1138125" y="629677"/>
                </a:lnTo>
                <a:close/>
              </a:path>
              <a:path w="1228725" h="702944">
                <a:moveTo>
                  <a:pt x="1156843" y="596391"/>
                </a:moveTo>
                <a:lnTo>
                  <a:pt x="1138125" y="629677"/>
                </a:lnTo>
                <a:lnTo>
                  <a:pt x="1154811" y="639063"/>
                </a:lnTo>
                <a:lnTo>
                  <a:pt x="1136141" y="672338"/>
                </a:lnTo>
                <a:lnTo>
                  <a:pt x="1208231" y="672338"/>
                </a:lnTo>
                <a:lnTo>
                  <a:pt x="1156843" y="596391"/>
                </a:lnTo>
                <a:close/>
              </a:path>
              <a:path w="1228725" h="702944">
                <a:moveTo>
                  <a:pt x="18796" y="0"/>
                </a:moveTo>
                <a:lnTo>
                  <a:pt x="0" y="33274"/>
                </a:lnTo>
                <a:lnTo>
                  <a:pt x="1119423" y="662934"/>
                </a:lnTo>
                <a:lnTo>
                  <a:pt x="1138125" y="629677"/>
                </a:lnTo>
                <a:lnTo>
                  <a:pt x="187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60114" y="2804032"/>
            <a:ext cx="1464310" cy="930910"/>
          </a:xfrm>
          <a:custGeom>
            <a:avLst/>
            <a:gdLst/>
            <a:ahLst/>
            <a:cxnLst/>
            <a:rect l="l" t="t" r="r" b="b"/>
            <a:pathLst>
              <a:path w="1464310" h="930910">
                <a:moveTo>
                  <a:pt x="66421" y="821181"/>
                </a:moveTo>
                <a:lnTo>
                  <a:pt x="0" y="930528"/>
                </a:lnTo>
                <a:lnTo>
                  <a:pt x="127381" y="918082"/>
                </a:lnTo>
                <a:lnTo>
                  <a:pt x="113399" y="895857"/>
                </a:lnTo>
                <a:lnTo>
                  <a:pt x="90932" y="895857"/>
                </a:lnTo>
                <a:lnTo>
                  <a:pt x="70612" y="863599"/>
                </a:lnTo>
                <a:lnTo>
                  <a:pt x="86729" y="853463"/>
                </a:lnTo>
                <a:lnTo>
                  <a:pt x="66421" y="821181"/>
                </a:lnTo>
                <a:close/>
              </a:path>
              <a:path w="1464310" h="930910">
                <a:moveTo>
                  <a:pt x="86729" y="853463"/>
                </a:moveTo>
                <a:lnTo>
                  <a:pt x="70612" y="863599"/>
                </a:lnTo>
                <a:lnTo>
                  <a:pt x="90932" y="895857"/>
                </a:lnTo>
                <a:lnTo>
                  <a:pt x="107030" y="885733"/>
                </a:lnTo>
                <a:lnTo>
                  <a:pt x="86729" y="853463"/>
                </a:lnTo>
                <a:close/>
              </a:path>
              <a:path w="1464310" h="930910">
                <a:moveTo>
                  <a:pt x="107030" y="885733"/>
                </a:moveTo>
                <a:lnTo>
                  <a:pt x="90932" y="895857"/>
                </a:lnTo>
                <a:lnTo>
                  <a:pt x="113399" y="895857"/>
                </a:lnTo>
                <a:lnTo>
                  <a:pt x="107030" y="885733"/>
                </a:lnTo>
                <a:close/>
              </a:path>
              <a:path w="1464310" h="930910">
                <a:moveTo>
                  <a:pt x="1443736" y="0"/>
                </a:moveTo>
                <a:lnTo>
                  <a:pt x="86729" y="853463"/>
                </a:lnTo>
                <a:lnTo>
                  <a:pt x="107030" y="885733"/>
                </a:lnTo>
                <a:lnTo>
                  <a:pt x="1464056" y="32257"/>
                </a:lnTo>
                <a:lnTo>
                  <a:pt x="1443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48629" y="2808097"/>
            <a:ext cx="701040" cy="850265"/>
          </a:xfrm>
          <a:custGeom>
            <a:avLst/>
            <a:gdLst/>
            <a:ahLst/>
            <a:cxnLst/>
            <a:rect l="l" t="t" r="r" b="b"/>
            <a:pathLst>
              <a:path w="701039" h="850264">
                <a:moveTo>
                  <a:pt x="613253" y="773758"/>
                </a:moveTo>
                <a:lnTo>
                  <a:pt x="583692" y="797940"/>
                </a:lnTo>
                <a:lnTo>
                  <a:pt x="700532" y="850264"/>
                </a:lnTo>
                <a:lnTo>
                  <a:pt x="686592" y="788542"/>
                </a:lnTo>
                <a:lnTo>
                  <a:pt x="625348" y="788542"/>
                </a:lnTo>
                <a:lnTo>
                  <a:pt x="613253" y="773758"/>
                </a:lnTo>
                <a:close/>
              </a:path>
              <a:path w="701039" h="850264">
                <a:moveTo>
                  <a:pt x="642865" y="749533"/>
                </a:moveTo>
                <a:lnTo>
                  <a:pt x="613253" y="773758"/>
                </a:lnTo>
                <a:lnTo>
                  <a:pt x="625348" y="788542"/>
                </a:lnTo>
                <a:lnTo>
                  <a:pt x="654939" y="764286"/>
                </a:lnTo>
                <a:lnTo>
                  <a:pt x="642865" y="749533"/>
                </a:lnTo>
                <a:close/>
              </a:path>
              <a:path w="701039" h="850264">
                <a:moveTo>
                  <a:pt x="672338" y="725424"/>
                </a:moveTo>
                <a:lnTo>
                  <a:pt x="642865" y="749533"/>
                </a:lnTo>
                <a:lnTo>
                  <a:pt x="654939" y="764286"/>
                </a:lnTo>
                <a:lnTo>
                  <a:pt x="625348" y="788542"/>
                </a:lnTo>
                <a:lnTo>
                  <a:pt x="686592" y="788542"/>
                </a:lnTo>
                <a:lnTo>
                  <a:pt x="672338" y="725424"/>
                </a:lnTo>
                <a:close/>
              </a:path>
              <a:path w="701039" h="850264">
                <a:moveTo>
                  <a:pt x="29464" y="0"/>
                </a:moveTo>
                <a:lnTo>
                  <a:pt x="0" y="24129"/>
                </a:lnTo>
                <a:lnTo>
                  <a:pt x="613253" y="773758"/>
                </a:lnTo>
                <a:lnTo>
                  <a:pt x="642865" y="749533"/>
                </a:lnTo>
                <a:lnTo>
                  <a:pt x="29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29784" y="1290827"/>
            <a:ext cx="1264920" cy="407034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5969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470"/>
              </a:spcBef>
            </a:pPr>
            <a:r>
              <a:rPr sz="1800" spc="-90" dirty="0">
                <a:latin typeface="Arial"/>
                <a:cs typeface="Arial"/>
              </a:rPr>
              <a:t>F,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</a:t>
            </a:r>
            <a:r>
              <a:rPr sz="1800" spc="225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8324" y="2420111"/>
            <a:ext cx="1385570" cy="680085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59690" rIns="0" bIns="0" rtlCol="0">
            <a:spAutoFit/>
          </a:bodyPr>
          <a:lstStyle/>
          <a:p>
            <a:pPr marL="306705" marR="83185" indent="-216535">
              <a:lnSpc>
                <a:spcPct val="100000"/>
              </a:lnSpc>
              <a:spcBef>
                <a:spcPts val="470"/>
              </a:spcBef>
            </a:pPr>
            <a:r>
              <a:rPr sz="1800" dirty="0">
                <a:latin typeface="Arial"/>
                <a:cs typeface="Arial"/>
              </a:rPr>
              <a:t>{D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BCE},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R1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48400" y="2438400"/>
            <a:ext cx="2052955" cy="641985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9525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"/>
                <a:cs typeface="Arial"/>
              </a:rPr>
              <a:t>{D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A,</a:t>
            </a:r>
            <a:r>
              <a:rPr sz="1800" spc="484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DF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ahoma"/>
                <a:cs typeface="Tahoma"/>
              </a:rPr>
              <a:t>G</a:t>
            </a:r>
            <a:r>
              <a:rPr sz="1800" spc="-25" dirty="0">
                <a:latin typeface="Arial"/>
                <a:cs typeface="Arial"/>
              </a:rPr>
              <a:t>},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R2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38400" y="3715511"/>
            <a:ext cx="1068705" cy="680085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0325" rIns="0" bIns="0" rtlCol="0">
            <a:spAutoFit/>
          </a:bodyPr>
          <a:lstStyle/>
          <a:p>
            <a:pPr marL="90170" marR="97155">
              <a:lnSpc>
                <a:spcPct val="100000"/>
              </a:lnSpc>
              <a:spcBef>
                <a:spcPts val="475"/>
              </a:spcBef>
            </a:pPr>
            <a:r>
              <a:rPr sz="1800" dirty="0">
                <a:latin typeface="Arial"/>
                <a:cs typeface="Arial"/>
              </a:rPr>
              <a:t>{D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A},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R3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81800" y="3715511"/>
            <a:ext cx="1234440" cy="680085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0325" rIns="0" bIns="0" rtlCol="0">
            <a:spAutoFit/>
          </a:bodyPr>
          <a:lstStyle/>
          <a:p>
            <a:pPr marL="90805" marR="84455">
              <a:lnSpc>
                <a:spcPct val="100000"/>
              </a:lnSpc>
              <a:spcBef>
                <a:spcPts val="475"/>
              </a:spcBef>
            </a:pPr>
            <a:r>
              <a:rPr sz="1800" dirty="0">
                <a:latin typeface="Arial"/>
                <a:cs typeface="Arial"/>
              </a:rPr>
              <a:t>{DF </a:t>
            </a:r>
            <a:r>
              <a:rPr sz="1800" dirty="0">
                <a:latin typeface="Symbol"/>
                <a:cs typeface="Symbol"/>
              </a:rPr>
              <a:t>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G},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baseline="-20833" dirty="0">
                <a:latin typeface="Arial"/>
                <a:cs typeface="Arial"/>
              </a:rPr>
              <a:t>R4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B7BD02C-8F66-2E6D-8985-8EC5E0E330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5334</Words>
  <Application>Microsoft Office PowerPoint</Application>
  <PresentationFormat>On-screen Show (4:3)</PresentationFormat>
  <Paragraphs>1083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Aptos</vt:lpstr>
      <vt:lpstr>Arial</vt:lpstr>
      <vt:lpstr>Symbol</vt:lpstr>
      <vt:lpstr>Tahoma</vt:lpstr>
      <vt:lpstr>Times New Roman</vt:lpstr>
      <vt:lpstr>Verdana</vt:lpstr>
      <vt:lpstr>Wingdings</vt:lpstr>
      <vt:lpstr>Office Theme</vt:lpstr>
      <vt:lpstr>PowerPoint Presentation</vt:lpstr>
      <vt:lpstr>Nội dung trình bày</vt:lpstr>
      <vt:lpstr>Nguyên tắc thiết kế</vt:lpstr>
      <vt:lpstr>Ngữ nghĩa của các thuộc tính (1)</vt:lpstr>
      <vt:lpstr>Ngữ nghĩa của các thuộc tính (2)</vt:lpstr>
      <vt:lpstr>Thông tin thừa trong các bộ (1)</vt:lpstr>
      <vt:lpstr>Thông tin thừa trong các bộ (2)</vt:lpstr>
      <vt:lpstr>Thông tin thừa trong các bộ (3)</vt:lpstr>
      <vt:lpstr>Giá trị null trong các bộ</vt:lpstr>
      <vt:lpstr>Phát sinh các bộ không có thực (1)</vt:lpstr>
      <vt:lpstr>Phát sinh các bộ không có thực (2)</vt:lpstr>
      <vt:lpstr>Phát sinh các bộ không có thực (3)</vt:lpstr>
      <vt:lpstr>Nội dung trình bày</vt:lpstr>
      <vt:lpstr>Phụ thuộc hàm (1)</vt:lpstr>
      <vt:lpstr>Phụ thuộc hàm (2)</vt:lpstr>
      <vt:lpstr>Bao đóng của tập PTH</vt:lpstr>
      <vt:lpstr>Luật suy diễn</vt:lpstr>
      <vt:lpstr>Bao đóng của tập thuộc tính</vt:lpstr>
      <vt:lpstr>Thuật toán tìm X+</vt:lpstr>
      <vt:lpstr>Ví dụ tìm X+</vt:lpstr>
      <vt:lpstr>Kiểm tra PTH suy diễn</vt:lpstr>
      <vt:lpstr>Các tập PTH tương đương</vt:lpstr>
      <vt:lpstr>Tập PTH tối thiểu (1)</vt:lpstr>
      <vt:lpstr>Tập PTH tối thiểu (2)</vt:lpstr>
      <vt:lpstr>Thuật toán tìm phủ tối thiểu</vt:lpstr>
      <vt:lpstr>Ví dụ tìm phủ tối thiểu</vt:lpstr>
      <vt:lpstr>Siêu khóa và khóa</vt:lpstr>
      <vt:lpstr>Xác định khóa của lược đồ</vt:lpstr>
      <vt:lpstr>Ví dụ tìm khóa của lược đồ</vt:lpstr>
      <vt:lpstr>Xác định tất cả khóa của lược đồ</vt:lpstr>
      <vt:lpstr>Ví dụ tìm tất cả khóa của lược đồ</vt:lpstr>
      <vt:lpstr>Xác định tất cả các khóa của lược đồ</vt:lpstr>
      <vt:lpstr>Nội dung trình bày</vt:lpstr>
      <vt:lpstr>Chuẩn hóa lược đồ CSDL</vt:lpstr>
      <vt:lpstr>Dạng chuẩn 1 (1)</vt:lpstr>
      <vt:lpstr>Dạng chuẩn 1 (2)</vt:lpstr>
      <vt:lpstr>Dạng chuẩn 2 theo khóa chính (1)</vt:lpstr>
      <vt:lpstr>Dạng chuẩn 2 theo khóa chính (2)</vt:lpstr>
      <vt:lpstr>Dạng chuẩn 2 theo khóa chính (3)</vt:lpstr>
      <vt:lpstr>Dạng chuẩn 3 theo khóa chính (1)</vt:lpstr>
      <vt:lpstr>Dạng chuẩn 3 theo khóa chính (2)</vt:lpstr>
      <vt:lpstr>Dạng chuẩn 2 tổng quát</vt:lpstr>
      <vt:lpstr>Dạng chuẩn 3 tổng quát</vt:lpstr>
      <vt:lpstr>Dạng chuẩn Boyce - Codd (1)</vt:lpstr>
      <vt:lpstr>Dạng chuẩn Boyce - Codd (2)</vt:lpstr>
      <vt:lpstr>Dạng chuẩn Boyce - Codd (3)</vt:lpstr>
      <vt:lpstr>Thiết kế Top-Down</vt:lpstr>
      <vt:lpstr>Nội dung trình bày</vt:lpstr>
      <vt:lpstr>Phân rã lược đồ quan hệ</vt:lpstr>
      <vt:lpstr>Phân rã bảo toàn PTH (1)</vt:lpstr>
      <vt:lpstr>Phân rã bảo toàn PTH (2)</vt:lpstr>
      <vt:lpstr>Phân rã bảo toàn PTH (3)</vt:lpstr>
      <vt:lpstr>Phân rã bảo toàn PTH (4)</vt:lpstr>
      <vt:lpstr>Ví dụ phân rã bảo toàn PTH (1)</vt:lpstr>
      <vt:lpstr>Ví dụ phân rã bảo toàn PTH (2)</vt:lpstr>
      <vt:lpstr>Phân rã không mất thông tin (1)</vt:lpstr>
      <vt:lpstr>Phân rã không mất thông tin (2)</vt:lpstr>
      <vt:lpstr>Ví dụ phân rã không mất thông tin (1)</vt:lpstr>
      <vt:lpstr>Ví dụ phân rã không mất thông tin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Phụ thuộc hàm (Functional Dependency)</dc:title>
  <dc:creator>Dũng Hà Thanh</dc:creator>
  <cp:lastModifiedBy>Nguyễn Thanh Tiến</cp:lastModifiedBy>
  <cp:revision>1</cp:revision>
  <dcterms:created xsi:type="dcterms:W3CDTF">2025-05-13T02:00:21Z</dcterms:created>
  <dcterms:modified xsi:type="dcterms:W3CDTF">2025-05-13T02:01:41Z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2025-05-13T00:00:00Z</vt:filetime>
  </property>
  <property fmtid="{D5CDD505-2E9C-101B-9397-08002B2CF9AE}" pid="5" name="Producer">
    <vt:lpwstr>3-Heights(TM) PDF Security Shell 4.8.25.2 (http://www.pdf-tools.com)</vt:lpwstr>
  </property>
</Properties>
</file>