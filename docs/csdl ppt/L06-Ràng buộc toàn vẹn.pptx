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B3B4B0-025E-43D0-9671-F57B53552EAF}" v="1" dt="2025-05-13T02:01:30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2B6E8-ED50-442F-AA81-A6AE8F58B73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ADF6A-7D78-4AB1-8E77-C6DB6DDE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74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617F8-641B-4481-97C3-1A8B3FB2C044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B57D4-C647-47D9-AC68-862C72BC0715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66BFA-5E74-427A-80A1-5C4999D3BA6A}" type="datetime1">
              <a:rPr lang="en-US" smtClean="0"/>
              <a:t>5/13/2025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6D9F8-28E7-40C0-A259-5DABB5BE3033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5FB3F-8707-4EE0-96BA-927734C12D9D}" type="datetime1">
              <a:rPr lang="en-US" smtClean="0"/>
              <a:t>5/13/2025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800" y="838200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5">
                <a:moveTo>
                  <a:pt x="0" y="0"/>
                </a:moveTo>
                <a:lnTo>
                  <a:pt x="8534400" y="1524"/>
                </a:lnTo>
              </a:path>
            </a:pathLst>
          </a:custGeom>
          <a:ln w="572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5561" y="6325361"/>
            <a:ext cx="8534400" cy="1905"/>
          </a:xfrm>
          <a:custGeom>
            <a:avLst/>
            <a:gdLst/>
            <a:ahLst/>
            <a:cxnLst/>
            <a:rect l="l" t="t" r="r" b="b"/>
            <a:pathLst>
              <a:path w="8534400" h="1904">
                <a:moveTo>
                  <a:pt x="0" y="0"/>
                </a:moveTo>
                <a:lnTo>
                  <a:pt x="8534400" y="1523"/>
                </a:lnTo>
              </a:path>
            </a:pathLst>
          </a:custGeom>
          <a:ln w="2844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5815" y="59562"/>
            <a:ext cx="8074025" cy="6758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8582" y="2880330"/>
            <a:ext cx="5755005" cy="182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B512C-92A2-41F5-8619-2A27777DB406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219200"/>
            <a:ext cx="7772400" cy="4419600"/>
          </a:xfrm>
          <a:prstGeom prst="rect">
            <a:avLst/>
          </a:prstGeom>
          <a:ln w="57240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4580"/>
              </a:lnSpc>
            </a:pPr>
            <a:r>
              <a:rPr sz="4000" i="1" dirty="0">
                <a:latin typeface="Arial"/>
                <a:cs typeface="Arial"/>
              </a:rPr>
              <a:t>Lecture</a:t>
            </a:r>
            <a:r>
              <a:rPr sz="4000" i="1" spc="-150" dirty="0">
                <a:latin typeface="Arial"/>
                <a:cs typeface="Arial"/>
              </a:rPr>
              <a:t> </a:t>
            </a:r>
            <a:r>
              <a:rPr sz="4000" i="1" spc="-25" dirty="0">
                <a:latin typeface="Arial"/>
                <a:cs typeface="Arial"/>
              </a:rPr>
              <a:t>06</a:t>
            </a:r>
            <a:endParaRPr sz="4000">
              <a:latin typeface="Arial"/>
              <a:cs typeface="Arial"/>
            </a:endParaRPr>
          </a:p>
          <a:p>
            <a:pPr marL="1122045" marR="1113155" indent="92710">
              <a:lnSpc>
                <a:spcPct val="100000"/>
              </a:lnSpc>
              <a:spcBef>
                <a:spcPts val="4075"/>
              </a:spcBef>
            </a:pPr>
            <a:r>
              <a:rPr sz="4400" b="1" dirty="0">
                <a:latin typeface="Arial"/>
                <a:cs typeface="Arial"/>
              </a:rPr>
              <a:t>Ràng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buộc</a:t>
            </a:r>
            <a:r>
              <a:rPr sz="4400" b="1" spc="-1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toàn</a:t>
            </a:r>
            <a:r>
              <a:rPr sz="4400" b="1" spc="-10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vẹn </a:t>
            </a:r>
            <a:r>
              <a:rPr sz="4400" b="1" dirty="0">
                <a:latin typeface="Arial"/>
                <a:cs typeface="Arial"/>
              </a:rPr>
              <a:t>(Integrity</a:t>
            </a:r>
            <a:r>
              <a:rPr sz="4400" b="1" spc="-55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Constraint)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9E252D-B32B-A382-C2A6-8951304EE5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Nội</a:t>
            </a:r>
            <a:r>
              <a:rPr spc="-90" dirty="0"/>
              <a:t> </a:t>
            </a:r>
            <a:r>
              <a:rPr dirty="0"/>
              <a:t>dung</a:t>
            </a:r>
            <a:r>
              <a:rPr spc="-70" dirty="0"/>
              <a:t> </a:t>
            </a:r>
            <a:r>
              <a:rPr dirty="0"/>
              <a:t>trình</a:t>
            </a:r>
            <a:r>
              <a:rPr spc="-75" dirty="0"/>
              <a:t> </a:t>
            </a:r>
            <a:r>
              <a:rPr spc="-25" dirty="0"/>
              <a:t>bày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8033"/>
            <a:ext cx="4271010" cy="23831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Giới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thiệu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Các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yếu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tố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RBTV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Phân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loại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RBTV</a:t>
            </a:r>
            <a:endParaRPr sz="32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Cài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đặt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RBTV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DFF24-3BB7-5541-FB26-F6995BCD16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Giới</a:t>
            </a:r>
            <a:r>
              <a:rPr spc="-80" dirty="0"/>
              <a:t> </a:t>
            </a:r>
            <a:r>
              <a:rPr spc="-10" dirty="0"/>
              <a:t>thiệu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21443"/>
            <a:ext cx="8526145" cy="523367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spc="-20" dirty="0">
                <a:latin typeface="Arial"/>
                <a:cs typeface="Arial"/>
              </a:rPr>
              <a:t>RBTV</a:t>
            </a:r>
            <a:endParaRPr sz="2000">
              <a:latin typeface="Arial"/>
              <a:cs typeface="Arial"/>
            </a:endParaRPr>
          </a:p>
          <a:p>
            <a:pPr marL="751840" marR="268605" lvl="1" indent="-281940">
              <a:lnSpc>
                <a:spcPct val="100000"/>
              </a:lnSpc>
              <a:spcBef>
                <a:spcPts val="515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điều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kiện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mọi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trạng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thái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hệ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đều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phải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thỏa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ở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bất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kỳ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thời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điểm nào.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Xuất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phát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từ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tắc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quản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lý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áp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đặt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lên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đối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tượng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thế</a:t>
            </a:r>
            <a:r>
              <a:rPr sz="1800" spc="-20" dirty="0">
                <a:latin typeface="Arial"/>
                <a:cs typeface="Arial"/>
              </a:rPr>
              <a:t> giới</a:t>
            </a:r>
            <a:endParaRPr sz="18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"/>
                <a:cs typeface="Arial"/>
              </a:rPr>
              <a:t>thực.</a:t>
            </a:r>
            <a:endParaRPr sz="1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495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dirty="0">
                <a:latin typeface="Arial"/>
                <a:cs typeface="Arial"/>
              </a:rPr>
              <a:t>Mục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đích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RBTV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Đảm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bảo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quán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dữ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liệu.</a:t>
            </a:r>
            <a:endParaRPr sz="1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05"/>
              </a:spcBef>
              <a:buChar char="-"/>
              <a:tabLst>
                <a:tab pos="1155700" algn="l"/>
              </a:tabLst>
            </a:pPr>
            <a:r>
              <a:rPr sz="1600" dirty="0">
                <a:latin typeface="Arial"/>
                <a:cs typeface="Arial"/>
              </a:rPr>
              <a:t>Người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giám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sát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phải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là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một nhân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viên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trong công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ty.</a:t>
            </a:r>
            <a:endParaRPr sz="16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00"/>
              </a:spcBef>
              <a:buChar char="-"/>
              <a:tabLst>
                <a:tab pos="1155700" algn="l"/>
              </a:tabLst>
            </a:pPr>
            <a:r>
              <a:rPr sz="1600" dirty="0">
                <a:latin typeface="Arial"/>
                <a:cs typeface="Arial"/>
              </a:rPr>
              <a:t>Dự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án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phải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được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điều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phối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bởi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một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phòng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trong công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ty.</a:t>
            </a:r>
            <a:endParaRPr sz="16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Đảm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bảo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ngữ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nghĩa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tế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CSDL.</a:t>
            </a:r>
            <a:endParaRPr sz="1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05"/>
              </a:spcBef>
              <a:buChar char="-"/>
              <a:tabLst>
                <a:tab pos="1155700" algn="l"/>
              </a:tabLst>
            </a:pPr>
            <a:r>
              <a:rPr sz="1600" dirty="0">
                <a:latin typeface="Arial"/>
                <a:cs typeface="Arial"/>
              </a:rPr>
              <a:t>Ngày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nhận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chức &gt;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Ngày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sinh.</a:t>
            </a:r>
            <a:endParaRPr sz="16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395"/>
              </a:spcBef>
              <a:buChar char="-"/>
              <a:tabLst>
                <a:tab pos="1155700" algn="l"/>
              </a:tabLst>
            </a:pPr>
            <a:r>
              <a:rPr sz="1600" dirty="0">
                <a:latin typeface="Arial"/>
                <a:cs typeface="Arial"/>
              </a:rPr>
              <a:t>Lương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nhân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viên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&lt;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Lương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trưởng </a:t>
            </a:r>
            <a:r>
              <a:rPr sz="1600" spc="-10" dirty="0">
                <a:latin typeface="Arial"/>
                <a:cs typeface="Arial"/>
              </a:rPr>
              <a:t>phòng.</a:t>
            </a:r>
            <a:endParaRPr sz="16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490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dirty="0">
                <a:latin typeface="Arial"/>
                <a:cs typeface="Arial"/>
              </a:rPr>
              <a:t>RBTV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yếu</a:t>
            </a:r>
            <a:r>
              <a:rPr sz="2000" spc="-25" dirty="0">
                <a:latin typeface="Arial"/>
                <a:cs typeface="Arial"/>
              </a:rPr>
              <a:t> tố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Nội</a:t>
            </a:r>
            <a:r>
              <a:rPr sz="1800" spc="-10" dirty="0">
                <a:latin typeface="Arial"/>
                <a:cs typeface="Arial"/>
              </a:rPr>
              <a:t> dung.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Bối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cảnh.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Bảng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tầm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ảnh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hưởng.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BA257-5303-F133-4DB8-7888BECEB4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Nội</a:t>
            </a:r>
            <a:r>
              <a:rPr spc="-90" dirty="0"/>
              <a:t> </a:t>
            </a:r>
            <a:r>
              <a:rPr dirty="0"/>
              <a:t>dung</a:t>
            </a:r>
            <a:r>
              <a:rPr spc="-70" dirty="0"/>
              <a:t> </a:t>
            </a:r>
            <a:r>
              <a:rPr dirty="0"/>
              <a:t>của</a:t>
            </a:r>
            <a:r>
              <a:rPr spc="-75" dirty="0"/>
              <a:t> </a:t>
            </a:r>
            <a:r>
              <a:rPr spc="-20" dirty="0"/>
              <a:t>RBTV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5505"/>
            <a:ext cx="8117840" cy="334391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19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Được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phát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biểu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bằng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Ngôn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ngữ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tự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nhiên.</a:t>
            </a:r>
            <a:endParaRPr sz="28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620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Đơn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giản,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dễ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hiểu.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9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Ngôn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ngữ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hình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thức</a:t>
            </a:r>
            <a:endParaRPr sz="2800">
              <a:latin typeface="Arial"/>
              <a:cs typeface="Arial"/>
            </a:endParaRPr>
          </a:p>
          <a:p>
            <a:pPr marL="1154430" lvl="2" indent="-227329">
              <a:lnSpc>
                <a:spcPct val="100000"/>
              </a:lnSpc>
              <a:spcBef>
                <a:spcPts val="605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Đại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mã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giả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(pseudo</a:t>
            </a:r>
            <a:endParaRPr sz="24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"/>
                <a:cs typeface="Arial"/>
              </a:rPr>
              <a:t>code).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600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Có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cơ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sở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học,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đôi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lúc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hiểu.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8A963-184E-419B-233B-68506E05A5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 </a:t>
            </a:r>
            <a:r>
              <a:rPr spc="-25" dirty="0"/>
              <a:t>dụ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915" y="1017067"/>
            <a:ext cx="8316595" cy="50476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413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441325" algn="l"/>
              </a:tabLst>
            </a:pPr>
            <a:r>
              <a:rPr sz="2400" spc="-25" dirty="0">
                <a:latin typeface="Arial"/>
                <a:cs typeface="Arial"/>
              </a:rPr>
              <a:t>RB-</a:t>
            </a:r>
            <a:r>
              <a:rPr sz="2400" spc="-5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840740" marR="192405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840740" algn="l"/>
              </a:tabLst>
            </a:pPr>
            <a:r>
              <a:rPr sz="2000" dirty="0">
                <a:latin typeface="Arial"/>
                <a:cs typeface="Arial"/>
              </a:rPr>
              <a:t>Mỗi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nhân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viên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mã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riêng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biệt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dùng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phân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biệt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các </a:t>
            </a:r>
            <a:r>
              <a:rPr sz="2000" dirty="0">
                <a:latin typeface="Arial"/>
                <a:cs typeface="Arial"/>
              </a:rPr>
              <a:t>nhân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khác.</a:t>
            </a:r>
            <a:endParaRPr sz="20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840740" algn="l"/>
              </a:tabLst>
            </a:pPr>
            <a:r>
              <a:rPr sz="2000" dirty="0">
                <a:latin typeface="Symbol"/>
                <a:cs typeface="Symbol"/>
              </a:rPr>
              <a:t>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Arial"/>
                <a:cs typeface="Arial"/>
              </a:rPr>
              <a:t>2</a:t>
            </a:r>
            <a:r>
              <a:rPr sz="1950" spc="26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NHANVIEN (t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1950" spc="209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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Arial"/>
                <a:cs typeface="Arial"/>
              </a:rPr>
              <a:t>2</a:t>
            </a:r>
            <a:r>
              <a:rPr sz="1950" spc="50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.MaNV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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t</a:t>
            </a:r>
            <a:r>
              <a:rPr sz="1950" spc="-15" baseline="-21367" dirty="0">
                <a:latin typeface="Arial"/>
                <a:cs typeface="Arial"/>
              </a:rPr>
              <a:t>2</a:t>
            </a:r>
            <a:r>
              <a:rPr sz="2000" spc="-10" dirty="0">
                <a:latin typeface="Arial"/>
                <a:cs typeface="Arial"/>
              </a:rPr>
              <a:t>.MaNV)</a:t>
            </a:r>
            <a:endParaRPr sz="2000">
              <a:latin typeface="Arial"/>
              <a:cs typeface="Arial"/>
            </a:endParaRPr>
          </a:p>
          <a:p>
            <a:pPr marL="441325" indent="-33972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441325" algn="l"/>
              </a:tabLst>
            </a:pPr>
            <a:r>
              <a:rPr sz="2400" spc="-25" dirty="0">
                <a:latin typeface="Arial"/>
                <a:cs typeface="Arial"/>
              </a:rPr>
              <a:t>RB-</a:t>
            </a:r>
            <a:r>
              <a:rPr sz="2400" spc="-50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840740" algn="l"/>
              </a:tabLst>
            </a:pPr>
            <a:r>
              <a:rPr sz="2000" dirty="0">
                <a:latin typeface="Arial"/>
                <a:cs typeface="Arial"/>
              </a:rPr>
              <a:t>Mỗi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nhân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viên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phải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việc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phòng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ban.</a:t>
            </a:r>
            <a:endParaRPr sz="20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840740" algn="l"/>
              </a:tabLst>
            </a:pPr>
            <a:r>
              <a:rPr sz="2000" dirty="0">
                <a:latin typeface="Arial"/>
                <a:cs typeface="Arial"/>
              </a:rPr>
              <a:t>NHANVIEN[MaPhong]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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PHONGBAN[MaPB]</a:t>
            </a:r>
            <a:endParaRPr sz="2000">
              <a:latin typeface="Arial"/>
              <a:cs typeface="Arial"/>
            </a:endParaRPr>
          </a:p>
          <a:p>
            <a:pPr marL="441325" indent="-33972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441325" algn="l"/>
              </a:tabLst>
            </a:pPr>
            <a:r>
              <a:rPr sz="2400" spc="-25" dirty="0">
                <a:latin typeface="Arial"/>
                <a:cs typeface="Arial"/>
              </a:rPr>
              <a:t>RB-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840740" algn="l"/>
              </a:tabLst>
            </a:pPr>
            <a:r>
              <a:rPr sz="2000" dirty="0">
                <a:latin typeface="Arial"/>
                <a:cs typeface="Arial"/>
              </a:rPr>
              <a:t>Mỗi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nhân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viên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chỉ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phép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quá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dự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án.</a:t>
            </a:r>
            <a:endParaRPr sz="20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840740" algn="l"/>
              </a:tabLst>
            </a:pPr>
            <a:r>
              <a:rPr sz="2000" dirty="0">
                <a:latin typeface="Symbol"/>
                <a:cs typeface="Symbol"/>
              </a:rPr>
              <a:t>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THAMGIA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(card({t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|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THAMGIA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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t.MaNV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s.MaNV})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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3)</a:t>
            </a:r>
            <a:endParaRPr sz="2000">
              <a:latin typeface="Arial"/>
              <a:cs typeface="Arial"/>
            </a:endParaRPr>
          </a:p>
          <a:p>
            <a:pPr marL="4413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41325" algn="l"/>
              </a:tabLst>
            </a:pPr>
            <a:r>
              <a:rPr sz="2400" spc="-25" dirty="0">
                <a:latin typeface="Arial"/>
                <a:cs typeface="Arial"/>
              </a:rPr>
              <a:t>RB-</a:t>
            </a:r>
            <a:r>
              <a:rPr sz="2400" spc="-50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840740" algn="l"/>
              </a:tabLst>
            </a:pPr>
            <a:r>
              <a:rPr sz="2000" dirty="0">
                <a:latin typeface="Arial"/>
                <a:cs typeface="Arial"/>
              </a:rPr>
              <a:t>Mỗi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phòng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phải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ít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nhất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nhân</a:t>
            </a:r>
            <a:r>
              <a:rPr sz="2000" spc="-20" dirty="0">
                <a:latin typeface="Arial"/>
                <a:cs typeface="Arial"/>
              </a:rPr>
              <a:t> viên</a:t>
            </a:r>
            <a:endParaRPr sz="2000">
              <a:latin typeface="Arial"/>
              <a:cs typeface="Arial"/>
            </a:endParaRPr>
          </a:p>
          <a:p>
            <a:pPr marL="840740" lvl="1" indent="-28194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840740" algn="l"/>
              </a:tabLst>
            </a:pPr>
            <a:r>
              <a:rPr sz="2000" dirty="0">
                <a:latin typeface="Symbol"/>
                <a:cs typeface="Symbol"/>
              </a:rPr>
              <a:t>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PHONGBAN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</a:t>
            </a:r>
            <a:r>
              <a:rPr sz="2000" dirty="0">
                <a:latin typeface="Symbol"/>
                <a:cs typeface="Symbol"/>
              </a:rPr>
              <a:t>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NHANVIEN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(t.MaPhong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s.MaPB))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01B55-0FED-3891-64FE-D1EE3E671E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Bối</a:t>
            </a:r>
            <a:r>
              <a:rPr spc="-65" dirty="0"/>
              <a:t> </a:t>
            </a:r>
            <a:r>
              <a:rPr dirty="0"/>
              <a:t>cảnh</a:t>
            </a:r>
            <a:r>
              <a:rPr spc="-45" dirty="0"/>
              <a:t> </a:t>
            </a:r>
            <a:r>
              <a:rPr dirty="0"/>
              <a:t>của</a:t>
            </a:r>
            <a:r>
              <a:rPr spc="-55" dirty="0"/>
              <a:t> </a:t>
            </a:r>
            <a:r>
              <a:rPr spc="-20" dirty="0"/>
              <a:t>RBTV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3198"/>
            <a:ext cx="8003540" cy="332612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Là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những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mà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RBTV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lực.</a:t>
            </a:r>
            <a:endParaRPr sz="2800">
              <a:latin typeface="Arial"/>
              <a:cs typeface="Arial"/>
            </a:endParaRPr>
          </a:p>
          <a:p>
            <a:pPr marL="352425" marR="5080" indent="-340360">
              <a:lnSpc>
                <a:spcPct val="100000"/>
              </a:lnSpc>
              <a:spcBef>
                <a:spcPts val="6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Bối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cảnh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một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hoặc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quan </a:t>
            </a:r>
            <a:r>
              <a:rPr sz="2800" spc="-25" dirty="0">
                <a:latin typeface="Arial"/>
                <a:cs typeface="Arial"/>
              </a:rPr>
              <a:t>hệ.</a:t>
            </a:r>
            <a:endParaRPr sz="2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Ví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dụ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5"/>
              </a:spcBef>
              <a:buClr>
                <a:srgbClr val="000000"/>
              </a:buClr>
              <a:buChar char="•"/>
              <a:tabLst>
                <a:tab pos="751840" algn="l"/>
              </a:tabLst>
            </a:pPr>
            <a:r>
              <a:rPr sz="2400" u="sng" spc="-10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 action="ppaction://hlinksldjump"/>
              </a:rPr>
              <a:t>RB-</a:t>
            </a:r>
            <a:r>
              <a:rPr sz="2400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 action="ppaction://hlinksldjump"/>
              </a:rPr>
              <a:t>1</a:t>
            </a:r>
            <a:r>
              <a:rPr sz="2400" spc="-35" dirty="0">
                <a:solidFill>
                  <a:srgbClr val="CCCCFF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bối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cảnh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NHANVIEN.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5"/>
              </a:spcBef>
              <a:buClr>
                <a:srgbClr val="000000"/>
              </a:buClr>
              <a:buChar char="•"/>
              <a:tabLst>
                <a:tab pos="751840" algn="l"/>
              </a:tabLst>
            </a:pPr>
            <a:r>
              <a:rPr sz="2400" u="sng" spc="-25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 action="ppaction://hlinksldjump"/>
              </a:rPr>
              <a:t>RB-</a:t>
            </a:r>
            <a:r>
              <a:rPr sz="2400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 action="ppaction://hlinksldjump"/>
              </a:rPr>
              <a:t>2,</a:t>
            </a:r>
            <a:r>
              <a:rPr sz="2400" u="sng" spc="-35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2400" u="sng" spc="-25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 action="ppaction://hlinksldjump"/>
              </a:rPr>
              <a:t>RB-</a:t>
            </a:r>
            <a:r>
              <a:rPr sz="2400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 action="ppaction://hlinksldjump"/>
              </a:rPr>
              <a:t>4</a:t>
            </a:r>
            <a:r>
              <a:rPr sz="2400" spc="-40" dirty="0">
                <a:solidFill>
                  <a:srgbClr val="CCCCFF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bối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NHANVIEN,</a:t>
            </a:r>
            <a:r>
              <a:rPr sz="2400" spc="-10" dirty="0">
                <a:latin typeface="Arial"/>
                <a:cs typeface="Arial"/>
              </a:rPr>
              <a:t> PHONGBAN.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Char char="•"/>
              <a:tabLst>
                <a:tab pos="751840" algn="l"/>
              </a:tabLst>
            </a:pPr>
            <a:r>
              <a:rPr sz="2400" u="sng" spc="-25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 action="ppaction://hlinksldjump"/>
              </a:rPr>
              <a:t>RB-</a:t>
            </a:r>
            <a:r>
              <a:rPr sz="2400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 action="ppaction://hlinksldjump"/>
              </a:rPr>
              <a:t>3</a:t>
            </a:r>
            <a:r>
              <a:rPr sz="2400" spc="-35" dirty="0">
                <a:solidFill>
                  <a:srgbClr val="CCCCFF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bối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cảnh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THAMGIA.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08FD7-CAD3-0A82-D89B-336BA25013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Bảng</a:t>
            </a:r>
            <a:r>
              <a:rPr spc="-55" dirty="0"/>
              <a:t> </a:t>
            </a:r>
            <a:r>
              <a:rPr dirty="0"/>
              <a:t>tầm</a:t>
            </a:r>
            <a:r>
              <a:rPr spc="-45" dirty="0"/>
              <a:t> </a:t>
            </a:r>
            <a:r>
              <a:rPr dirty="0"/>
              <a:t>ảnh</a:t>
            </a:r>
            <a:r>
              <a:rPr spc="-55" dirty="0"/>
              <a:t> </a:t>
            </a:r>
            <a:r>
              <a:rPr dirty="0"/>
              <a:t>hưởng</a:t>
            </a:r>
            <a:r>
              <a:rPr spc="-50" dirty="0"/>
              <a:t> </a:t>
            </a:r>
            <a:r>
              <a:rPr dirty="0"/>
              <a:t>của</a:t>
            </a:r>
            <a:r>
              <a:rPr spc="-50" dirty="0"/>
              <a:t> </a:t>
            </a:r>
            <a:r>
              <a:rPr dirty="0"/>
              <a:t>RBTV</a:t>
            </a:r>
            <a:r>
              <a:rPr spc="-6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3723"/>
            <a:ext cx="8379459" cy="2670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RBTV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bị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phạm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nhật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bối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cảnh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spc="-20" dirty="0">
                <a:latin typeface="Arial"/>
                <a:cs typeface="Arial"/>
              </a:rPr>
              <a:t>Thêm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51840" algn="l"/>
              </a:tabLst>
            </a:pPr>
            <a:r>
              <a:rPr sz="2000" spc="-25" dirty="0">
                <a:latin typeface="Arial"/>
                <a:cs typeface="Arial"/>
              </a:rPr>
              <a:t>Xóa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spc="-25" dirty="0">
                <a:latin typeface="Arial"/>
                <a:cs typeface="Arial"/>
              </a:rPr>
              <a:t>Sửa</a:t>
            </a:r>
            <a:endParaRPr sz="20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Bảng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tầm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ảnh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hưởng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dùng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thời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điểm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cần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kiểm</a:t>
            </a:r>
            <a:endParaRPr sz="2400">
              <a:latin typeface="Arial"/>
              <a:cs typeface="Arial"/>
            </a:endParaRPr>
          </a:p>
          <a:p>
            <a:pPr marL="35242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tra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RBTV.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13099" y="4032299"/>
          <a:ext cx="4434205" cy="1459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Tên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RBTV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Quan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hệ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Quan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hệ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299708" y="5667857"/>
            <a:ext cx="27641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+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cần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phải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kiểm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RBTV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9708" y="5942787"/>
            <a:ext cx="2896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-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cần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kiểm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tra</a:t>
            </a:r>
            <a:r>
              <a:rPr sz="1800" spc="-20" dirty="0">
                <a:latin typeface="Arial"/>
                <a:cs typeface="Arial"/>
              </a:rPr>
              <a:t> RBTV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67000" y="4419600"/>
            <a:ext cx="76200" cy="1066800"/>
          </a:xfrm>
          <a:custGeom>
            <a:avLst/>
            <a:gdLst/>
            <a:ahLst/>
            <a:cxnLst/>
            <a:rect l="l" t="t" r="r" b="b"/>
            <a:pathLst>
              <a:path w="76200" h="1066800">
                <a:moveTo>
                  <a:pt x="76200" y="1066800"/>
                </a:moveTo>
                <a:lnTo>
                  <a:pt x="61352" y="1059820"/>
                </a:lnTo>
                <a:lnTo>
                  <a:pt x="49244" y="1040780"/>
                </a:lnTo>
                <a:lnTo>
                  <a:pt x="41088" y="1012525"/>
                </a:lnTo>
                <a:lnTo>
                  <a:pt x="38100" y="977900"/>
                </a:lnTo>
                <a:lnTo>
                  <a:pt x="38100" y="622300"/>
                </a:lnTo>
                <a:lnTo>
                  <a:pt x="35111" y="587674"/>
                </a:lnTo>
                <a:lnTo>
                  <a:pt x="26955" y="559419"/>
                </a:lnTo>
                <a:lnTo>
                  <a:pt x="14847" y="540379"/>
                </a:lnTo>
                <a:lnTo>
                  <a:pt x="0" y="533400"/>
                </a:lnTo>
                <a:lnTo>
                  <a:pt x="14847" y="526420"/>
                </a:lnTo>
                <a:lnTo>
                  <a:pt x="26955" y="507380"/>
                </a:lnTo>
                <a:lnTo>
                  <a:pt x="35111" y="479125"/>
                </a:lnTo>
                <a:lnTo>
                  <a:pt x="38100" y="444500"/>
                </a:lnTo>
                <a:lnTo>
                  <a:pt x="38100" y="88900"/>
                </a:lnTo>
                <a:lnTo>
                  <a:pt x="41088" y="54274"/>
                </a:lnTo>
                <a:lnTo>
                  <a:pt x="49244" y="26019"/>
                </a:lnTo>
                <a:lnTo>
                  <a:pt x="61352" y="6979"/>
                </a:lnTo>
                <a:lnTo>
                  <a:pt x="76200" y="0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3125" y="5484367"/>
            <a:ext cx="1320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hệ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bối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cảnh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29296" y="4942204"/>
            <a:ext cx="1437640" cy="518795"/>
          </a:xfrm>
          <a:custGeom>
            <a:avLst/>
            <a:gdLst/>
            <a:ahLst/>
            <a:cxnLst/>
            <a:rect l="l" t="t" r="r" b="b"/>
            <a:pathLst>
              <a:path w="1437639" h="518795">
                <a:moveTo>
                  <a:pt x="47942" y="489712"/>
                </a:moveTo>
                <a:lnTo>
                  <a:pt x="0" y="506476"/>
                </a:lnTo>
                <a:lnTo>
                  <a:pt x="4190" y="518414"/>
                </a:lnTo>
                <a:lnTo>
                  <a:pt x="52133" y="501650"/>
                </a:lnTo>
                <a:lnTo>
                  <a:pt x="47942" y="489712"/>
                </a:lnTo>
                <a:close/>
              </a:path>
              <a:path w="1437639" h="518795">
                <a:moveTo>
                  <a:pt x="131889" y="460375"/>
                </a:moveTo>
                <a:lnTo>
                  <a:pt x="83883" y="477139"/>
                </a:lnTo>
                <a:lnTo>
                  <a:pt x="88074" y="489077"/>
                </a:lnTo>
                <a:lnTo>
                  <a:pt x="136080" y="472313"/>
                </a:lnTo>
                <a:lnTo>
                  <a:pt x="131889" y="460375"/>
                </a:lnTo>
                <a:close/>
              </a:path>
              <a:path w="1437639" h="518795">
                <a:moveTo>
                  <a:pt x="215836" y="431038"/>
                </a:moveTo>
                <a:lnTo>
                  <a:pt x="167830" y="447802"/>
                </a:lnTo>
                <a:lnTo>
                  <a:pt x="172021" y="459740"/>
                </a:lnTo>
                <a:lnTo>
                  <a:pt x="220027" y="442976"/>
                </a:lnTo>
                <a:lnTo>
                  <a:pt x="215836" y="431038"/>
                </a:lnTo>
                <a:close/>
              </a:path>
              <a:path w="1437639" h="518795">
                <a:moveTo>
                  <a:pt x="299656" y="401701"/>
                </a:moveTo>
                <a:lnTo>
                  <a:pt x="251777" y="418465"/>
                </a:lnTo>
                <a:lnTo>
                  <a:pt x="255968" y="430403"/>
                </a:lnTo>
                <a:lnTo>
                  <a:pt x="303847" y="413639"/>
                </a:lnTo>
                <a:lnTo>
                  <a:pt x="299656" y="401701"/>
                </a:lnTo>
                <a:close/>
              </a:path>
              <a:path w="1437639" h="518795">
                <a:moveTo>
                  <a:pt x="383603" y="372364"/>
                </a:moveTo>
                <a:lnTo>
                  <a:pt x="335724" y="389128"/>
                </a:lnTo>
                <a:lnTo>
                  <a:pt x="339915" y="401066"/>
                </a:lnTo>
                <a:lnTo>
                  <a:pt x="387794" y="384302"/>
                </a:lnTo>
                <a:lnTo>
                  <a:pt x="383603" y="372364"/>
                </a:lnTo>
                <a:close/>
              </a:path>
              <a:path w="1437639" h="518795">
                <a:moveTo>
                  <a:pt x="467550" y="343027"/>
                </a:moveTo>
                <a:lnTo>
                  <a:pt x="419544" y="359791"/>
                </a:lnTo>
                <a:lnTo>
                  <a:pt x="423735" y="371729"/>
                </a:lnTo>
                <a:lnTo>
                  <a:pt x="471741" y="354965"/>
                </a:lnTo>
                <a:lnTo>
                  <a:pt x="467550" y="343027"/>
                </a:lnTo>
                <a:close/>
              </a:path>
              <a:path w="1437639" h="518795">
                <a:moveTo>
                  <a:pt x="551497" y="313690"/>
                </a:moveTo>
                <a:lnTo>
                  <a:pt x="503491" y="330454"/>
                </a:lnTo>
                <a:lnTo>
                  <a:pt x="507682" y="342392"/>
                </a:lnTo>
                <a:lnTo>
                  <a:pt x="555688" y="325628"/>
                </a:lnTo>
                <a:lnTo>
                  <a:pt x="551497" y="313690"/>
                </a:lnTo>
                <a:close/>
              </a:path>
              <a:path w="1437639" h="518795">
                <a:moveTo>
                  <a:pt x="635444" y="284353"/>
                </a:moveTo>
                <a:lnTo>
                  <a:pt x="587438" y="301117"/>
                </a:lnTo>
                <a:lnTo>
                  <a:pt x="591629" y="313055"/>
                </a:lnTo>
                <a:lnTo>
                  <a:pt x="639635" y="296291"/>
                </a:lnTo>
                <a:lnTo>
                  <a:pt x="635444" y="284353"/>
                </a:lnTo>
                <a:close/>
              </a:path>
              <a:path w="1437639" h="518795">
                <a:moveTo>
                  <a:pt x="719264" y="255016"/>
                </a:moveTo>
                <a:lnTo>
                  <a:pt x="671385" y="271780"/>
                </a:lnTo>
                <a:lnTo>
                  <a:pt x="675576" y="283718"/>
                </a:lnTo>
                <a:lnTo>
                  <a:pt x="723455" y="266954"/>
                </a:lnTo>
                <a:lnTo>
                  <a:pt x="719264" y="255016"/>
                </a:lnTo>
                <a:close/>
              </a:path>
              <a:path w="1437639" h="518795">
                <a:moveTo>
                  <a:pt x="803211" y="225679"/>
                </a:moveTo>
                <a:lnTo>
                  <a:pt x="755332" y="242443"/>
                </a:lnTo>
                <a:lnTo>
                  <a:pt x="759523" y="254381"/>
                </a:lnTo>
                <a:lnTo>
                  <a:pt x="807402" y="237617"/>
                </a:lnTo>
                <a:lnTo>
                  <a:pt x="803211" y="225679"/>
                </a:lnTo>
                <a:close/>
              </a:path>
              <a:path w="1437639" h="518795">
                <a:moveTo>
                  <a:pt x="887158" y="196342"/>
                </a:moveTo>
                <a:lnTo>
                  <a:pt x="839152" y="213106"/>
                </a:lnTo>
                <a:lnTo>
                  <a:pt x="843343" y="225044"/>
                </a:lnTo>
                <a:lnTo>
                  <a:pt x="891349" y="208280"/>
                </a:lnTo>
                <a:lnTo>
                  <a:pt x="887158" y="196342"/>
                </a:lnTo>
                <a:close/>
              </a:path>
              <a:path w="1437639" h="518795">
                <a:moveTo>
                  <a:pt x="971105" y="167005"/>
                </a:moveTo>
                <a:lnTo>
                  <a:pt x="923099" y="183769"/>
                </a:lnTo>
                <a:lnTo>
                  <a:pt x="927290" y="195707"/>
                </a:lnTo>
                <a:lnTo>
                  <a:pt x="975296" y="178943"/>
                </a:lnTo>
                <a:lnTo>
                  <a:pt x="971105" y="167005"/>
                </a:lnTo>
                <a:close/>
              </a:path>
              <a:path w="1437639" h="518795">
                <a:moveTo>
                  <a:pt x="1055052" y="137668"/>
                </a:moveTo>
                <a:lnTo>
                  <a:pt x="1007046" y="154432"/>
                </a:lnTo>
                <a:lnTo>
                  <a:pt x="1011237" y="166370"/>
                </a:lnTo>
                <a:lnTo>
                  <a:pt x="1059243" y="149606"/>
                </a:lnTo>
                <a:lnTo>
                  <a:pt x="1055052" y="137668"/>
                </a:lnTo>
                <a:close/>
              </a:path>
              <a:path w="1437639" h="518795">
                <a:moveTo>
                  <a:pt x="1138872" y="108331"/>
                </a:moveTo>
                <a:lnTo>
                  <a:pt x="1090993" y="125095"/>
                </a:lnTo>
                <a:lnTo>
                  <a:pt x="1095184" y="137033"/>
                </a:lnTo>
                <a:lnTo>
                  <a:pt x="1143063" y="120269"/>
                </a:lnTo>
                <a:lnTo>
                  <a:pt x="1138872" y="108331"/>
                </a:lnTo>
                <a:close/>
              </a:path>
              <a:path w="1437639" h="518795">
                <a:moveTo>
                  <a:pt x="1222819" y="78994"/>
                </a:moveTo>
                <a:lnTo>
                  <a:pt x="1174940" y="95758"/>
                </a:lnTo>
                <a:lnTo>
                  <a:pt x="1179131" y="107696"/>
                </a:lnTo>
                <a:lnTo>
                  <a:pt x="1227010" y="90932"/>
                </a:lnTo>
                <a:lnTo>
                  <a:pt x="1222819" y="78994"/>
                </a:lnTo>
                <a:close/>
              </a:path>
              <a:path w="1437639" h="518795">
                <a:moveTo>
                  <a:pt x="1306766" y="49657"/>
                </a:moveTo>
                <a:lnTo>
                  <a:pt x="1258760" y="66421"/>
                </a:lnTo>
                <a:lnTo>
                  <a:pt x="1262951" y="78359"/>
                </a:lnTo>
                <a:lnTo>
                  <a:pt x="1310957" y="61595"/>
                </a:lnTo>
                <a:lnTo>
                  <a:pt x="1306766" y="49657"/>
                </a:lnTo>
                <a:close/>
              </a:path>
              <a:path w="1437639" h="518795">
                <a:moveTo>
                  <a:pt x="1422645" y="25781"/>
                </a:moveTo>
                <a:lnTo>
                  <a:pt x="1375092" y="25781"/>
                </a:lnTo>
                <a:lnTo>
                  <a:pt x="1379283" y="37719"/>
                </a:lnTo>
                <a:lnTo>
                  <a:pt x="1367387" y="41870"/>
                </a:lnTo>
                <a:lnTo>
                  <a:pt x="1377886" y="71882"/>
                </a:lnTo>
                <a:lnTo>
                  <a:pt x="1422645" y="25781"/>
                </a:lnTo>
                <a:close/>
              </a:path>
              <a:path w="1437639" h="518795">
                <a:moveTo>
                  <a:pt x="1363210" y="29928"/>
                </a:moveTo>
                <a:lnTo>
                  <a:pt x="1342707" y="37084"/>
                </a:lnTo>
                <a:lnTo>
                  <a:pt x="1346898" y="49022"/>
                </a:lnTo>
                <a:lnTo>
                  <a:pt x="1367387" y="41870"/>
                </a:lnTo>
                <a:lnTo>
                  <a:pt x="1363210" y="29928"/>
                </a:lnTo>
                <a:close/>
              </a:path>
              <a:path w="1437639" h="518795">
                <a:moveTo>
                  <a:pt x="1375092" y="25781"/>
                </a:moveTo>
                <a:lnTo>
                  <a:pt x="1363210" y="29928"/>
                </a:lnTo>
                <a:lnTo>
                  <a:pt x="1367387" y="41870"/>
                </a:lnTo>
                <a:lnTo>
                  <a:pt x="1379283" y="37719"/>
                </a:lnTo>
                <a:lnTo>
                  <a:pt x="1375092" y="25781"/>
                </a:lnTo>
                <a:close/>
              </a:path>
              <a:path w="1437639" h="518795">
                <a:moveTo>
                  <a:pt x="1352740" y="0"/>
                </a:moveTo>
                <a:lnTo>
                  <a:pt x="1363210" y="29928"/>
                </a:lnTo>
                <a:lnTo>
                  <a:pt x="1375092" y="25781"/>
                </a:lnTo>
                <a:lnTo>
                  <a:pt x="1422645" y="25781"/>
                </a:lnTo>
                <a:lnTo>
                  <a:pt x="1437195" y="10795"/>
                </a:lnTo>
                <a:lnTo>
                  <a:pt x="13527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5F112AE-7A74-0E7D-9040-C967062B3A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 </a:t>
            </a:r>
            <a:r>
              <a:rPr spc="-25" dirty="0"/>
              <a:t>dụ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27299" y="1060499"/>
          <a:ext cx="4548505" cy="72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27299" y="2127299"/>
          <a:ext cx="4674870" cy="1094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4845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PHONGBAN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127299" y="3575099"/>
          <a:ext cx="4580255" cy="72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4222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THAMGIA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127299" y="4641899"/>
          <a:ext cx="4674870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4845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PHONGBAN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B41F5-E5D8-075B-6379-E7621685BA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Bảng</a:t>
            </a:r>
            <a:r>
              <a:rPr spc="-55" dirty="0"/>
              <a:t> </a:t>
            </a:r>
            <a:r>
              <a:rPr dirty="0"/>
              <a:t>tầm</a:t>
            </a:r>
            <a:r>
              <a:rPr spc="-45" dirty="0"/>
              <a:t> </a:t>
            </a:r>
            <a:r>
              <a:rPr dirty="0"/>
              <a:t>ảnh</a:t>
            </a:r>
            <a:r>
              <a:rPr spc="-55" dirty="0"/>
              <a:t> </a:t>
            </a:r>
            <a:r>
              <a:rPr dirty="0"/>
              <a:t>hưởng</a:t>
            </a:r>
            <a:r>
              <a:rPr spc="-50" dirty="0"/>
              <a:t> </a:t>
            </a:r>
            <a:r>
              <a:rPr dirty="0"/>
              <a:t>của</a:t>
            </a:r>
            <a:r>
              <a:rPr spc="-50" dirty="0"/>
              <a:t> </a:t>
            </a:r>
            <a:r>
              <a:rPr dirty="0"/>
              <a:t>RBTV</a:t>
            </a:r>
            <a:r>
              <a:rPr spc="-6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067"/>
            <a:ext cx="8363584" cy="15100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Bảng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tầm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ảnh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hưởng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tổng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hợp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Xây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dựng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trên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cơ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sở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bảng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tầm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ảnh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hưởng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RBTV.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Để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xác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thời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điểm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kiểm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RBTV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nhật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trên</a:t>
            </a:r>
            <a:endParaRPr sz="20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nào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đó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hiện.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86682" y="2880330"/>
          <a:ext cx="5755005" cy="1823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02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449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Tên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RBTV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Tên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RBTV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Quan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hệ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39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Quan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hệ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E8471-85C7-F1C6-92CA-04FC906982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 </a:t>
            </a:r>
            <a:r>
              <a:rPr spc="-25" dirty="0"/>
              <a:t>dụ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1138" y="1200882"/>
          <a:ext cx="8811895" cy="2207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3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0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49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43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6449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PHONGBAN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THAMGIA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0C5D7-D99E-6F23-BF44-1369F3CA84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loại</a:t>
            </a:r>
            <a:r>
              <a:rPr spc="-50" dirty="0"/>
              <a:t> </a:t>
            </a:r>
            <a:r>
              <a:rPr spc="-20" dirty="0"/>
              <a:t>RBTV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21443"/>
            <a:ext cx="6424930" cy="488886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dirty="0">
                <a:latin typeface="Arial"/>
                <a:cs typeface="Arial"/>
              </a:rPr>
              <a:t>Phân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loại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theo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bối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cảnh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15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Bối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cảnh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hệ.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Bối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cảnh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nhiều quan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hệ.</a:t>
            </a:r>
            <a:endParaRPr sz="1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500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dirty="0">
                <a:latin typeface="Arial"/>
                <a:cs typeface="Arial"/>
              </a:rPr>
              <a:t>Mục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đích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Giúp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người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thiết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phát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hiện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RBTV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CSDL.</a:t>
            </a:r>
            <a:endParaRPr sz="1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dirty="0">
                <a:latin typeface="Arial"/>
                <a:cs typeface="Arial"/>
              </a:rPr>
              <a:t>RBTV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bối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cảnh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hệ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RBTV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miền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giá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trị.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RBTV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tính.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0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RBTV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bộ.</a:t>
            </a:r>
            <a:endParaRPr sz="1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495"/>
              </a:spcBef>
              <a:buFont typeface="Wingdings"/>
              <a:buChar char=""/>
              <a:tabLst>
                <a:tab pos="352425" algn="l"/>
              </a:tabLst>
            </a:pPr>
            <a:r>
              <a:rPr sz="2000" dirty="0">
                <a:latin typeface="Arial"/>
                <a:cs typeface="Arial"/>
              </a:rPr>
              <a:t>RBTV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bối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cảnh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nhiều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hệ</a:t>
            </a:r>
            <a:endParaRPr sz="20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15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RBTV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tham</a:t>
            </a:r>
            <a:r>
              <a:rPr sz="1800" spc="-10" dirty="0">
                <a:latin typeface="Arial"/>
                <a:cs typeface="Arial"/>
              </a:rPr>
              <a:t> chiếu.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495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RBTV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hệ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0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RBTV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hệ.</a:t>
            </a:r>
            <a:endParaRPr sz="1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1800" dirty="0">
                <a:latin typeface="Arial"/>
                <a:cs typeface="Arial"/>
              </a:rPr>
              <a:t>RBTV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tổng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hợp.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304A0-180B-B9EB-3698-005D436F0A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50" dirty="0"/>
              <a:t> </a:t>
            </a:r>
            <a:r>
              <a:rPr dirty="0"/>
              <a:t>miền</a:t>
            </a:r>
            <a:r>
              <a:rPr spc="-35" dirty="0"/>
              <a:t> </a:t>
            </a:r>
            <a:r>
              <a:rPr dirty="0"/>
              <a:t>giá</a:t>
            </a:r>
            <a:r>
              <a:rPr spc="-55" dirty="0"/>
              <a:t> </a:t>
            </a:r>
            <a:r>
              <a:rPr dirty="0"/>
              <a:t>trị</a:t>
            </a:r>
            <a:r>
              <a:rPr spc="-4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6981825" cy="14293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spc="-25" dirty="0">
                <a:latin typeface="Arial"/>
                <a:cs typeface="Arial"/>
              </a:rPr>
              <a:t>RB-</a:t>
            </a:r>
            <a:r>
              <a:rPr sz="2800" spc="-50" dirty="0">
                <a:latin typeface="Arial"/>
                <a:cs typeface="Arial"/>
              </a:rPr>
              <a:t>5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Lương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thấp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hơn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10.000.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(t.Luong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10.000)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93999" y="2813099"/>
          <a:ext cx="4548505" cy="72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593EC-5D6C-1C5A-403F-A286AD5F12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50" dirty="0"/>
              <a:t> </a:t>
            </a:r>
            <a:r>
              <a:rPr dirty="0"/>
              <a:t>miền</a:t>
            </a:r>
            <a:r>
              <a:rPr spc="-35" dirty="0"/>
              <a:t> </a:t>
            </a:r>
            <a:r>
              <a:rPr dirty="0"/>
              <a:t>giá</a:t>
            </a:r>
            <a:r>
              <a:rPr spc="-55" dirty="0"/>
              <a:t> </a:t>
            </a:r>
            <a:r>
              <a:rPr dirty="0"/>
              <a:t>trị</a:t>
            </a:r>
            <a:r>
              <a:rPr spc="-4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2135"/>
            <a:ext cx="8438515" cy="260667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44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spc="-10" dirty="0">
                <a:latin typeface="Arial"/>
                <a:cs typeface="Arial"/>
              </a:rPr>
              <a:t>RB-</a:t>
            </a:r>
            <a:r>
              <a:rPr sz="3200" spc="-50" dirty="0">
                <a:latin typeface="Arial"/>
                <a:cs typeface="Arial"/>
              </a:rPr>
              <a:t>6</a:t>
            </a:r>
            <a:endParaRPr sz="3200">
              <a:latin typeface="Arial"/>
              <a:cs typeface="Arial"/>
            </a:endParaRPr>
          </a:p>
          <a:p>
            <a:pPr marL="751840" marR="5080" lvl="1" indent="-281940">
              <a:lnSpc>
                <a:spcPct val="100000"/>
              </a:lnSpc>
              <a:spcBef>
                <a:spcPts val="630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Giả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thêm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ngày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xếp </a:t>
            </a:r>
            <a:r>
              <a:rPr sz="2400" dirty="0">
                <a:latin typeface="Arial"/>
                <a:cs typeface="Arial"/>
              </a:rPr>
              <a:t>lương.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mức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lương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đổi,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ngày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xếp </a:t>
            </a:r>
            <a:r>
              <a:rPr sz="2400" dirty="0">
                <a:latin typeface="Arial"/>
                <a:cs typeface="Arial"/>
              </a:rPr>
              <a:t>lương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luôn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tăng.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Symbol"/>
                <a:cs typeface="Symbol"/>
              </a:rPr>
              <a:t>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NHANVIEN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NHANVIEN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(t.NgXepLuong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Symbol"/>
                <a:cs typeface="Symbol"/>
              </a:rPr>
              <a:t></a:t>
            </a:r>
            <a:r>
              <a:rPr sz="2400" spc="-10" dirty="0">
                <a:latin typeface="Arial"/>
                <a:cs typeface="Arial"/>
              </a:rPr>
              <a:t>(t).NgXepLuong)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93999" y="4032299"/>
          <a:ext cx="4548505" cy="72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4C857-CA47-D856-BB3E-6B196826D3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60" dirty="0"/>
              <a:t> </a:t>
            </a:r>
            <a:r>
              <a:rPr dirty="0"/>
              <a:t>liên</a:t>
            </a:r>
            <a:r>
              <a:rPr spc="-45" dirty="0"/>
              <a:t> </a:t>
            </a:r>
            <a:r>
              <a:rPr dirty="0"/>
              <a:t>thuộc</a:t>
            </a:r>
            <a:r>
              <a:rPr spc="-45" dirty="0"/>
              <a:t> </a:t>
            </a:r>
            <a:r>
              <a:rPr spc="-20" dirty="0"/>
              <a:t>tính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214995" cy="14293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spc="-30" dirty="0">
                <a:latin typeface="Arial"/>
                <a:cs typeface="Arial"/>
              </a:rPr>
              <a:t>RB-</a:t>
            </a:r>
            <a:r>
              <a:rPr sz="2800" spc="-50" dirty="0">
                <a:latin typeface="Arial"/>
                <a:cs typeface="Arial"/>
              </a:rPr>
              <a:t>7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Ngày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xếp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lương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hơn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ngày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viên.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(t.NgSinh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t.NgXepLuong)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815" y="3803383"/>
            <a:ext cx="7321550" cy="14274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spc="-30" dirty="0">
                <a:latin typeface="Arial"/>
                <a:cs typeface="Arial"/>
              </a:rPr>
              <a:t>RB-</a:t>
            </a:r>
            <a:r>
              <a:rPr sz="2800" spc="-50" dirty="0">
                <a:latin typeface="Arial"/>
                <a:cs typeface="Arial"/>
              </a:rPr>
              <a:t>8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Một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mình.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15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(t.MaGSat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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t.MaNV)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93999" y="2692704"/>
          <a:ext cx="4548505" cy="72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393999" y="5480099"/>
          <a:ext cx="4548505" cy="72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6844A-D48F-F52C-6F2B-89AB1EF5F2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40" dirty="0"/>
              <a:t> </a:t>
            </a:r>
            <a:r>
              <a:rPr dirty="0"/>
              <a:t>liên</a:t>
            </a:r>
            <a:r>
              <a:rPr spc="-25" dirty="0"/>
              <a:t> bộ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5505"/>
            <a:ext cx="8534400" cy="172275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919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Sự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tồn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tại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bộ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này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phụ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thuộc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vào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bộ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khác.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71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Trường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hợp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đặc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biệt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ràng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buộc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khóa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chính.</a:t>
            </a:r>
            <a:endParaRPr sz="2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3200" u="sng" spc="-10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 action="ppaction://hlinksldjump"/>
              </a:rPr>
              <a:t>RB-</a:t>
            </a:r>
            <a:r>
              <a:rPr sz="3200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  <a:hlinkClick r:id="rId2" action="ppaction://hlinksldjump"/>
              </a:rPr>
              <a:t>1</a:t>
            </a:r>
            <a:r>
              <a:rPr sz="3200" spc="-20" dirty="0">
                <a:solidFill>
                  <a:srgbClr val="CCCCFF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và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u="sng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</a:rPr>
              <a:t>RB-</a:t>
            </a:r>
            <a:r>
              <a:rPr sz="3200" u="sng" spc="-25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</a:rPr>
              <a:t>3</a:t>
            </a:r>
            <a:r>
              <a:rPr sz="3200" spc="-25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8B558-383E-4E5B-D035-A3036A9402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70" dirty="0"/>
              <a:t> </a:t>
            </a:r>
            <a:r>
              <a:rPr dirty="0"/>
              <a:t>tham</a:t>
            </a:r>
            <a:r>
              <a:rPr spc="-50" dirty="0"/>
              <a:t> </a:t>
            </a:r>
            <a:r>
              <a:rPr dirty="0"/>
              <a:t>chiếu</a:t>
            </a:r>
            <a:r>
              <a:rPr spc="-5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481695" cy="283464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spc="-25" dirty="0">
                <a:latin typeface="Arial"/>
                <a:cs typeface="Arial"/>
              </a:rPr>
              <a:t>RB-</a:t>
            </a:r>
            <a:r>
              <a:rPr sz="2800" spc="-50" dirty="0">
                <a:latin typeface="Arial"/>
                <a:cs typeface="Arial"/>
              </a:rPr>
              <a:t>9</a:t>
            </a:r>
            <a:endParaRPr sz="2800">
              <a:latin typeface="Arial"/>
              <a:cs typeface="Arial"/>
            </a:endParaRPr>
          </a:p>
          <a:p>
            <a:pPr marL="751840" marR="10160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Chỉ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mới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dự </a:t>
            </a:r>
            <a:r>
              <a:rPr sz="2400" dirty="0">
                <a:latin typeface="Arial"/>
                <a:cs typeface="Arial"/>
              </a:rPr>
              <a:t>án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ty.</a:t>
            </a:r>
            <a:endParaRPr sz="2400">
              <a:latin typeface="Arial"/>
              <a:cs typeface="Arial"/>
            </a:endParaRPr>
          </a:p>
          <a:p>
            <a:pPr marL="1155700" marR="5080" indent="-228600">
              <a:lnSpc>
                <a:spcPct val="100000"/>
              </a:lnSpc>
              <a:spcBef>
                <a:spcPts val="509"/>
              </a:spcBef>
              <a:tabLst>
                <a:tab pos="1155700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Sự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tại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THAMGIA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phụ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sự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tại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của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NHANVIEN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DUAN.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THAMGIA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dirty="0">
                <a:latin typeface="Symbol"/>
                <a:cs typeface="Symbol"/>
              </a:rPr>
              <a:t>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NHANVIEN,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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DUAN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(u.MaNV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t.MaNV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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v.MaDA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t.MaDA))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93999" y="4184699"/>
          <a:ext cx="4548505" cy="1459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4222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DUAN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THAMGIA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CA4E6-4098-D195-B5A6-09C7A76D2C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70" dirty="0"/>
              <a:t> </a:t>
            </a:r>
            <a:r>
              <a:rPr dirty="0"/>
              <a:t>tham</a:t>
            </a:r>
            <a:r>
              <a:rPr spc="-50" dirty="0"/>
              <a:t> </a:t>
            </a:r>
            <a:r>
              <a:rPr dirty="0"/>
              <a:t>chiếu</a:t>
            </a:r>
            <a:r>
              <a:rPr spc="-5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941"/>
            <a:ext cx="8487410" cy="246888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81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spc="-25" dirty="0">
                <a:latin typeface="Arial"/>
                <a:cs typeface="Arial"/>
              </a:rPr>
              <a:t>RB-10</a:t>
            </a:r>
            <a:endParaRPr sz="2800">
              <a:latin typeface="Arial"/>
              <a:cs typeface="Arial"/>
            </a:endParaRPr>
          </a:p>
          <a:p>
            <a:pPr marL="751840" marR="509905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Mọi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thân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mối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hàng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nhân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công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ty.</a:t>
            </a:r>
            <a:endParaRPr sz="2400">
              <a:latin typeface="Arial"/>
              <a:cs typeface="Arial"/>
            </a:endParaRPr>
          </a:p>
          <a:p>
            <a:pPr marL="1155700" marR="233045" indent="-228600">
              <a:lnSpc>
                <a:spcPct val="100000"/>
              </a:lnSpc>
              <a:spcBef>
                <a:spcPts val="509"/>
              </a:spcBef>
              <a:tabLst>
                <a:tab pos="1155700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Sự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tại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THANNHAN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phụ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sự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tại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 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NHANVIEN.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THANNHAN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dirty="0">
                <a:latin typeface="Symbol"/>
                <a:cs typeface="Symbol"/>
              </a:rPr>
              <a:t>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NHANVIEN (u.MaNV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t.MaNV))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93999" y="3727499"/>
          <a:ext cx="4636770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4019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THANNHAN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78C02-1EB7-8338-8493-D47C055F47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70" dirty="0"/>
              <a:t> </a:t>
            </a:r>
            <a:r>
              <a:rPr dirty="0"/>
              <a:t>tham</a:t>
            </a:r>
            <a:r>
              <a:rPr spc="-50" dirty="0"/>
              <a:t> </a:t>
            </a:r>
            <a:r>
              <a:rPr dirty="0"/>
              <a:t>chiếu</a:t>
            </a:r>
            <a:r>
              <a:rPr spc="-55" dirty="0"/>
              <a:t> </a:t>
            </a:r>
            <a:r>
              <a:rPr spc="-2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0880"/>
            <a:ext cx="8310245" cy="25831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spc="-25" dirty="0">
                <a:latin typeface="Arial"/>
                <a:cs typeface="Arial"/>
              </a:rPr>
              <a:t>RB-11</a:t>
            </a:r>
            <a:endParaRPr sz="2800">
              <a:latin typeface="Arial"/>
              <a:cs typeface="Arial"/>
            </a:endParaRPr>
          </a:p>
          <a:p>
            <a:pPr marL="751840" marR="62230" lvl="1" indent="-281940">
              <a:lnSpc>
                <a:spcPts val="2590"/>
              </a:lnSpc>
              <a:spcBef>
                <a:spcPts val="65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Người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trực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tiếp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(nếu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có)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viên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công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ty.</a:t>
            </a:r>
            <a:endParaRPr sz="2400">
              <a:latin typeface="Arial"/>
              <a:cs typeface="Arial"/>
            </a:endParaRPr>
          </a:p>
          <a:p>
            <a:pPr marL="1155700" marR="155575" indent="-228600">
              <a:lnSpc>
                <a:spcPts val="2160"/>
              </a:lnSpc>
              <a:spcBef>
                <a:spcPts val="505"/>
              </a:spcBef>
              <a:tabLst>
                <a:tab pos="1155700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Sự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tại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NHANVIEN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phụ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sự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tại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 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NHANVIEN.</a:t>
            </a:r>
            <a:endParaRPr sz="2000">
              <a:latin typeface="Arial"/>
              <a:cs typeface="Arial"/>
            </a:endParaRPr>
          </a:p>
          <a:p>
            <a:pPr marL="751840" marR="5080" indent="-281940">
              <a:lnSpc>
                <a:spcPts val="2580"/>
              </a:lnSpc>
              <a:spcBef>
                <a:spcPts val="610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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null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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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(u.MaNV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= </a:t>
            </a:r>
            <a:r>
              <a:rPr sz="2400" spc="-10" dirty="0">
                <a:latin typeface="Arial"/>
                <a:cs typeface="Arial"/>
              </a:rPr>
              <a:t>t.MaGS))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815" y="5177958"/>
            <a:ext cx="7897495" cy="9074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47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Nhận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xét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32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RBTV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chiếu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bối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25" dirty="0">
                <a:latin typeface="Arial"/>
                <a:cs typeface="Arial"/>
              </a:rPr>
              <a:t> hệ.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93999" y="3911903"/>
          <a:ext cx="4636770" cy="72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8636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3194D-FE9E-DCE3-4E17-BE30472E598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65" dirty="0"/>
              <a:t> </a:t>
            </a:r>
            <a:r>
              <a:rPr dirty="0"/>
              <a:t>liên</a:t>
            </a:r>
            <a:r>
              <a:rPr spc="-50" dirty="0"/>
              <a:t> </a:t>
            </a:r>
            <a:r>
              <a:rPr dirty="0"/>
              <a:t>thuộc</a:t>
            </a:r>
            <a:r>
              <a:rPr spc="-45" dirty="0"/>
              <a:t> </a:t>
            </a:r>
            <a:r>
              <a:rPr dirty="0"/>
              <a:t>tính</a:t>
            </a:r>
            <a:r>
              <a:rPr spc="-90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liên</a:t>
            </a:r>
            <a:r>
              <a:rPr spc="-65" dirty="0"/>
              <a:t> </a:t>
            </a:r>
            <a:r>
              <a:rPr dirty="0"/>
              <a:t>quan</a:t>
            </a:r>
            <a:r>
              <a:rPr spc="-55" dirty="0"/>
              <a:t> </a:t>
            </a:r>
            <a:r>
              <a:rPr spc="-25" dirty="0"/>
              <a:t>hệ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2199"/>
            <a:ext cx="8414385" cy="3011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Mối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liên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giữa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đồ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hệ.</a:t>
            </a:r>
            <a:endParaRPr sz="2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spc="-25" dirty="0">
                <a:latin typeface="Arial"/>
                <a:cs typeface="Arial"/>
              </a:rPr>
              <a:t>RB-12</a:t>
            </a:r>
            <a:endParaRPr sz="2800">
              <a:latin typeface="Arial"/>
              <a:cs typeface="Arial"/>
            </a:endParaRPr>
          </a:p>
          <a:p>
            <a:pPr marL="751840" marR="338455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Ngày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chức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trưởng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hơn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ngày </a:t>
            </a:r>
            <a:r>
              <a:rPr sz="2400" spc="-10" dirty="0">
                <a:latin typeface="Arial"/>
                <a:cs typeface="Arial"/>
              </a:rPr>
              <a:t>sinh.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PHONGBAN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dirty="0">
                <a:latin typeface="Symbol"/>
                <a:cs typeface="Symbol"/>
              </a:rPr>
              <a:t>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(u.MaNV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=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t.TrPhong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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u.NgSinh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t.NgNhanChuc))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93999" y="4413299"/>
          <a:ext cx="4674870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4222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PHONGBAN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FA631-C191-BBCD-7E46-3AC0EDC4E0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55" dirty="0"/>
              <a:t> </a:t>
            </a:r>
            <a:r>
              <a:rPr dirty="0"/>
              <a:t>liên</a:t>
            </a:r>
            <a:r>
              <a:rPr spc="-40" dirty="0"/>
              <a:t> </a:t>
            </a:r>
            <a:r>
              <a:rPr dirty="0"/>
              <a:t>bộ</a:t>
            </a:r>
            <a:r>
              <a:rPr spc="-75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dirty="0"/>
              <a:t>liên</a:t>
            </a:r>
            <a:r>
              <a:rPr spc="-60" dirty="0"/>
              <a:t> </a:t>
            </a:r>
            <a:r>
              <a:rPr dirty="0"/>
              <a:t>quan</a:t>
            </a:r>
            <a:r>
              <a:rPr spc="-45" dirty="0"/>
              <a:t> </a:t>
            </a:r>
            <a:r>
              <a:rPr spc="-25" dirty="0"/>
              <a:t>hệ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2199"/>
            <a:ext cx="8504555" cy="3893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marR="560070" indent="-3403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Mối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liên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giữa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bộ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trên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quan </a:t>
            </a:r>
            <a:r>
              <a:rPr sz="2800" spc="-25" dirty="0">
                <a:latin typeface="Arial"/>
                <a:cs typeface="Arial"/>
              </a:rPr>
              <a:t>hệ.</a:t>
            </a:r>
            <a:endParaRPr sz="2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/>
              <a:buChar char=""/>
              <a:tabLst>
                <a:tab pos="352425" algn="l"/>
              </a:tabLst>
            </a:pPr>
            <a:r>
              <a:rPr sz="2800" u="sng" spc="-25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Arial"/>
                <a:cs typeface="Arial"/>
              </a:rPr>
              <a:t>RB-4</a:t>
            </a:r>
            <a:r>
              <a:rPr sz="2800" spc="-25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0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spc="-25" dirty="0">
                <a:latin typeface="Arial"/>
                <a:cs typeface="Arial"/>
              </a:rPr>
              <a:t>RB-13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Lương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hơn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lương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trưởng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"/>
                <a:cs typeface="Arial"/>
              </a:rPr>
              <a:t>phòng.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610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dirty="0">
                <a:latin typeface="Symbol"/>
                <a:cs typeface="Symbol"/>
              </a:rPr>
              <a:t>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PHONGBAN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dirty="0">
                <a:latin typeface="Symbol"/>
                <a:cs typeface="Symbol"/>
              </a:rPr>
              <a:t>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NHANVIEN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(v.MaNV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u.TrPhong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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u.MaPB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t.MaPhong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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v.Luong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&gt;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t.Luong)))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93999" y="5099099"/>
          <a:ext cx="4674870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4222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13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PHONGBAN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7D386-F9FD-032C-1284-0F35D64E44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RBTV</a:t>
            </a:r>
            <a:r>
              <a:rPr spc="-65" dirty="0"/>
              <a:t> </a:t>
            </a:r>
            <a:r>
              <a:rPr dirty="0"/>
              <a:t>thuộc</a:t>
            </a:r>
            <a:r>
              <a:rPr spc="-40" dirty="0"/>
              <a:t> </a:t>
            </a:r>
            <a:r>
              <a:rPr dirty="0"/>
              <a:t>tính</a:t>
            </a:r>
            <a:r>
              <a:rPr spc="-70" dirty="0"/>
              <a:t> </a:t>
            </a:r>
            <a:r>
              <a:rPr dirty="0"/>
              <a:t>tổng</a:t>
            </a:r>
            <a:r>
              <a:rPr spc="-65" dirty="0"/>
              <a:t> </a:t>
            </a:r>
            <a:r>
              <a:rPr spc="-25" dirty="0"/>
              <a:t>hợp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2199"/>
            <a:ext cx="8229600" cy="3377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Thuộc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này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được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toán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từ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các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hoặc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bộ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khác.</a:t>
            </a:r>
            <a:endParaRPr sz="2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spc="-25" dirty="0">
                <a:latin typeface="Arial"/>
                <a:cs typeface="Arial"/>
              </a:rPr>
              <a:t>RB-14</a:t>
            </a:r>
            <a:endParaRPr sz="2800">
              <a:latin typeface="Arial"/>
              <a:cs typeface="Arial"/>
            </a:endParaRPr>
          </a:p>
          <a:p>
            <a:pPr marL="751840" marR="94615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Giả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PHONGBAN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thêm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số </a:t>
            </a:r>
            <a:r>
              <a:rPr sz="2400" dirty="0">
                <a:latin typeface="Arial"/>
                <a:cs typeface="Arial"/>
              </a:rPr>
              <a:t>luong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phòng.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phải </a:t>
            </a:r>
            <a:r>
              <a:rPr sz="2400" dirty="0">
                <a:latin typeface="Arial"/>
                <a:cs typeface="Arial"/>
              </a:rPr>
              <a:t>bằng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tổng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luong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đó.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dirty="0">
                <a:latin typeface="Arial"/>
                <a:cs typeface="Arial"/>
              </a:rPr>
              <a:t>PHONGBAN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(t.TongLuong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sum({u.Luong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|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0" dirty="0">
                <a:latin typeface="Symbol"/>
                <a:cs typeface="Symbol"/>
              </a:rPr>
              <a:t></a:t>
            </a:r>
            <a:endParaRPr sz="2400">
              <a:latin typeface="Symbol"/>
              <a:cs typeface="Symbol"/>
            </a:endParaRPr>
          </a:p>
          <a:p>
            <a:pPr marL="75184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NHANVIEN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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u.MaPhong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t.MaPB}))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93999" y="4718099"/>
          <a:ext cx="4674870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4222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RB-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Thêm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Xóa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Sửa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PHONGBAN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54F2A-D796-C893-15EB-5E3D883FAF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Cài</a:t>
            </a:r>
            <a:r>
              <a:rPr spc="-55" dirty="0"/>
              <a:t> </a:t>
            </a:r>
            <a:r>
              <a:rPr dirty="0"/>
              <a:t>đặt</a:t>
            </a:r>
            <a:r>
              <a:rPr spc="-55" dirty="0"/>
              <a:t> </a:t>
            </a:r>
            <a:r>
              <a:rPr spc="-20" dirty="0"/>
              <a:t>RBTV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987199"/>
            <a:ext cx="5368925" cy="331597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414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Các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RBTV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được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cài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đặt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bởi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6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Primary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key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6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Foreign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key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6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Check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constraint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65"/>
              </a:spcBef>
              <a:buChar char="•"/>
              <a:tabLst>
                <a:tab pos="751840" algn="l"/>
              </a:tabLst>
            </a:pPr>
            <a:r>
              <a:rPr sz="2800" spc="-10" dirty="0">
                <a:latin typeface="Arial"/>
                <a:cs typeface="Arial"/>
              </a:rPr>
              <a:t>Assertion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65"/>
              </a:spcBef>
              <a:buChar char="•"/>
              <a:tabLst>
                <a:tab pos="751840" algn="l"/>
              </a:tabLst>
            </a:pPr>
            <a:r>
              <a:rPr sz="2800" spc="-10" dirty="0">
                <a:latin typeface="Arial"/>
                <a:cs typeface="Arial"/>
              </a:rPr>
              <a:t>Trigger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6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Stored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Procedure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A73D4-839E-86F9-E394-C9C9EF5275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Assertion</a:t>
            </a:r>
            <a:r>
              <a:rPr spc="-114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17523"/>
            <a:ext cx="8053705" cy="39287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create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assertion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&lt;Tên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assertion&gt;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check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&lt;điều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kiện&gt;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drop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assertion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&lt;Tên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assertion&gt;</a:t>
            </a:r>
            <a:endParaRPr sz="24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spc="-25" dirty="0">
                <a:latin typeface="Arial"/>
                <a:cs typeface="Arial"/>
              </a:rPr>
              <a:t>RB-</a:t>
            </a:r>
            <a:r>
              <a:rPr sz="2400" dirty="0">
                <a:latin typeface="Arial"/>
                <a:cs typeface="Arial"/>
              </a:rPr>
              <a:t>12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Ngày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nhận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chức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trưởng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hơn</a:t>
            </a:r>
            <a:endParaRPr sz="2400">
              <a:latin typeface="Arial"/>
              <a:cs typeface="Arial"/>
            </a:endParaRPr>
          </a:p>
          <a:p>
            <a:pPr marL="35242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ngày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sinh.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9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create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assertion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RB_12</a:t>
            </a:r>
            <a:endParaRPr sz="2000">
              <a:latin typeface="Arial"/>
              <a:cs typeface="Arial"/>
            </a:endParaRPr>
          </a:p>
          <a:p>
            <a:pPr marR="5249545" algn="r">
              <a:lnSpc>
                <a:spcPct val="100000"/>
              </a:lnSpc>
              <a:spcBef>
                <a:spcPts val="490"/>
              </a:spcBef>
            </a:pPr>
            <a:r>
              <a:rPr sz="2000" dirty="0">
                <a:latin typeface="Arial"/>
                <a:cs typeface="Arial"/>
              </a:rPr>
              <a:t>check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(not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exists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(</a:t>
            </a:r>
            <a:endParaRPr sz="2000">
              <a:latin typeface="Arial"/>
              <a:cs typeface="Arial"/>
            </a:endParaRPr>
          </a:p>
          <a:p>
            <a:pPr marR="5274310" algn="r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1936114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PHONGBAN,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  <a:p>
            <a:pPr marL="2705735" marR="2448560" indent="-770255">
              <a:lnSpc>
                <a:spcPts val="2910"/>
              </a:lnSpc>
              <a:spcBef>
                <a:spcPts val="80"/>
              </a:spcBef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TrPhong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MaNV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 </a:t>
            </a:r>
            <a:r>
              <a:rPr sz="2000" dirty="0">
                <a:latin typeface="Arial"/>
                <a:cs typeface="Arial"/>
              </a:rPr>
              <a:t>NgSinh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&gt;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NgNhanChuc));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6C792-69F9-E020-E69D-4F41E98353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Assertion</a:t>
            </a:r>
            <a:r>
              <a:rPr spc="-114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3723"/>
            <a:ext cx="8277859" cy="296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2425" algn="l"/>
              </a:tabLst>
            </a:pPr>
            <a:r>
              <a:rPr sz="2400" spc="-25" dirty="0">
                <a:latin typeface="Arial"/>
                <a:cs typeface="Arial"/>
              </a:rPr>
              <a:t>RB-</a:t>
            </a:r>
            <a:r>
              <a:rPr sz="2400" dirty="0">
                <a:latin typeface="Arial"/>
                <a:cs typeface="Arial"/>
              </a:rPr>
              <a:t>3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quá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 </a:t>
            </a:r>
            <a:r>
              <a:rPr sz="2400" dirty="0">
                <a:latin typeface="Arial"/>
                <a:cs typeface="Arial"/>
              </a:rPr>
              <a:t>dự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án.</a:t>
            </a:r>
            <a:endParaRPr sz="24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505"/>
              </a:spcBef>
              <a:buChar char="•"/>
              <a:tabLst>
                <a:tab pos="751840" algn="l"/>
              </a:tabLst>
            </a:pPr>
            <a:r>
              <a:rPr sz="2000" dirty="0">
                <a:latin typeface="Arial"/>
                <a:cs typeface="Arial"/>
              </a:rPr>
              <a:t>create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assertion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(</a:t>
            </a:r>
            <a:endParaRPr sz="20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Arial"/>
                <a:cs typeface="Arial"/>
              </a:rPr>
              <a:t>check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(not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exists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(</a:t>
            </a:r>
            <a:endParaRPr sz="2000">
              <a:latin typeface="Arial"/>
              <a:cs typeface="Arial"/>
            </a:endParaRPr>
          </a:p>
          <a:p>
            <a:pPr marL="1867535" marR="4638040">
              <a:lnSpc>
                <a:spcPct val="1208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MaNV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THAMGIA </a:t>
            </a:r>
            <a:r>
              <a:rPr sz="2000" dirty="0">
                <a:latin typeface="Arial"/>
                <a:cs typeface="Arial"/>
              </a:rPr>
              <a:t>group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MaNV</a:t>
            </a:r>
            <a:endParaRPr sz="2000">
              <a:latin typeface="Arial"/>
              <a:cs typeface="Arial"/>
            </a:endParaRPr>
          </a:p>
          <a:p>
            <a:pPr marL="186753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Arial"/>
                <a:cs typeface="Arial"/>
              </a:rPr>
              <a:t>having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count(*)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&gt;</a:t>
            </a:r>
            <a:r>
              <a:rPr sz="2000" spc="-20" dirty="0">
                <a:latin typeface="Arial"/>
                <a:cs typeface="Arial"/>
              </a:rPr>
              <a:t> 3));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639A3-BECA-77EB-0925-ABE0CAB05D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Trigger</a:t>
            </a:r>
            <a:r>
              <a:rPr spc="-10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2199"/>
            <a:ext cx="8314055" cy="1393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Tập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hợp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lệnh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tự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động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xảy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các </a:t>
            </a:r>
            <a:r>
              <a:rPr sz="2800" dirty="0">
                <a:latin typeface="Arial"/>
                <a:cs typeface="Arial"/>
              </a:rPr>
              <a:t>sự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kiện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nào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đó.</a:t>
            </a:r>
            <a:endParaRPr sz="2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0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Mô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hình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ECA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(Sự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kiện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-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Điều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kiện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-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Hành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động)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3124200"/>
            <a:ext cx="1524000" cy="6096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162560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280"/>
              </a:spcBef>
            </a:pPr>
            <a:r>
              <a:rPr sz="1800" dirty="0">
                <a:latin typeface="Arial"/>
                <a:cs typeface="Arial"/>
              </a:rPr>
              <a:t>SỰ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KIỆN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86600" y="3124200"/>
            <a:ext cx="1524000" cy="60960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16256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280"/>
              </a:spcBef>
            </a:pPr>
            <a:r>
              <a:rPr sz="1800" dirty="0">
                <a:latin typeface="Arial"/>
                <a:cs typeface="Arial"/>
              </a:rPr>
              <a:t>HÀNH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ĐỘNG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3048000"/>
            <a:ext cx="1981200" cy="762000"/>
          </a:xfrm>
          <a:custGeom>
            <a:avLst/>
            <a:gdLst/>
            <a:ahLst/>
            <a:cxnLst/>
            <a:rect l="l" t="t" r="r" b="b"/>
            <a:pathLst>
              <a:path w="1981200" h="762000">
                <a:moveTo>
                  <a:pt x="0" y="381000"/>
                </a:moveTo>
                <a:lnTo>
                  <a:pt x="990600" y="0"/>
                </a:lnTo>
                <a:lnTo>
                  <a:pt x="1981200" y="381000"/>
                </a:lnTo>
                <a:lnTo>
                  <a:pt x="990600" y="762000"/>
                </a:lnTo>
                <a:lnTo>
                  <a:pt x="0" y="381000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870" y="3273933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ĐIỀU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KIỆN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33600" y="3392423"/>
            <a:ext cx="4953000" cy="76200"/>
          </a:xfrm>
          <a:custGeom>
            <a:avLst/>
            <a:gdLst/>
            <a:ahLst/>
            <a:cxnLst/>
            <a:rect l="l" t="t" r="r" b="b"/>
            <a:pathLst>
              <a:path w="4953000" h="76200">
                <a:moveTo>
                  <a:pt x="1371600" y="38100"/>
                </a:moveTo>
                <a:lnTo>
                  <a:pt x="1358900" y="31750"/>
                </a:lnTo>
                <a:lnTo>
                  <a:pt x="1295400" y="0"/>
                </a:lnTo>
                <a:lnTo>
                  <a:pt x="1295400" y="31737"/>
                </a:lnTo>
                <a:lnTo>
                  <a:pt x="0" y="30226"/>
                </a:lnTo>
                <a:lnTo>
                  <a:pt x="0" y="42926"/>
                </a:lnTo>
                <a:lnTo>
                  <a:pt x="1295400" y="44437"/>
                </a:lnTo>
                <a:lnTo>
                  <a:pt x="1295400" y="76200"/>
                </a:lnTo>
                <a:lnTo>
                  <a:pt x="1358900" y="44450"/>
                </a:lnTo>
                <a:lnTo>
                  <a:pt x="1371600" y="38100"/>
                </a:lnTo>
                <a:close/>
              </a:path>
              <a:path w="4953000" h="76200">
                <a:moveTo>
                  <a:pt x="4953000" y="38100"/>
                </a:moveTo>
                <a:lnTo>
                  <a:pt x="4940300" y="31750"/>
                </a:lnTo>
                <a:lnTo>
                  <a:pt x="4876800" y="0"/>
                </a:lnTo>
                <a:lnTo>
                  <a:pt x="4876800" y="31750"/>
                </a:lnTo>
                <a:lnTo>
                  <a:pt x="3352800" y="30226"/>
                </a:lnTo>
                <a:lnTo>
                  <a:pt x="3352800" y="42926"/>
                </a:lnTo>
                <a:lnTo>
                  <a:pt x="4876800" y="44450"/>
                </a:lnTo>
                <a:lnTo>
                  <a:pt x="4876800" y="76200"/>
                </a:lnTo>
                <a:lnTo>
                  <a:pt x="4940300" y="44450"/>
                </a:lnTo>
                <a:lnTo>
                  <a:pt x="49530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523738" y="3089909"/>
            <a:ext cx="570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Đúng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0955" y="4482084"/>
            <a:ext cx="843280" cy="917575"/>
          </a:xfrm>
          <a:custGeom>
            <a:avLst/>
            <a:gdLst/>
            <a:ahLst/>
            <a:cxnLst/>
            <a:rect l="l" t="t" r="r" b="b"/>
            <a:pathLst>
              <a:path w="843280" h="917575">
                <a:moveTo>
                  <a:pt x="0" y="140462"/>
                </a:moveTo>
                <a:lnTo>
                  <a:pt x="7161" y="96056"/>
                </a:lnTo>
                <a:lnTo>
                  <a:pt x="27102" y="57497"/>
                </a:lnTo>
                <a:lnTo>
                  <a:pt x="57508" y="27094"/>
                </a:lnTo>
                <a:lnTo>
                  <a:pt x="96066" y="7158"/>
                </a:lnTo>
                <a:lnTo>
                  <a:pt x="140462" y="0"/>
                </a:lnTo>
                <a:lnTo>
                  <a:pt x="702310" y="0"/>
                </a:lnTo>
                <a:lnTo>
                  <a:pt x="746715" y="7158"/>
                </a:lnTo>
                <a:lnTo>
                  <a:pt x="785274" y="27094"/>
                </a:lnTo>
                <a:lnTo>
                  <a:pt x="815677" y="57497"/>
                </a:lnTo>
                <a:lnTo>
                  <a:pt x="835613" y="96056"/>
                </a:lnTo>
                <a:lnTo>
                  <a:pt x="842771" y="140462"/>
                </a:lnTo>
                <a:lnTo>
                  <a:pt x="842771" y="776986"/>
                </a:lnTo>
                <a:lnTo>
                  <a:pt x="835613" y="821391"/>
                </a:lnTo>
                <a:lnTo>
                  <a:pt x="815677" y="859950"/>
                </a:lnTo>
                <a:lnTo>
                  <a:pt x="785274" y="890353"/>
                </a:lnTo>
                <a:lnTo>
                  <a:pt x="746715" y="910289"/>
                </a:lnTo>
                <a:lnTo>
                  <a:pt x="702310" y="917448"/>
                </a:lnTo>
                <a:lnTo>
                  <a:pt x="140462" y="917448"/>
                </a:lnTo>
                <a:lnTo>
                  <a:pt x="96066" y="910289"/>
                </a:lnTo>
                <a:lnTo>
                  <a:pt x="57508" y="890353"/>
                </a:lnTo>
                <a:lnTo>
                  <a:pt x="27102" y="859950"/>
                </a:lnTo>
                <a:lnTo>
                  <a:pt x="7161" y="821391"/>
                </a:lnTo>
                <a:lnTo>
                  <a:pt x="0" y="776986"/>
                </a:lnTo>
                <a:lnTo>
                  <a:pt x="0" y="140462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09319" y="4551933"/>
            <a:ext cx="6870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-</a:t>
            </a:r>
            <a:r>
              <a:rPr sz="1800" spc="-20" dirty="0">
                <a:latin typeface="Arial"/>
                <a:cs typeface="Arial"/>
              </a:rPr>
              <a:t>Thêm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-</a:t>
            </a:r>
            <a:r>
              <a:rPr sz="1800" spc="-25" dirty="0">
                <a:latin typeface="Arial"/>
                <a:cs typeface="Arial"/>
              </a:rPr>
              <a:t>Xóa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-</a:t>
            </a:r>
            <a:r>
              <a:rPr sz="1800" spc="-25" dirty="0">
                <a:latin typeface="Arial"/>
                <a:cs typeface="Arial"/>
              </a:rPr>
              <a:t>Sửa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75347" y="4500371"/>
            <a:ext cx="1955800" cy="368935"/>
          </a:xfrm>
          <a:custGeom>
            <a:avLst/>
            <a:gdLst/>
            <a:ahLst/>
            <a:cxnLst/>
            <a:rect l="l" t="t" r="r" b="b"/>
            <a:pathLst>
              <a:path w="1955800" h="368935">
                <a:moveTo>
                  <a:pt x="0" y="61467"/>
                </a:moveTo>
                <a:lnTo>
                  <a:pt x="4835" y="37558"/>
                </a:lnTo>
                <a:lnTo>
                  <a:pt x="18018" y="18018"/>
                </a:lnTo>
                <a:lnTo>
                  <a:pt x="37558" y="4835"/>
                </a:lnTo>
                <a:lnTo>
                  <a:pt x="61468" y="0"/>
                </a:lnTo>
                <a:lnTo>
                  <a:pt x="1893824" y="0"/>
                </a:lnTo>
                <a:lnTo>
                  <a:pt x="1917733" y="4835"/>
                </a:lnTo>
                <a:lnTo>
                  <a:pt x="1937273" y="18018"/>
                </a:lnTo>
                <a:lnTo>
                  <a:pt x="1950456" y="37558"/>
                </a:lnTo>
                <a:lnTo>
                  <a:pt x="1955292" y="61467"/>
                </a:lnTo>
                <a:lnTo>
                  <a:pt x="1955292" y="307339"/>
                </a:lnTo>
                <a:lnTo>
                  <a:pt x="1950456" y="331249"/>
                </a:lnTo>
                <a:lnTo>
                  <a:pt x="1937273" y="350789"/>
                </a:lnTo>
                <a:lnTo>
                  <a:pt x="1917733" y="363972"/>
                </a:lnTo>
                <a:lnTo>
                  <a:pt x="1893824" y="368807"/>
                </a:lnTo>
                <a:lnTo>
                  <a:pt x="61468" y="368807"/>
                </a:lnTo>
                <a:lnTo>
                  <a:pt x="37558" y="363972"/>
                </a:lnTo>
                <a:lnTo>
                  <a:pt x="18018" y="350789"/>
                </a:lnTo>
                <a:lnTo>
                  <a:pt x="4835" y="331249"/>
                </a:lnTo>
                <a:lnTo>
                  <a:pt x="0" y="307339"/>
                </a:lnTo>
                <a:lnTo>
                  <a:pt x="0" y="61467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071741" y="4547742"/>
            <a:ext cx="1798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Tập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hợp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lệnh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55573" y="3883914"/>
            <a:ext cx="248920" cy="612140"/>
          </a:xfrm>
          <a:custGeom>
            <a:avLst/>
            <a:gdLst/>
            <a:ahLst/>
            <a:cxnLst/>
            <a:rect l="l" t="t" r="r" b="b"/>
            <a:pathLst>
              <a:path w="248919" h="612139">
                <a:moveTo>
                  <a:pt x="236905" y="0"/>
                </a:moveTo>
                <a:lnTo>
                  <a:pt x="218744" y="47371"/>
                </a:lnTo>
                <a:lnTo>
                  <a:pt x="230555" y="51943"/>
                </a:lnTo>
                <a:lnTo>
                  <a:pt x="248843" y="4572"/>
                </a:lnTo>
                <a:lnTo>
                  <a:pt x="236905" y="0"/>
                </a:lnTo>
                <a:close/>
              </a:path>
              <a:path w="248919" h="612139">
                <a:moveTo>
                  <a:pt x="205003" y="82931"/>
                </a:moveTo>
                <a:lnTo>
                  <a:pt x="186753" y="130429"/>
                </a:lnTo>
                <a:lnTo>
                  <a:pt x="198602" y="134874"/>
                </a:lnTo>
                <a:lnTo>
                  <a:pt x="216839" y="87503"/>
                </a:lnTo>
                <a:lnTo>
                  <a:pt x="205003" y="82931"/>
                </a:lnTo>
                <a:close/>
              </a:path>
              <a:path w="248919" h="612139">
                <a:moveTo>
                  <a:pt x="173062" y="165988"/>
                </a:moveTo>
                <a:lnTo>
                  <a:pt x="154812" y="213360"/>
                </a:lnTo>
                <a:lnTo>
                  <a:pt x="166662" y="217931"/>
                </a:lnTo>
                <a:lnTo>
                  <a:pt x="184924" y="170434"/>
                </a:lnTo>
                <a:lnTo>
                  <a:pt x="173062" y="165988"/>
                </a:lnTo>
                <a:close/>
              </a:path>
              <a:path w="248919" h="612139">
                <a:moveTo>
                  <a:pt x="141122" y="248919"/>
                </a:moveTo>
                <a:lnTo>
                  <a:pt x="122872" y="296291"/>
                </a:lnTo>
                <a:lnTo>
                  <a:pt x="134721" y="300863"/>
                </a:lnTo>
                <a:lnTo>
                  <a:pt x="152984" y="253492"/>
                </a:lnTo>
                <a:lnTo>
                  <a:pt x="141122" y="248919"/>
                </a:lnTo>
                <a:close/>
              </a:path>
              <a:path w="248919" h="612139">
                <a:moveTo>
                  <a:pt x="109181" y="331850"/>
                </a:moveTo>
                <a:lnTo>
                  <a:pt x="90931" y="379222"/>
                </a:lnTo>
                <a:lnTo>
                  <a:pt x="102781" y="383794"/>
                </a:lnTo>
                <a:lnTo>
                  <a:pt x="121031" y="336423"/>
                </a:lnTo>
                <a:lnTo>
                  <a:pt x="109181" y="331850"/>
                </a:lnTo>
                <a:close/>
              </a:path>
              <a:path w="248919" h="612139">
                <a:moveTo>
                  <a:pt x="77241" y="414781"/>
                </a:moveTo>
                <a:lnTo>
                  <a:pt x="58991" y="462280"/>
                </a:lnTo>
                <a:lnTo>
                  <a:pt x="70840" y="466852"/>
                </a:lnTo>
                <a:lnTo>
                  <a:pt x="89090" y="419354"/>
                </a:lnTo>
                <a:lnTo>
                  <a:pt x="77241" y="414781"/>
                </a:lnTo>
                <a:close/>
              </a:path>
              <a:path w="248919" h="612139">
                <a:moveTo>
                  <a:pt x="0" y="527050"/>
                </a:moveTo>
                <a:lnTo>
                  <a:pt x="8178" y="611886"/>
                </a:lnTo>
                <a:lnTo>
                  <a:pt x="71107" y="554482"/>
                </a:lnTo>
                <a:lnTo>
                  <a:pt x="58926" y="549783"/>
                </a:lnTo>
                <a:lnTo>
                  <a:pt x="38900" y="549783"/>
                </a:lnTo>
                <a:lnTo>
                  <a:pt x="27050" y="545211"/>
                </a:lnTo>
                <a:lnTo>
                  <a:pt x="29642" y="538485"/>
                </a:lnTo>
                <a:lnTo>
                  <a:pt x="0" y="527050"/>
                </a:lnTo>
                <a:close/>
              </a:path>
              <a:path w="248919" h="612139">
                <a:moveTo>
                  <a:pt x="29642" y="538485"/>
                </a:moveTo>
                <a:lnTo>
                  <a:pt x="27050" y="545211"/>
                </a:lnTo>
                <a:lnTo>
                  <a:pt x="38900" y="549783"/>
                </a:lnTo>
                <a:lnTo>
                  <a:pt x="41485" y="543054"/>
                </a:lnTo>
                <a:lnTo>
                  <a:pt x="29642" y="538485"/>
                </a:lnTo>
                <a:close/>
              </a:path>
              <a:path w="248919" h="612139">
                <a:moveTo>
                  <a:pt x="41485" y="543054"/>
                </a:moveTo>
                <a:lnTo>
                  <a:pt x="38900" y="549783"/>
                </a:lnTo>
                <a:lnTo>
                  <a:pt x="58926" y="549783"/>
                </a:lnTo>
                <a:lnTo>
                  <a:pt x="41485" y="543054"/>
                </a:lnTo>
                <a:close/>
              </a:path>
              <a:path w="248919" h="612139">
                <a:moveTo>
                  <a:pt x="45300" y="497840"/>
                </a:moveTo>
                <a:lnTo>
                  <a:pt x="29642" y="538485"/>
                </a:lnTo>
                <a:lnTo>
                  <a:pt x="41485" y="543054"/>
                </a:lnTo>
                <a:lnTo>
                  <a:pt x="57150" y="502285"/>
                </a:lnTo>
                <a:lnTo>
                  <a:pt x="45300" y="4978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35569" y="38862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43179" y="0"/>
                </a:moveTo>
                <a:lnTo>
                  <a:pt x="30479" y="0"/>
                </a:lnTo>
                <a:lnTo>
                  <a:pt x="30606" y="50800"/>
                </a:lnTo>
                <a:lnTo>
                  <a:pt x="43306" y="50800"/>
                </a:lnTo>
                <a:lnTo>
                  <a:pt x="43179" y="0"/>
                </a:lnTo>
                <a:close/>
              </a:path>
              <a:path w="76200" h="609600">
                <a:moveTo>
                  <a:pt x="43433" y="88900"/>
                </a:moveTo>
                <a:lnTo>
                  <a:pt x="30733" y="88900"/>
                </a:lnTo>
                <a:lnTo>
                  <a:pt x="30860" y="139700"/>
                </a:lnTo>
                <a:lnTo>
                  <a:pt x="43560" y="139700"/>
                </a:lnTo>
                <a:lnTo>
                  <a:pt x="43433" y="88900"/>
                </a:lnTo>
                <a:close/>
              </a:path>
              <a:path w="76200" h="609600">
                <a:moveTo>
                  <a:pt x="43560" y="177800"/>
                </a:moveTo>
                <a:lnTo>
                  <a:pt x="30860" y="177800"/>
                </a:lnTo>
                <a:lnTo>
                  <a:pt x="30987" y="228600"/>
                </a:lnTo>
                <a:lnTo>
                  <a:pt x="43687" y="228600"/>
                </a:lnTo>
                <a:lnTo>
                  <a:pt x="43560" y="177800"/>
                </a:lnTo>
                <a:close/>
              </a:path>
              <a:path w="76200" h="609600">
                <a:moveTo>
                  <a:pt x="43814" y="266700"/>
                </a:moveTo>
                <a:lnTo>
                  <a:pt x="31114" y="266700"/>
                </a:lnTo>
                <a:lnTo>
                  <a:pt x="31241" y="317500"/>
                </a:lnTo>
                <a:lnTo>
                  <a:pt x="43941" y="317500"/>
                </a:lnTo>
                <a:lnTo>
                  <a:pt x="43814" y="266700"/>
                </a:lnTo>
                <a:close/>
              </a:path>
              <a:path w="76200" h="609600">
                <a:moveTo>
                  <a:pt x="44069" y="355600"/>
                </a:moveTo>
                <a:lnTo>
                  <a:pt x="31369" y="355600"/>
                </a:lnTo>
                <a:lnTo>
                  <a:pt x="31496" y="406400"/>
                </a:lnTo>
                <a:lnTo>
                  <a:pt x="44196" y="406400"/>
                </a:lnTo>
                <a:lnTo>
                  <a:pt x="44069" y="355600"/>
                </a:lnTo>
                <a:close/>
              </a:path>
              <a:path w="76200" h="609600">
                <a:moveTo>
                  <a:pt x="44323" y="444500"/>
                </a:moveTo>
                <a:lnTo>
                  <a:pt x="31623" y="444500"/>
                </a:lnTo>
                <a:lnTo>
                  <a:pt x="31750" y="495300"/>
                </a:lnTo>
                <a:lnTo>
                  <a:pt x="44450" y="495300"/>
                </a:lnTo>
                <a:lnTo>
                  <a:pt x="44323" y="444500"/>
                </a:lnTo>
                <a:close/>
              </a:path>
              <a:path w="76200" h="609600">
                <a:moveTo>
                  <a:pt x="31751" y="533526"/>
                </a:moveTo>
                <a:lnTo>
                  <a:pt x="0" y="533526"/>
                </a:lnTo>
                <a:lnTo>
                  <a:pt x="38353" y="609600"/>
                </a:lnTo>
                <a:lnTo>
                  <a:pt x="69839" y="546100"/>
                </a:lnTo>
                <a:lnTo>
                  <a:pt x="31876" y="546100"/>
                </a:lnTo>
                <a:lnTo>
                  <a:pt x="31751" y="533526"/>
                </a:lnTo>
                <a:close/>
              </a:path>
              <a:path w="76200" h="609600">
                <a:moveTo>
                  <a:pt x="44451" y="533526"/>
                </a:moveTo>
                <a:lnTo>
                  <a:pt x="31751" y="533526"/>
                </a:lnTo>
                <a:lnTo>
                  <a:pt x="31876" y="546100"/>
                </a:lnTo>
                <a:lnTo>
                  <a:pt x="44576" y="546100"/>
                </a:lnTo>
                <a:lnTo>
                  <a:pt x="44451" y="533526"/>
                </a:lnTo>
                <a:close/>
              </a:path>
              <a:path w="76200" h="609600">
                <a:moveTo>
                  <a:pt x="76074" y="533526"/>
                </a:moveTo>
                <a:lnTo>
                  <a:pt x="44451" y="533526"/>
                </a:lnTo>
                <a:lnTo>
                  <a:pt x="44576" y="546100"/>
                </a:lnTo>
                <a:lnTo>
                  <a:pt x="69839" y="546100"/>
                </a:lnTo>
                <a:lnTo>
                  <a:pt x="76074" y="5335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51859" y="4482084"/>
            <a:ext cx="2202180" cy="716280"/>
          </a:xfrm>
          <a:custGeom>
            <a:avLst/>
            <a:gdLst/>
            <a:ahLst/>
            <a:cxnLst/>
            <a:rect l="l" t="t" r="r" b="b"/>
            <a:pathLst>
              <a:path w="2202179" h="716279">
                <a:moveTo>
                  <a:pt x="0" y="119380"/>
                </a:moveTo>
                <a:lnTo>
                  <a:pt x="9384" y="72919"/>
                </a:lnTo>
                <a:lnTo>
                  <a:pt x="34972" y="34972"/>
                </a:lnTo>
                <a:lnTo>
                  <a:pt x="72919" y="9384"/>
                </a:lnTo>
                <a:lnTo>
                  <a:pt x="119379" y="0"/>
                </a:lnTo>
                <a:lnTo>
                  <a:pt x="2082800" y="0"/>
                </a:lnTo>
                <a:lnTo>
                  <a:pt x="2129260" y="9384"/>
                </a:lnTo>
                <a:lnTo>
                  <a:pt x="2167207" y="34972"/>
                </a:lnTo>
                <a:lnTo>
                  <a:pt x="2192795" y="72919"/>
                </a:lnTo>
                <a:lnTo>
                  <a:pt x="2202179" y="119380"/>
                </a:lnTo>
                <a:lnTo>
                  <a:pt x="2202179" y="596900"/>
                </a:lnTo>
                <a:lnTo>
                  <a:pt x="2192795" y="643360"/>
                </a:lnTo>
                <a:lnTo>
                  <a:pt x="2167207" y="681307"/>
                </a:lnTo>
                <a:lnTo>
                  <a:pt x="2129260" y="706895"/>
                </a:lnTo>
                <a:lnTo>
                  <a:pt x="2082800" y="716280"/>
                </a:lnTo>
                <a:lnTo>
                  <a:pt x="119379" y="716280"/>
                </a:lnTo>
                <a:lnTo>
                  <a:pt x="72919" y="706895"/>
                </a:lnTo>
                <a:lnTo>
                  <a:pt x="34972" y="681307"/>
                </a:lnTo>
                <a:lnTo>
                  <a:pt x="9384" y="643360"/>
                </a:lnTo>
                <a:lnTo>
                  <a:pt x="0" y="596900"/>
                </a:lnTo>
                <a:lnTo>
                  <a:pt x="0" y="119380"/>
                </a:lnTo>
                <a:close/>
              </a:path>
            </a:pathLst>
          </a:custGeom>
          <a:ln w="93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64128" y="4545279"/>
            <a:ext cx="19659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Xác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trên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các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bộ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giá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trị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cũ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mới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25492" y="3960621"/>
            <a:ext cx="179705" cy="535305"/>
          </a:xfrm>
          <a:custGeom>
            <a:avLst/>
            <a:gdLst/>
            <a:ahLst/>
            <a:cxnLst/>
            <a:rect l="l" t="t" r="r" b="b"/>
            <a:pathLst>
              <a:path w="179704" h="535304">
                <a:moveTo>
                  <a:pt x="167259" y="0"/>
                </a:moveTo>
                <a:lnTo>
                  <a:pt x="152781" y="48640"/>
                </a:lnTo>
                <a:lnTo>
                  <a:pt x="164973" y="52323"/>
                </a:lnTo>
                <a:lnTo>
                  <a:pt x="179451" y="3555"/>
                </a:lnTo>
                <a:lnTo>
                  <a:pt x="167259" y="0"/>
                </a:lnTo>
                <a:close/>
              </a:path>
              <a:path w="179704" h="535304">
                <a:moveTo>
                  <a:pt x="141986" y="85216"/>
                </a:moveTo>
                <a:lnTo>
                  <a:pt x="127508" y="133857"/>
                </a:lnTo>
                <a:lnTo>
                  <a:pt x="139700" y="137540"/>
                </a:lnTo>
                <a:lnTo>
                  <a:pt x="154178" y="88772"/>
                </a:lnTo>
                <a:lnTo>
                  <a:pt x="141986" y="85216"/>
                </a:lnTo>
                <a:close/>
              </a:path>
              <a:path w="179704" h="535304">
                <a:moveTo>
                  <a:pt x="116586" y="170433"/>
                </a:moveTo>
                <a:lnTo>
                  <a:pt x="102108" y="219075"/>
                </a:lnTo>
                <a:lnTo>
                  <a:pt x="114300" y="222757"/>
                </a:lnTo>
                <a:lnTo>
                  <a:pt x="128778" y="173989"/>
                </a:lnTo>
                <a:lnTo>
                  <a:pt x="116586" y="170433"/>
                </a:lnTo>
                <a:close/>
              </a:path>
              <a:path w="179704" h="535304">
                <a:moveTo>
                  <a:pt x="91312" y="255650"/>
                </a:moveTo>
                <a:lnTo>
                  <a:pt x="76835" y="304291"/>
                </a:lnTo>
                <a:lnTo>
                  <a:pt x="89027" y="307975"/>
                </a:lnTo>
                <a:lnTo>
                  <a:pt x="103505" y="259206"/>
                </a:lnTo>
                <a:lnTo>
                  <a:pt x="91312" y="255650"/>
                </a:lnTo>
                <a:close/>
              </a:path>
              <a:path w="179704" h="535304">
                <a:moveTo>
                  <a:pt x="66040" y="340867"/>
                </a:moveTo>
                <a:lnTo>
                  <a:pt x="51562" y="389508"/>
                </a:lnTo>
                <a:lnTo>
                  <a:pt x="63627" y="393191"/>
                </a:lnTo>
                <a:lnTo>
                  <a:pt x="78105" y="344423"/>
                </a:lnTo>
                <a:lnTo>
                  <a:pt x="66040" y="340867"/>
                </a:lnTo>
                <a:close/>
              </a:path>
              <a:path w="179704" h="535304">
                <a:moveTo>
                  <a:pt x="0" y="451230"/>
                </a:moveTo>
                <a:lnTo>
                  <a:pt x="14859" y="535177"/>
                </a:lnTo>
                <a:lnTo>
                  <a:pt x="70057" y="476122"/>
                </a:lnTo>
                <a:lnTo>
                  <a:pt x="38989" y="476122"/>
                </a:lnTo>
                <a:lnTo>
                  <a:pt x="26797" y="472439"/>
                </a:lnTo>
                <a:lnTo>
                  <a:pt x="30428" y="460280"/>
                </a:lnTo>
                <a:lnTo>
                  <a:pt x="0" y="451230"/>
                </a:lnTo>
                <a:close/>
              </a:path>
              <a:path w="179704" h="535304">
                <a:moveTo>
                  <a:pt x="30428" y="460280"/>
                </a:moveTo>
                <a:lnTo>
                  <a:pt x="26797" y="472439"/>
                </a:lnTo>
                <a:lnTo>
                  <a:pt x="38989" y="476122"/>
                </a:lnTo>
                <a:lnTo>
                  <a:pt x="42626" y="463907"/>
                </a:lnTo>
                <a:lnTo>
                  <a:pt x="30428" y="460280"/>
                </a:lnTo>
                <a:close/>
              </a:path>
              <a:path w="179704" h="535304">
                <a:moveTo>
                  <a:pt x="42626" y="463907"/>
                </a:moveTo>
                <a:lnTo>
                  <a:pt x="38989" y="476122"/>
                </a:lnTo>
                <a:lnTo>
                  <a:pt x="70057" y="476122"/>
                </a:lnTo>
                <a:lnTo>
                  <a:pt x="73025" y="472947"/>
                </a:lnTo>
                <a:lnTo>
                  <a:pt x="42626" y="463907"/>
                </a:lnTo>
                <a:close/>
              </a:path>
              <a:path w="179704" h="535304">
                <a:moveTo>
                  <a:pt x="40640" y="426084"/>
                </a:moveTo>
                <a:lnTo>
                  <a:pt x="30428" y="460280"/>
                </a:lnTo>
                <a:lnTo>
                  <a:pt x="42626" y="463907"/>
                </a:lnTo>
                <a:lnTo>
                  <a:pt x="52832" y="429640"/>
                </a:lnTo>
                <a:lnTo>
                  <a:pt x="40640" y="426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3220B41-657E-C665-E6C9-ED3F35B501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Trigger</a:t>
            </a:r>
            <a:r>
              <a:rPr spc="-10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03198"/>
            <a:ext cx="7906384" cy="46672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create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trigger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trigger&gt;</a:t>
            </a:r>
            <a:endParaRPr sz="2800">
              <a:latin typeface="Arial"/>
              <a:cs typeface="Arial"/>
            </a:endParaRPr>
          </a:p>
          <a:p>
            <a:pPr marL="352425" marR="5080">
              <a:lnSpc>
                <a:spcPts val="4070"/>
              </a:lnSpc>
              <a:spcBef>
                <a:spcPts val="240"/>
              </a:spcBef>
            </a:pPr>
            <a:r>
              <a:rPr sz="2800" dirty="0">
                <a:latin typeface="Arial"/>
                <a:cs typeface="Arial"/>
              </a:rPr>
              <a:t>after|before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insert|delete|update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bảng&gt; referencing</a:t>
            </a:r>
            <a:endParaRPr sz="2800">
              <a:latin typeface="Arial"/>
              <a:cs typeface="Arial"/>
            </a:endParaRPr>
          </a:p>
          <a:p>
            <a:pPr marL="923925">
              <a:lnSpc>
                <a:spcPct val="100000"/>
              </a:lnSpc>
              <a:spcBef>
                <a:spcPts val="440"/>
              </a:spcBef>
            </a:pPr>
            <a:r>
              <a:rPr sz="2800" dirty="0">
                <a:latin typeface="Arial"/>
                <a:cs typeface="Arial"/>
              </a:rPr>
              <a:t>new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row|table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1&gt;</a:t>
            </a:r>
            <a:endParaRPr sz="2800">
              <a:latin typeface="Arial"/>
              <a:cs typeface="Arial"/>
            </a:endParaRPr>
          </a:p>
          <a:p>
            <a:pPr marL="923925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old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row|table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2&gt;</a:t>
            </a:r>
            <a:endParaRPr sz="2800">
              <a:latin typeface="Arial"/>
              <a:cs typeface="Arial"/>
            </a:endParaRPr>
          </a:p>
          <a:p>
            <a:pPr marL="352425" marR="2351405">
              <a:lnSpc>
                <a:spcPct val="120700"/>
              </a:lnSpc>
              <a:spcBef>
                <a:spcPts val="15"/>
              </a:spcBef>
            </a:pPr>
            <a:r>
              <a:rPr sz="2800" dirty="0">
                <a:latin typeface="Arial"/>
                <a:cs typeface="Arial"/>
              </a:rPr>
              <a:t>for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each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row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|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each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statement </a:t>
            </a:r>
            <a:r>
              <a:rPr sz="2800" dirty="0">
                <a:latin typeface="Arial"/>
                <a:cs typeface="Arial"/>
              </a:rPr>
              <a:t>when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(&lt;điều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kiện&gt;)</a:t>
            </a:r>
            <a:endParaRPr sz="2800">
              <a:latin typeface="Arial"/>
              <a:cs typeface="Arial"/>
            </a:endParaRPr>
          </a:p>
          <a:p>
            <a:pPr marL="923925">
              <a:lnSpc>
                <a:spcPct val="100000"/>
              </a:lnSpc>
              <a:spcBef>
                <a:spcPts val="695"/>
              </a:spcBef>
            </a:pPr>
            <a:r>
              <a:rPr sz="2800" dirty="0">
                <a:latin typeface="Arial"/>
                <a:cs typeface="Arial"/>
              </a:rPr>
              <a:t>&lt;Các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lệnh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SQL&gt;;</a:t>
            </a:r>
            <a:endParaRPr sz="2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dirty="0">
                <a:latin typeface="Arial"/>
                <a:cs typeface="Arial"/>
              </a:rPr>
              <a:t>drop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trigger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trigger&gt;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D7CDE-0C2B-DDB4-C37C-5B20F64DF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Trigger</a:t>
            </a:r>
            <a:r>
              <a:rPr spc="-105" dirty="0"/>
              <a:t> </a:t>
            </a:r>
            <a:r>
              <a:rPr spc="-2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92199"/>
            <a:ext cx="8465185" cy="3975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 marR="5080" indent="-3403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2425" algn="l"/>
              </a:tabLst>
            </a:pPr>
            <a:r>
              <a:rPr sz="2800" spc="-25" dirty="0">
                <a:latin typeface="Arial"/>
                <a:cs typeface="Arial"/>
              </a:rPr>
              <a:t>RB-</a:t>
            </a:r>
            <a:r>
              <a:rPr sz="2800" dirty="0">
                <a:latin typeface="Arial"/>
                <a:cs typeface="Arial"/>
              </a:rPr>
              <a:t>13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Lương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nhân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viên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không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được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hơn </a:t>
            </a:r>
            <a:r>
              <a:rPr sz="2800" dirty="0">
                <a:latin typeface="Arial"/>
                <a:cs typeface="Arial"/>
              </a:rPr>
              <a:t>lương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trưởng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phòng.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615"/>
              </a:spcBef>
              <a:buChar char="•"/>
              <a:tabLst>
                <a:tab pos="751840" algn="l"/>
              </a:tabLst>
            </a:pPr>
            <a:r>
              <a:rPr sz="2400" dirty="0">
                <a:latin typeface="Arial"/>
                <a:cs typeface="Arial"/>
              </a:rPr>
              <a:t>create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trigger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RB_13</a:t>
            </a:r>
            <a:endParaRPr sz="2400">
              <a:latin typeface="Arial"/>
              <a:cs typeface="Arial"/>
            </a:endParaRPr>
          </a:p>
          <a:p>
            <a:pPr marL="751840" marR="1285240">
              <a:lnSpc>
                <a:spcPct val="1208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before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insert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update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NHANVIEN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row</a:t>
            </a:r>
            <a:endParaRPr sz="2400">
              <a:latin typeface="Arial"/>
              <a:cs typeface="Arial"/>
            </a:endParaRPr>
          </a:p>
          <a:p>
            <a:pPr marL="75184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when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(new.Luong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(select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Luong</a:t>
            </a:r>
            <a:endParaRPr sz="2400">
              <a:latin typeface="Arial"/>
              <a:cs typeface="Arial"/>
            </a:endParaRPr>
          </a:p>
          <a:p>
            <a:pPr marL="366776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NHANVIEN</a:t>
            </a:r>
            <a:endParaRPr sz="2400">
              <a:latin typeface="Arial"/>
              <a:cs typeface="Arial"/>
            </a:endParaRPr>
          </a:p>
          <a:p>
            <a:pPr marL="1381125" marR="715645" indent="2286000">
              <a:lnSpc>
                <a:spcPts val="3479"/>
              </a:lnSpc>
              <a:spcBef>
                <a:spcPts val="105"/>
              </a:spcBef>
            </a:pPr>
            <a:r>
              <a:rPr sz="2400" dirty="0">
                <a:latin typeface="Arial"/>
                <a:cs typeface="Arial"/>
              </a:rPr>
              <a:t>where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MaNV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new.MaGSat)) ERROR(“Luong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sat”);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A4D1F-960F-9820-5BE3-4EE4D558C7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Stored</a:t>
            </a:r>
            <a:r>
              <a:rPr spc="-110" dirty="0"/>
              <a:t> </a:t>
            </a:r>
            <a:r>
              <a:rPr spc="-10" dirty="0"/>
              <a:t>Procedure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815" y="1026668"/>
            <a:ext cx="8239759" cy="514667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2425" marR="5080" indent="-340360">
              <a:lnSpc>
                <a:spcPts val="3340"/>
              </a:lnSpc>
              <a:spcBef>
                <a:spcPts val="630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Các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DBMS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thương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mại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cung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cấp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cách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thức </a:t>
            </a:r>
            <a:r>
              <a:rPr sz="3200" dirty="0">
                <a:latin typeface="Arial"/>
                <a:cs typeface="Arial"/>
              </a:rPr>
              <a:t>lưu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trữ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các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hàm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hay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thủ</a:t>
            </a:r>
            <a:r>
              <a:rPr sz="3200" spc="-25" dirty="0">
                <a:latin typeface="Arial"/>
                <a:cs typeface="Arial"/>
              </a:rPr>
              <a:t> tục</a:t>
            </a:r>
            <a:endParaRPr sz="32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50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Được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lưu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lược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CSDL</a:t>
            </a:r>
            <a:endParaRPr sz="2800">
              <a:latin typeface="Arial"/>
              <a:cs typeface="Arial"/>
            </a:endParaRPr>
          </a:p>
          <a:p>
            <a:pPr marL="751840" lvl="1" indent="-281940">
              <a:lnSpc>
                <a:spcPct val="100000"/>
              </a:lnSpc>
              <a:spcBef>
                <a:spcPts val="265"/>
              </a:spcBef>
              <a:buChar char="•"/>
              <a:tabLst>
                <a:tab pos="751840" algn="l"/>
              </a:tabLst>
            </a:pPr>
            <a:r>
              <a:rPr sz="2800" dirty="0">
                <a:latin typeface="Arial"/>
                <a:cs typeface="Arial"/>
              </a:rPr>
              <a:t>Được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sử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câu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lệnh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SQL</a:t>
            </a:r>
            <a:endParaRPr sz="2800">
              <a:latin typeface="Arial"/>
              <a:cs typeface="Arial"/>
            </a:endParaRPr>
          </a:p>
          <a:p>
            <a:pPr marL="352425" indent="-339725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352425" algn="l"/>
              </a:tabLst>
            </a:pPr>
            <a:r>
              <a:rPr sz="3200" dirty="0">
                <a:latin typeface="Arial"/>
                <a:cs typeface="Arial"/>
              </a:rPr>
              <a:t>Cú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pháp</a:t>
            </a:r>
            <a:endParaRPr sz="3200">
              <a:latin typeface="Arial"/>
              <a:cs typeface="Arial"/>
            </a:endParaRPr>
          </a:p>
          <a:p>
            <a:pPr marL="469900" marR="455930">
              <a:lnSpc>
                <a:spcPct val="107500"/>
              </a:lnSpc>
              <a:spcBef>
                <a:spcPts val="30"/>
              </a:spcBef>
            </a:pPr>
            <a:r>
              <a:rPr sz="2800" dirty="0">
                <a:latin typeface="Arial"/>
                <a:cs typeface="Arial"/>
              </a:rPr>
              <a:t>create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procedure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thủ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tục&gt;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&lt;Ds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tham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số&gt; as</a:t>
            </a:r>
            <a:endParaRPr sz="2800">
              <a:latin typeface="Arial"/>
              <a:cs typeface="Arial"/>
            </a:endParaRPr>
          </a:p>
          <a:p>
            <a:pPr marL="927100" marR="3976370">
              <a:lnSpc>
                <a:spcPts val="3629"/>
              </a:lnSpc>
              <a:spcBef>
                <a:spcPts val="160"/>
              </a:spcBef>
            </a:pPr>
            <a:r>
              <a:rPr sz="2800" dirty="0">
                <a:latin typeface="Arial"/>
                <a:cs typeface="Arial"/>
              </a:rPr>
              <a:t>Khai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báo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biến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cục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bộ </a:t>
            </a:r>
            <a:r>
              <a:rPr sz="2800" dirty="0">
                <a:latin typeface="Arial"/>
                <a:cs typeface="Arial"/>
              </a:rPr>
              <a:t>Thân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chương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trình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Arial"/>
                <a:cs typeface="Arial"/>
              </a:rPr>
              <a:t>go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2800" dirty="0">
                <a:latin typeface="Arial"/>
                <a:cs typeface="Arial"/>
              </a:rPr>
              <a:t>exec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thủ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tục&gt;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&lt;Ds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tham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số&gt;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70CD1-A0E0-5100-9F35-B830869176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CC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1876</Words>
  <Application>Microsoft Office PowerPoint</Application>
  <PresentationFormat>On-screen Show (4:3)</PresentationFormat>
  <Paragraphs>461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Nội dung trình bày</vt:lpstr>
      <vt:lpstr>Giới thiệu</vt:lpstr>
      <vt:lpstr>Nội dung của RBTV</vt:lpstr>
      <vt:lpstr>Ví dụ</vt:lpstr>
      <vt:lpstr>Bối cảnh của RBTV</vt:lpstr>
      <vt:lpstr>Bảng tầm ảnh hưởng của RBTV (1)</vt:lpstr>
      <vt:lpstr>Ví dụ</vt:lpstr>
      <vt:lpstr>Bảng tầm ảnh hưởng của RBTV (2)</vt:lpstr>
      <vt:lpstr>Ví dụ</vt:lpstr>
      <vt:lpstr>Phân loại RBTV</vt:lpstr>
      <vt:lpstr>RBTV miền giá trị (1)</vt:lpstr>
      <vt:lpstr>RBTV miền giá trị (2)</vt:lpstr>
      <vt:lpstr>RBTV liên thuộc tính</vt:lpstr>
      <vt:lpstr>RBTV liên bộ</vt:lpstr>
      <vt:lpstr>RBTV tham chiếu (1)</vt:lpstr>
      <vt:lpstr>RBTV tham chiếu (2)</vt:lpstr>
      <vt:lpstr>RBTV tham chiếu (3)</vt:lpstr>
      <vt:lpstr>RBTV liên thuộc tính - liên quan hệ</vt:lpstr>
      <vt:lpstr>RBTV liên bộ - liên quan hệ</vt:lpstr>
      <vt:lpstr>RBTV thuộc tính tổng hợp</vt:lpstr>
      <vt:lpstr>Cài đặt RBTV</vt:lpstr>
      <vt:lpstr>Assertion (1)</vt:lpstr>
      <vt:lpstr>Assertion (2)</vt:lpstr>
      <vt:lpstr>Trigger (1)</vt:lpstr>
      <vt:lpstr>Trigger (2)</vt:lpstr>
      <vt:lpstr>Trigger (3)</vt:lpstr>
      <vt:lpstr>Stored Procedure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Ràng buộc toàn vẹn (Integrity Constraint)</dc:title>
  <dc:creator>Dũng Hà Thanh</dc:creator>
  <cp:lastModifiedBy>Nguyễn Thanh Tiến</cp:lastModifiedBy>
  <cp:revision>1</cp:revision>
  <dcterms:created xsi:type="dcterms:W3CDTF">2025-04-29T05:31:47Z</dcterms:created>
  <dcterms:modified xsi:type="dcterms:W3CDTF">2025-05-13T02:01:31Z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2025-04-29T00:00:00Z</vt:filetime>
  </property>
  <property fmtid="{D5CDD505-2E9C-101B-9397-08002B2CF9AE}" pid="5" name="Producer">
    <vt:lpwstr>3-Heights(TM) PDF Security Shell 4.8.25.2 (http://www.pdf-tools.com)</vt:lpwstr>
  </property>
</Properties>
</file>